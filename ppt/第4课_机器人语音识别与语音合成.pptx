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5"/>
  </p:notesMasterIdLst>
  <p:handoutMasterIdLst>
    <p:handoutMasterId r:id="rId34"/>
  </p:handoutMasterIdLst>
  <p:sldIdLst>
    <p:sldId id="322" r:id="rId4"/>
    <p:sldId id="364" r:id="rId6"/>
    <p:sldId id="445" r:id="rId7"/>
    <p:sldId id="446" r:id="rId8"/>
    <p:sldId id="447" r:id="rId9"/>
    <p:sldId id="448" r:id="rId10"/>
    <p:sldId id="449" r:id="rId11"/>
    <p:sldId id="450" r:id="rId12"/>
    <p:sldId id="410" r:id="rId13"/>
    <p:sldId id="451" r:id="rId14"/>
    <p:sldId id="452" r:id="rId15"/>
    <p:sldId id="453" r:id="rId16"/>
    <p:sldId id="462" r:id="rId17"/>
    <p:sldId id="454" r:id="rId18"/>
    <p:sldId id="455" r:id="rId19"/>
    <p:sldId id="456" r:id="rId20"/>
    <p:sldId id="458" r:id="rId21"/>
    <p:sldId id="459" r:id="rId22"/>
    <p:sldId id="460" r:id="rId23"/>
    <p:sldId id="461" r:id="rId24"/>
    <p:sldId id="463" r:id="rId25"/>
    <p:sldId id="464" r:id="rId26"/>
    <p:sldId id="465" r:id="rId27"/>
    <p:sldId id="466" r:id="rId28"/>
    <p:sldId id="467" r:id="rId29"/>
    <p:sldId id="468" r:id="rId30"/>
    <p:sldId id="469" r:id="rId31"/>
    <p:sldId id="356" r:id="rId32"/>
    <p:sldId id="320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51" userDrawn="1">
          <p15:clr>
            <a:srgbClr val="A4A3A4"/>
          </p15:clr>
        </p15:guide>
        <p15:guide id="2" orient="horz" pos="220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51"/>
        <p:guide orient="horz" pos="220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8" Type="http://schemas.openxmlformats.org/officeDocument/2006/relationships/commentAuthors" Target="commentAuthors.xml"/><Relationship Id="rId37" Type="http://schemas.openxmlformats.org/officeDocument/2006/relationships/tableStyles" Target="tableStyles.xml"/><Relationship Id="rId36" Type="http://schemas.openxmlformats.org/officeDocument/2006/relationships/viewProps" Target="viewProps.xml"/><Relationship Id="rId35" Type="http://schemas.openxmlformats.org/officeDocument/2006/relationships/presProps" Target="presProps.xml"/><Relationship Id="rId34" Type="http://schemas.openxmlformats.org/officeDocument/2006/relationships/handoutMaster" Target="handoutMasters/handoutMaster1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0.jpe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2.png"/><Relationship Id="rId1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4.png"/><Relationship Id="rId1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2003201" y="2431690"/>
            <a:ext cx="7804514" cy="2122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机器人语音识别与语音</a:t>
            </a:r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合成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语音模块</a:t>
            </a:r>
            <a:r>
              <a:rPr lang="zh-CN" altLang="en-US" sz="2400" b="1" dirty="0"/>
              <a:t>安装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25666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使用</a:t>
            </a:r>
            <a:r>
              <a:rPr lang="en-US" altLang="zh-CN"/>
              <a:t> M4*6 </a:t>
            </a:r>
            <a:r>
              <a:rPr lang="zh-CN" altLang="en-US"/>
              <a:t>的圆头螺丝将</a:t>
            </a:r>
            <a:r>
              <a:rPr lang="en-US" altLang="zh-CN"/>
              <a:t> AI </a:t>
            </a:r>
            <a:r>
              <a:rPr lang="zh-CN" altLang="en-US"/>
              <a:t>语音交互盒（</a:t>
            </a:r>
            <a:r>
              <a:rPr lang="en-US" altLang="zh-CN"/>
              <a:t>WonderEcho Pro</a:t>
            </a:r>
            <a:r>
              <a:rPr lang="zh-CN" altLang="en-US"/>
              <a:t>）安装在</a:t>
            </a:r>
            <a:r>
              <a:rPr lang="en-US" altLang="zh-CN"/>
              <a:t> TonyPi </a:t>
            </a:r>
            <a:r>
              <a:rPr lang="zh-CN" altLang="en-US"/>
              <a:t>的背部，注意安装方向。通过</a:t>
            </a:r>
            <a:r>
              <a:rPr lang="en-US" altLang="zh-CN"/>
              <a:t> Type C </a:t>
            </a:r>
            <a:r>
              <a:rPr lang="zh-CN" altLang="en-US"/>
              <a:t>线，将模块连接到机器人的</a:t>
            </a:r>
            <a:r>
              <a:rPr lang="en-US" altLang="zh-CN"/>
              <a:t> USB </a:t>
            </a:r>
            <a:r>
              <a:rPr lang="zh-CN" altLang="en-US"/>
              <a:t>口。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395" y="2682240"/>
            <a:ext cx="5366385" cy="283464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945" y="2856865"/>
            <a:ext cx="4371975" cy="2349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语音模块</a:t>
            </a:r>
            <a:r>
              <a:rPr lang="zh-CN" altLang="en-US" sz="2400" b="1" dirty="0"/>
              <a:t>测试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25666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en-US" altLang="zh-CN"/>
              <a:t>vnc </a:t>
            </a:r>
            <a:r>
              <a:rPr lang="zh-CN" altLang="en-US"/>
              <a:t>远程连接桌面进入树莓派系统，查看右上角是否有麦克风好扬声器的标志。如下图所示，有即代表连接成功。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9860" y="2745105"/>
            <a:ext cx="5859780" cy="1844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语音模块</a:t>
            </a:r>
            <a:r>
              <a:rPr lang="zh-CN" altLang="en-US" sz="2400" b="1" dirty="0"/>
              <a:t>测试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256665"/>
            <a:ext cx="10524490" cy="746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在终端输入：</a:t>
            </a:r>
            <a:r>
              <a:rPr lang="en-US" altLang="zh-CN" b="1"/>
              <a:t>arecord -l</a:t>
            </a:r>
            <a:endParaRPr lang="en-US" altLang="zh-CN" b="1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5070" y="2003425"/>
            <a:ext cx="6355080" cy="9906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114425" y="3355340"/>
            <a:ext cx="101790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执行命令录音。</a:t>
            </a:r>
            <a:r>
              <a:rPr lang="en-US" altLang="zh-CN"/>
              <a:t>ctrl+C</a:t>
            </a:r>
            <a:r>
              <a:rPr lang="zh-CN" altLang="en-US"/>
              <a:t>停止。录音完成之后，当前文件夹下会有一个</a:t>
            </a:r>
            <a:r>
              <a:rPr lang="en-US" altLang="zh-CN"/>
              <a:t>test.wav</a:t>
            </a:r>
            <a:r>
              <a:rPr lang="zh-CN" altLang="en-US"/>
              <a:t>，播放这个音频文件，可以听到刚才录制的声音。</a:t>
            </a:r>
            <a:endParaRPr lang="zh-CN" altLang="en-US"/>
          </a:p>
          <a:p>
            <a:pPr marL="1828800" lvl="4" indent="457200"/>
            <a:r>
              <a:rPr lang="en-US" altLang="zh-CN" b="1"/>
              <a:t>arecord -D hw:2,0 -f S16_LE -r 16000 -c 2 test.wav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数字音频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189990"/>
            <a:ext cx="10524490" cy="1412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声音主要有响度、音高、音高三个基本要素，采样到后以波形图显示。在波形图中，波幅越大，声音的响度越大；波峰间距越小，声音的频率越高；声音的主要特征（音色）不是依赖单一频率，而是由一系列谐波频率共同构成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6880" y="3253740"/>
            <a:ext cx="8587740" cy="1645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数字音频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1034415"/>
            <a:ext cx="10524490" cy="1289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声音主要有响度、音高、音高三个基本要素，采样到后以波形图显示。在波形图中，波幅越大，声音的响度越大；波峰间距越小，声音的频率越高；声音的主要特征（音色）不是依赖单一频率，而是由一系列谐波频率共同构成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5930" y="2227580"/>
            <a:ext cx="8587740" cy="164592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490" y="3992245"/>
            <a:ext cx="3608070" cy="234569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0" y="3992245"/>
            <a:ext cx="5572760" cy="26936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数字音频</a:t>
            </a:r>
            <a:endParaRPr lang="zh-CN" altLang="en-US" sz="2400" b="1" dirty="0"/>
          </a:p>
        </p:txBody>
      </p:sp>
      <p:sp>
        <p:nvSpPr>
          <p:cNvPr id="10" name="文本框 9"/>
          <p:cNvSpPr txBox="1"/>
          <p:nvPr/>
        </p:nvSpPr>
        <p:spPr>
          <a:xfrm>
            <a:off x="646430" y="920115"/>
            <a:ext cx="10524490" cy="4984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>
              <a:lnSpc>
                <a:spcPct val="130000"/>
              </a:lnSpc>
            </a:pPr>
            <a:r>
              <a:rPr lang="zh-CN" altLang="en-US"/>
              <a:t>对波形图做傅里叶变换，可以得到频谱图。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6015" y="1332865"/>
            <a:ext cx="7669530" cy="19088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400" y="3302000"/>
            <a:ext cx="4226560" cy="33959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采样参数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680" y="927735"/>
            <a:ext cx="9692640" cy="56921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阿里云语音</a:t>
            </a:r>
            <a:r>
              <a:rPr lang="en-US" altLang="zh-CN" sz="2400" b="1" dirty="0"/>
              <a:t>API</a:t>
            </a:r>
            <a:endParaRPr lang="en-US" altLang="zh-CN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821055" y="1038860"/>
            <a:ext cx="10035540" cy="5461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b="1"/>
              <a:t>https://bailian.console.aliyun.com/?tab=model#/model-market</a:t>
            </a:r>
            <a:endParaRPr lang="en-US" altLang="zh-CN" b="1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0175" y="1868805"/>
            <a:ext cx="9211310" cy="4170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阿里云语音</a:t>
            </a:r>
            <a:r>
              <a:rPr lang="en-US" altLang="zh-CN" sz="2400" b="1" dirty="0"/>
              <a:t>API-</a:t>
            </a:r>
            <a:r>
              <a:rPr lang="zh-CN" altLang="en-US" sz="2400" b="1" dirty="0"/>
              <a:t>创建</a:t>
            </a:r>
            <a:r>
              <a:rPr lang="en-US" altLang="zh-CN" sz="2400" b="1" dirty="0"/>
              <a:t>APIKEY</a:t>
            </a:r>
            <a:endParaRPr lang="en-US" altLang="zh-CN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821055" y="1038860"/>
            <a:ext cx="10035540" cy="5461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zh-CN" altLang="en-US"/>
              <a:t>注册实名后，点击</a:t>
            </a:r>
            <a:r>
              <a:rPr lang="en-US" altLang="zh-CN"/>
              <a:t>“</a:t>
            </a:r>
            <a:r>
              <a:rPr lang="zh-CN" altLang="en-US"/>
              <a:t>密钥管理</a:t>
            </a:r>
            <a:r>
              <a:rPr lang="en-US" altLang="zh-CN"/>
              <a:t>”——“</a:t>
            </a:r>
            <a:r>
              <a:rPr lang="zh-CN" altLang="en-US"/>
              <a:t>创建</a:t>
            </a:r>
            <a:r>
              <a:rPr lang="en-US" altLang="zh-CN"/>
              <a:t>API-KEY”</a:t>
            </a:r>
            <a:r>
              <a:rPr lang="zh-CN" altLang="en-US"/>
              <a:t>，选择账号，确认即可。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610" y="2201545"/>
            <a:ext cx="4798060" cy="326136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170" y="2201545"/>
            <a:ext cx="6053455" cy="33896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阿里云语音</a:t>
            </a:r>
            <a:r>
              <a:rPr lang="en-US" altLang="zh-CN" sz="2400" b="1" dirty="0"/>
              <a:t>API-</a:t>
            </a:r>
            <a:r>
              <a:rPr lang="zh-CN" altLang="en-US" sz="2400" b="1" dirty="0"/>
              <a:t>语音</a:t>
            </a:r>
            <a:r>
              <a:rPr lang="zh-CN" altLang="en-US" sz="2400" b="1" dirty="0"/>
              <a:t>合成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0870" y="1085850"/>
            <a:ext cx="5137150" cy="52673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阿里云语音</a:t>
            </a:r>
            <a:r>
              <a:rPr lang="en-US" altLang="zh-CN" sz="2400" b="1" dirty="0"/>
              <a:t>API-</a:t>
            </a:r>
            <a:r>
              <a:rPr lang="zh-CN" altLang="en-US" sz="2400" b="1" dirty="0"/>
              <a:t>识别</a:t>
            </a:r>
            <a:endParaRPr lang="zh-CN" altLang="en-US" sz="2400" b="1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1250" y="1026795"/>
            <a:ext cx="6791960" cy="55511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模型仓库</a:t>
            </a:r>
            <a:r>
              <a:rPr lang="zh-CN" altLang="en-US" sz="2400" b="1" dirty="0"/>
              <a:t>介绍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5195" y="3218815"/>
            <a:ext cx="1691640" cy="48768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115" y="3257550"/>
            <a:ext cx="1645920" cy="3429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737995" y="1534160"/>
            <a:ext cx="933894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</a:t>
            </a:r>
            <a:r>
              <a:rPr lang="en-US" altLang="zh-CN"/>
              <a:t>:</a:t>
            </a:r>
            <a:endParaRPr lang="en-US" altLang="zh-CN"/>
          </a:p>
          <a:p>
            <a:pPr marL="457200" lvl="1" indent="457200"/>
            <a:r>
              <a:rPr lang="en-US" altLang="zh-CN" b="1"/>
              <a:t>pip3 install -U modelscope huggingface huggingface_hub</a:t>
            </a:r>
            <a:endParaRPr lang="en-US" altLang="zh-CN" b="1"/>
          </a:p>
        </p:txBody>
      </p:sp>
      <p:sp>
        <p:nvSpPr>
          <p:cNvPr id="7" name="文本框 6"/>
          <p:cNvSpPr txBox="1"/>
          <p:nvPr/>
        </p:nvSpPr>
        <p:spPr>
          <a:xfrm>
            <a:off x="6358890" y="3888105"/>
            <a:ext cx="46443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C:\Users\&lt;</a:t>
            </a:r>
            <a:r>
              <a:rPr lang="zh-CN" altLang="en-US"/>
              <a:t>用户名</a:t>
            </a:r>
            <a:r>
              <a:rPr lang="en-US" altLang="zh-CN"/>
              <a:t>&gt;\.cache\modelscope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885825" y="3888105"/>
            <a:ext cx="5025390" cy="4743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C:\Users\&lt;</a:t>
            </a:r>
            <a:r>
              <a:rPr lang="zh-CN" altLang="en-US"/>
              <a:t>你的用户名</a:t>
            </a:r>
            <a:r>
              <a:rPr lang="en-US" altLang="zh-CN"/>
              <a:t>&gt;\.cache\huggingface\</a:t>
            </a:r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-kokoro</a:t>
            </a:r>
            <a:endParaRPr lang="en-US" altLang="zh-CN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985520" y="10121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https://github.com/hexgrad/kokoro</a:t>
            </a:r>
            <a:endParaRPr lang="en-US" altLang="zh-CN" b="1"/>
          </a:p>
        </p:txBody>
      </p:sp>
      <p:sp>
        <p:nvSpPr>
          <p:cNvPr id="6" name="文本框 5"/>
          <p:cNvSpPr txBox="1"/>
          <p:nvPr/>
        </p:nvSpPr>
        <p:spPr>
          <a:xfrm>
            <a:off x="985520" y="1555115"/>
            <a:ext cx="9969500" cy="8089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en-US" altLang="zh-CN"/>
              <a:t>Kokoro</a:t>
            </a:r>
            <a:r>
              <a:rPr lang="zh-CN" altLang="en-US"/>
              <a:t>是一个具有</a:t>
            </a:r>
            <a:r>
              <a:rPr lang="en-US" altLang="zh-CN"/>
              <a:t>8200</a:t>
            </a:r>
            <a:r>
              <a:rPr lang="zh-CN" altLang="en-US"/>
              <a:t>万参数的开放式</a:t>
            </a:r>
            <a:r>
              <a:rPr lang="en-US" altLang="zh-CN"/>
              <a:t>TTS</a:t>
            </a:r>
            <a:r>
              <a:rPr lang="zh-CN" altLang="en-US"/>
              <a:t>模型。尽管它的架构很轻，但它提供了与大型模型相当的质量，同时速度更快，成本效益更高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171575" y="2459990"/>
            <a:ext cx="963612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安装：</a:t>
            </a:r>
            <a:endParaRPr lang="zh-CN" altLang="en-US"/>
          </a:p>
          <a:p>
            <a:pPr marL="1828800" lvl="4" indent="457200"/>
            <a:r>
              <a:rPr lang="en-US" altLang="zh-CN" b="1"/>
              <a:t>pip install -q kokoro&gt;=0.9.4 soundfile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-kokoro</a:t>
            </a:r>
            <a:r>
              <a:rPr lang="zh-CN" altLang="en-US" sz="2400" b="1" dirty="0"/>
              <a:t>音色</a:t>
            </a:r>
            <a:r>
              <a:rPr lang="zh-CN" altLang="en-US" sz="2400" b="1" dirty="0"/>
              <a:t>选择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985520" y="1012190"/>
            <a:ext cx="64071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https://huggingface.co/hexgrad/Kokoro-82M</a:t>
            </a:r>
            <a:endParaRPr lang="en-US" altLang="zh-CN" b="1"/>
          </a:p>
        </p:txBody>
      </p:sp>
      <p:sp>
        <p:nvSpPr>
          <p:cNvPr id="6" name="文本框 5"/>
          <p:cNvSpPr txBox="1"/>
          <p:nvPr/>
        </p:nvSpPr>
        <p:spPr>
          <a:xfrm>
            <a:off x="985520" y="1497965"/>
            <a:ext cx="9969500" cy="5708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点击</a:t>
            </a:r>
            <a:r>
              <a:rPr lang="en-US" altLang="zh-CN"/>
              <a:t>github</a:t>
            </a:r>
            <a:r>
              <a:rPr lang="zh-CN" altLang="en-US"/>
              <a:t>仓库</a:t>
            </a:r>
            <a:r>
              <a:rPr lang="en-US" altLang="zh-CN"/>
              <a:t>readme</a:t>
            </a:r>
            <a:r>
              <a:rPr lang="zh-CN" altLang="en-US"/>
              <a:t>中的</a:t>
            </a:r>
            <a:r>
              <a:rPr lang="en-US" altLang="zh-CN"/>
              <a:t>Kokoro-82M</a:t>
            </a:r>
            <a:r>
              <a:rPr lang="zh-CN" altLang="en-US"/>
              <a:t>，可以跳转到</a:t>
            </a:r>
            <a:r>
              <a:rPr lang="en-US" altLang="zh-CN"/>
              <a:t>huggingface</a:t>
            </a:r>
            <a:r>
              <a:rPr lang="zh-CN" altLang="en-US"/>
              <a:t>模型</a:t>
            </a:r>
            <a:r>
              <a:rPr lang="zh-CN" altLang="en-US"/>
              <a:t>页面。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0045" y="2306955"/>
            <a:ext cx="6392545" cy="40798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-kokoro</a:t>
            </a:r>
            <a:r>
              <a:rPr lang="zh-CN" altLang="en-US" sz="2400" b="1" dirty="0"/>
              <a:t>音色</a:t>
            </a:r>
            <a:r>
              <a:rPr lang="zh-CN" altLang="en-US" sz="2400" b="1" dirty="0"/>
              <a:t>选择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633095" y="1088390"/>
            <a:ext cx="9969500" cy="476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下拉找到</a:t>
            </a:r>
            <a:r>
              <a:rPr lang="en-US" altLang="zh-CN"/>
              <a:t>VOICES.md</a:t>
            </a:r>
            <a:r>
              <a:rPr lang="zh-CN" altLang="en-US"/>
              <a:t>文件，点击打开。可以看到可供选择的</a:t>
            </a:r>
            <a:r>
              <a:rPr lang="en-US" altLang="zh-CN"/>
              <a:t>voices</a:t>
            </a:r>
            <a:r>
              <a:rPr lang="zh-CN" altLang="en-US"/>
              <a:t>，</a:t>
            </a:r>
            <a:r>
              <a:rPr lang="en-US" altLang="zh-CN"/>
              <a:t>F</a:t>
            </a:r>
            <a:r>
              <a:rPr lang="zh-CN" altLang="en-US"/>
              <a:t>代表女声，</a:t>
            </a:r>
            <a:r>
              <a:rPr lang="en-US" altLang="zh-CN"/>
              <a:t>M</a:t>
            </a:r>
            <a:r>
              <a:rPr lang="zh-CN" altLang="en-US"/>
              <a:t>代表</a:t>
            </a:r>
            <a:r>
              <a:rPr lang="zh-CN" altLang="en-US"/>
              <a:t>男声。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795" y="1992630"/>
            <a:ext cx="3199765" cy="324993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785" y="1992630"/>
            <a:ext cx="3500120" cy="325945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7130" y="1992630"/>
            <a:ext cx="4248150" cy="36728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-kokoro</a:t>
            </a:r>
            <a:r>
              <a:rPr lang="zh-CN" altLang="en-US" sz="2400" b="1" dirty="0"/>
              <a:t>示例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8790" y="1864995"/>
            <a:ext cx="8477250" cy="3241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-kokoro</a:t>
            </a:r>
            <a:r>
              <a:rPr lang="zh-CN" altLang="en-US" sz="2400" b="1" dirty="0"/>
              <a:t>示例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8790" y="2036445"/>
            <a:ext cx="8477250" cy="3241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</a:t>
            </a:r>
            <a:r>
              <a:rPr lang="en-US" sz="2400" b="1" dirty="0"/>
              <a:t>funasr</a:t>
            </a:r>
            <a:endParaRPr 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1209675" y="1069340"/>
            <a:ext cx="8255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https://github.com/modelscope/FunASR?tab=readme-ov-file</a:t>
            </a:r>
            <a:endParaRPr lang="en-US" altLang="zh-CN" b="1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6995" y="2802255"/>
            <a:ext cx="6475730" cy="361124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143000" y="1437640"/>
            <a:ext cx="97504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en-US" altLang="zh-CN"/>
              <a:t>FunASR</a:t>
            </a:r>
            <a:r>
              <a:rPr lang="zh-CN" altLang="en-US"/>
              <a:t>是一个基础语音识别工具包，提供多种功能，包括语音识别（</a:t>
            </a:r>
            <a:r>
              <a:rPr lang="en-US" altLang="zh-CN"/>
              <a:t>ASR</a:t>
            </a:r>
            <a:r>
              <a:rPr lang="zh-CN" altLang="en-US"/>
              <a:t>）、语音端点检测（</a:t>
            </a:r>
            <a:r>
              <a:rPr lang="en-US" altLang="zh-CN"/>
              <a:t>VAD</a:t>
            </a:r>
            <a:r>
              <a:rPr lang="zh-CN" altLang="en-US"/>
              <a:t>）、标点恢复、语言模型、说话人验证、说话人分离和多人对话语音识别等。</a:t>
            </a:r>
            <a:r>
              <a:rPr lang="en-US" altLang="zh-CN"/>
              <a:t>FunASR</a:t>
            </a:r>
            <a:r>
              <a:rPr lang="zh-CN" altLang="en-US"/>
              <a:t>提供了便捷的脚本和教程，支持预训练好的模型的推理与微调。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</a:t>
            </a:r>
            <a:r>
              <a:rPr lang="en-US" sz="2400" b="1" dirty="0"/>
              <a:t>funasr</a:t>
            </a:r>
            <a:r>
              <a:rPr lang="zh-CN" altLang="en-US" sz="2400" b="1" dirty="0"/>
              <a:t>安装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985520" y="1256665"/>
            <a:ext cx="975042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环境</a:t>
            </a:r>
            <a:r>
              <a:rPr lang="zh-CN" altLang="en-US"/>
              <a:t>依赖：</a:t>
            </a:r>
            <a:endParaRPr lang="zh-CN" altLang="en-US"/>
          </a:p>
          <a:p>
            <a:pPr marL="457200" lvl="1" indent="457200"/>
            <a:r>
              <a:rPr lang="en-US" altLang="zh-CN"/>
              <a:t>python&gt;=3.8</a:t>
            </a:r>
            <a:endParaRPr lang="en-US" altLang="zh-CN"/>
          </a:p>
          <a:p>
            <a:pPr marL="457200" lvl="1" indent="457200"/>
            <a:r>
              <a:rPr lang="en-US" altLang="zh-CN"/>
              <a:t>torch&gt;=1.13</a:t>
            </a:r>
            <a:endParaRPr lang="en-US" altLang="zh-CN"/>
          </a:p>
          <a:p>
            <a:pPr marL="457200" lvl="1" indent="457200"/>
            <a:r>
              <a:rPr lang="en-US" altLang="zh-CN"/>
              <a:t>torchaudio</a:t>
            </a:r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1476375" y="285051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安装：</a:t>
            </a:r>
            <a:endParaRPr lang="zh-CN" altLang="en-US"/>
          </a:p>
          <a:p>
            <a:pPr indent="457200"/>
            <a:r>
              <a:rPr lang="en-US" altLang="zh-CN" b="1"/>
              <a:t>pip3 install -U funasr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</a:t>
            </a:r>
            <a:r>
              <a:rPr lang="en-US" sz="2400" b="1" dirty="0"/>
              <a:t>funasr</a:t>
            </a:r>
            <a:r>
              <a:rPr lang="zh-CN" altLang="en-US" sz="2400" b="1" dirty="0"/>
              <a:t>示例</a:t>
            </a:r>
            <a:endParaRPr lang="zh-CN" altLang="en-US" sz="2400" b="1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6825" y="1080135"/>
            <a:ext cx="9197340" cy="41452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</a:t>
            </a:r>
            <a:r>
              <a:rPr lang="en-US" sz="2400" b="1" dirty="0"/>
              <a:t>funasr</a:t>
            </a:r>
            <a:r>
              <a:rPr lang="zh-CN" altLang="en-US" sz="2400" b="1" dirty="0"/>
              <a:t>示例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1133475" y="1336675"/>
            <a:ext cx="974915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en-US" altLang="zh-CN"/>
              <a:t>chunk_size</a:t>
            </a:r>
            <a:r>
              <a:rPr lang="zh-CN" altLang="en-US"/>
              <a:t>为流式延时配置，</a:t>
            </a:r>
            <a:r>
              <a:rPr lang="en-US" altLang="zh-CN"/>
              <a:t>[0,10,5]</a:t>
            </a:r>
            <a:r>
              <a:rPr lang="zh-CN" altLang="en-US"/>
              <a:t>表示上屏实时出字粒度为</a:t>
            </a:r>
            <a:r>
              <a:rPr lang="en-US" altLang="zh-CN"/>
              <a:t>10*60=600ms</a:t>
            </a:r>
            <a:r>
              <a:rPr lang="zh-CN" altLang="en-US"/>
              <a:t>，未来信息为</a:t>
            </a:r>
            <a:r>
              <a:rPr lang="en-US" altLang="zh-CN"/>
              <a:t>5*60=300ms</a:t>
            </a:r>
            <a:r>
              <a:rPr lang="zh-CN" altLang="en-US"/>
              <a:t>。每次推理输入为</a:t>
            </a:r>
            <a:r>
              <a:rPr lang="en-US" altLang="zh-CN"/>
              <a:t>600ms</a:t>
            </a:r>
            <a:r>
              <a:rPr lang="zh-CN" altLang="en-US"/>
              <a:t>（采样点数为</a:t>
            </a:r>
            <a:r>
              <a:rPr lang="en-US" altLang="zh-CN"/>
              <a:t>16000*0.6=960</a:t>
            </a:r>
            <a:r>
              <a:rPr lang="zh-CN" altLang="en-US"/>
              <a:t>），输出为对应文字，最后一个语音片段输入需要设置</a:t>
            </a:r>
            <a:r>
              <a:rPr lang="en-US" altLang="zh-CN"/>
              <a:t>is_final=True</a:t>
            </a:r>
            <a:r>
              <a:rPr lang="zh-CN" altLang="en-US"/>
              <a:t>来强制输出最后一个字。</a:t>
            </a:r>
            <a:endParaRPr lang="zh-CN" altLang="en-US"/>
          </a:p>
        </p:txBody>
      </p:sp>
      <p:pic>
        <p:nvPicPr>
          <p:cNvPr id="5" name="图片 4" descr="Screenshot_20251104_1008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5065" y="2840355"/>
            <a:ext cx="6789420" cy="21869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</a:t>
            </a:r>
            <a:r>
              <a:rPr lang="en-US" sz="2400" b="1" dirty="0"/>
              <a:t>Index-tts</a:t>
            </a:r>
            <a:endParaRPr 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893445" y="1422400"/>
            <a:ext cx="104336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en-US" altLang="zh-CN"/>
              <a:t>Index-tts</a:t>
            </a:r>
            <a:r>
              <a:rPr lang="zh-CN" altLang="en-US"/>
              <a:t>是</a:t>
            </a:r>
            <a:r>
              <a:rPr lang="en-US" altLang="zh-CN"/>
              <a:t>B</a:t>
            </a:r>
            <a:r>
              <a:rPr lang="zh-CN" altLang="en-US"/>
              <a:t>站开源的</a:t>
            </a:r>
            <a:r>
              <a:rPr lang="en-US" altLang="zh-CN"/>
              <a:t>TTS</a:t>
            </a:r>
            <a:r>
              <a:rPr lang="zh-CN" altLang="en-US"/>
              <a:t>（</a:t>
            </a:r>
            <a:r>
              <a:rPr lang="en-US" altLang="zh-CN"/>
              <a:t>Text To Speech</a:t>
            </a:r>
            <a:r>
              <a:rPr lang="zh-CN" altLang="en-US"/>
              <a:t>）项目。能够使用非常简短的语音音频进行音色克隆。截止</a:t>
            </a:r>
            <a:r>
              <a:rPr lang="en-US" altLang="zh-CN"/>
              <a:t>2025.10.29</a:t>
            </a:r>
            <a:r>
              <a:rPr lang="zh-CN" altLang="en-US"/>
              <a:t>，</a:t>
            </a:r>
            <a:r>
              <a:rPr lang="en-US" altLang="zh-CN"/>
              <a:t>index-tts</a:t>
            </a:r>
            <a:r>
              <a:rPr lang="zh-CN" altLang="en-US"/>
              <a:t>已有两个版本：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133475" y="9683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ym typeface="+mn-ea"/>
              </a:rPr>
              <a:t>https://github.com/index-tts/index-tts</a:t>
            </a:r>
            <a:endParaRPr lang="zh-CN" altLang="en-US" b="1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435" y="2296795"/>
            <a:ext cx="10259695" cy="13881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375" y="3914140"/>
            <a:ext cx="4346575" cy="26562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-index-tts</a:t>
            </a:r>
            <a:r>
              <a:rPr lang="zh-CN" altLang="en-US" sz="2400" b="1" dirty="0"/>
              <a:t>下载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893445" y="1054100"/>
            <a:ext cx="104336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/>
              <a:t>打开</a:t>
            </a:r>
            <a:r>
              <a:rPr lang="en-US" altLang="zh-CN"/>
              <a:t>github</a:t>
            </a:r>
            <a:r>
              <a:rPr lang="zh-CN" altLang="en-US"/>
              <a:t>仓库，选择</a:t>
            </a:r>
            <a:r>
              <a:rPr lang="en-US" altLang="zh-CN"/>
              <a:t>v1.5.0</a:t>
            </a:r>
            <a:r>
              <a:rPr lang="zh-CN" altLang="en-US"/>
              <a:t>版本，点击下载源码。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20" y="1858645"/>
            <a:ext cx="4772660" cy="37693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265" y="1858645"/>
            <a:ext cx="4358640" cy="38696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-index-tts-</a:t>
            </a:r>
            <a:r>
              <a:rPr lang="zh-CN" altLang="en-US" sz="2400" b="1" dirty="0"/>
              <a:t>创建虚拟</a:t>
            </a:r>
            <a:r>
              <a:rPr lang="zh-CN" altLang="en-US" sz="2400" b="1" dirty="0"/>
              <a:t>环境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893445" y="1311275"/>
            <a:ext cx="10433685" cy="6927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创建一个名为</a:t>
            </a:r>
            <a:r>
              <a:rPr lang="en-US" altLang="zh-CN"/>
              <a:t>it15</a:t>
            </a:r>
            <a:r>
              <a:rPr lang="zh-CN" altLang="en-US"/>
              <a:t>，安装</a:t>
            </a:r>
            <a:r>
              <a:rPr lang="en-US" altLang="zh-CN"/>
              <a:t>ffpege</a:t>
            </a:r>
            <a:r>
              <a:rPr lang="zh-CN" altLang="en-US"/>
              <a:t>，</a:t>
            </a:r>
            <a:r>
              <a:rPr lang="en-US" altLang="zh-CN"/>
              <a:t>python</a:t>
            </a:r>
            <a:r>
              <a:rPr lang="zh-CN" altLang="en-US"/>
              <a:t>版本为</a:t>
            </a:r>
            <a:r>
              <a:rPr lang="en-US" altLang="zh-CN"/>
              <a:t>3.10</a:t>
            </a:r>
            <a:r>
              <a:rPr lang="zh-CN" altLang="en-US"/>
              <a:t>：</a:t>
            </a:r>
            <a:endParaRPr lang="zh-CN" altLang="en-US"/>
          </a:p>
          <a:p>
            <a:pPr marL="914400" lvl="2" indent="457200"/>
            <a:r>
              <a:rPr lang="en-US" altLang="zh-CN" b="1"/>
              <a:t>conda create -n it15 -c conda-forge python=3.10 ffmpeg --no-channel-priority</a:t>
            </a:r>
            <a:endParaRPr lang="en-US" altLang="zh-CN" b="1"/>
          </a:p>
        </p:txBody>
      </p:sp>
      <p:sp>
        <p:nvSpPr>
          <p:cNvPr id="4" name="文本框 3"/>
          <p:cNvSpPr txBox="1"/>
          <p:nvPr/>
        </p:nvSpPr>
        <p:spPr>
          <a:xfrm>
            <a:off x="1371600" y="2212340"/>
            <a:ext cx="92360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</a:t>
            </a:r>
            <a:r>
              <a:rPr lang="en-US" altLang="zh-CN"/>
              <a:t>pytorch</a:t>
            </a:r>
            <a:r>
              <a:rPr lang="zh-CN" altLang="en-US"/>
              <a:t>：</a:t>
            </a:r>
            <a:endParaRPr lang="zh-CN" altLang="en-US"/>
          </a:p>
          <a:p>
            <a:pPr marL="457200" lvl="1" indent="457200"/>
            <a:r>
              <a:rPr lang="en-US" altLang="zh-CN" b="1"/>
              <a:t>pip install torch torchaudio --index-url https://download.pytorch.org/whl/cu118</a:t>
            </a:r>
            <a:endParaRPr lang="en-US" altLang="zh-CN" b="1"/>
          </a:p>
        </p:txBody>
      </p:sp>
      <p:sp>
        <p:nvSpPr>
          <p:cNvPr id="6" name="文本框 5"/>
          <p:cNvSpPr txBox="1"/>
          <p:nvPr/>
        </p:nvSpPr>
        <p:spPr>
          <a:xfrm>
            <a:off x="1371600" y="3145790"/>
            <a:ext cx="86741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windows</a:t>
            </a:r>
            <a:r>
              <a:rPr lang="zh-CN" altLang="en-US"/>
              <a:t>系统，需要额外安装：</a:t>
            </a:r>
            <a:endParaRPr lang="zh-CN" altLang="en-US"/>
          </a:p>
          <a:p>
            <a:pPr marL="457200" lvl="1" indent="457200"/>
            <a:r>
              <a:rPr lang="en-US" altLang="zh-CN" b="1"/>
              <a:t>conda install -c conda-forge pynini==2.1.6</a:t>
            </a:r>
            <a:endParaRPr lang="en-US" altLang="zh-CN" b="1"/>
          </a:p>
          <a:p>
            <a:pPr marL="457200" lvl="1" indent="457200"/>
            <a:r>
              <a:rPr lang="en-US" altLang="zh-CN" b="1"/>
              <a:t>pip install WeTextProcessing --no-deps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-index-tts-</a:t>
            </a:r>
            <a:r>
              <a:rPr lang="zh-CN" altLang="en-US" sz="2400" b="1" dirty="0"/>
              <a:t>安装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893445" y="1168400"/>
            <a:ext cx="10433685" cy="6927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zh-CN" altLang="en-US"/>
              <a:t>打开终端，激活</a:t>
            </a:r>
            <a:r>
              <a:rPr lang="zh-CN" altLang="en-US"/>
              <a:t>环境，进入到项目目录，运行：</a:t>
            </a:r>
            <a:endParaRPr lang="zh-CN" altLang="en-US"/>
          </a:p>
          <a:p>
            <a:pPr marL="3657600" lvl="8" indent="457200"/>
            <a:r>
              <a:rPr lang="en-US" altLang="zh-CN" b="1"/>
              <a:t>pip install -e .</a:t>
            </a:r>
            <a:endParaRPr lang="en-US" altLang="zh-CN" b="1"/>
          </a:p>
        </p:txBody>
      </p:sp>
      <p:sp>
        <p:nvSpPr>
          <p:cNvPr id="5" name="文本框 4"/>
          <p:cNvSpPr txBox="1"/>
          <p:nvPr/>
        </p:nvSpPr>
        <p:spPr>
          <a:xfrm>
            <a:off x="1400175" y="2288540"/>
            <a:ext cx="999744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下载</a:t>
            </a:r>
            <a:r>
              <a:rPr lang="zh-CN" altLang="en-US"/>
              <a:t>模型：</a:t>
            </a:r>
            <a:endParaRPr lang="zh-CN" altLang="en-US"/>
          </a:p>
          <a:p>
            <a:pPr indent="457200"/>
            <a:r>
              <a:rPr lang="en-US" altLang="zh-CN" b="1"/>
              <a:t>huggingface-cli download IndexTeam/IndexTTS-1.5 config.yaml bigvgan_discriminator.pth bigvgan_generator.pth bpe.model dvae.pth gpt.pth unigram_12000.vocab --local-dir checkpoints</a:t>
            </a:r>
            <a:endParaRPr lang="en-US" altLang="zh-CN" b="1"/>
          </a:p>
        </p:txBody>
      </p:sp>
      <p:sp>
        <p:nvSpPr>
          <p:cNvPr id="7" name="文本框 6"/>
          <p:cNvSpPr txBox="1"/>
          <p:nvPr/>
        </p:nvSpPr>
        <p:spPr>
          <a:xfrm>
            <a:off x="1476375" y="3602990"/>
            <a:ext cx="92265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如果下载慢，可以使用镜像：</a:t>
            </a:r>
            <a:endParaRPr lang="zh-CN" altLang="en-US"/>
          </a:p>
          <a:p>
            <a:pPr indent="457200"/>
            <a:r>
              <a:rPr lang="en-US" altLang="zh-CN"/>
              <a:t>export HF_ENDPOINT="https://hf-mirror.com"     </a:t>
            </a:r>
            <a:endParaRPr lang="en-US" altLang="zh-CN"/>
          </a:p>
          <a:p>
            <a:pPr indent="457200"/>
            <a:r>
              <a:rPr lang="en-US" altLang="zh-CN" b="1"/>
              <a:t>set HF_ENDPOINT=https://hf-mirror.com</a:t>
            </a:r>
            <a:r>
              <a:rPr lang="en-US" altLang="zh-CN"/>
              <a:t>     ( --windows )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开源项目介绍</a:t>
            </a:r>
            <a:r>
              <a:rPr lang="en-US" altLang="zh-CN" sz="2400" b="1" dirty="0"/>
              <a:t>-index-tts-</a:t>
            </a:r>
            <a:r>
              <a:rPr lang="zh-CN" altLang="en-US" sz="2400" b="1" dirty="0"/>
              <a:t>示例</a:t>
            </a:r>
            <a:endParaRPr lang="zh-CN" altLang="en-US" sz="2400" b="1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6370" y="1874520"/>
            <a:ext cx="9319260" cy="13735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060450"/>
            <a:ext cx="9382760" cy="18726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运行本节课程代码（</a:t>
            </a:r>
            <a:r>
              <a:rPr lang="en-US" altLang="zh-CN" sz="2400"/>
              <a:t>funasr</a:t>
            </a:r>
            <a:r>
              <a:rPr lang="zh-CN" altLang="en-US" sz="2400"/>
              <a:t>和</a:t>
            </a:r>
            <a:r>
              <a:rPr lang="en-US" altLang="zh-CN" sz="2400"/>
              <a:t>kokoro</a:t>
            </a:r>
            <a:r>
              <a:rPr lang="zh-CN" altLang="en-US" sz="2400"/>
              <a:t>）。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提出三个任何与本节内容相关的问题，并自行回答。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</a:t>
            </a:r>
            <a:r>
              <a:rPr lang="zh-CN" altLang="en-US" sz="2400"/>
              <a:t>将代码和问题回答推送到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4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4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dirty="0" smtClean="0">
                <a:solidFill>
                  <a:srgbClr val="4472C4"/>
                </a:solidFill>
              </a:rPr>
              <a:t>机器人语音识别与</a:t>
            </a:r>
            <a:r>
              <a:rPr lang="zh-CN" altLang="en-US" sz="3200" dirty="0" smtClean="0">
                <a:solidFill>
                  <a:srgbClr val="4472C4"/>
                </a:solidFill>
              </a:rPr>
              <a:t>语音合成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2577</Words>
  <Application>WPS 演示</Application>
  <PresentationFormat>宽屏</PresentationFormat>
  <Paragraphs>146</Paragraphs>
  <Slides>29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1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Calibri</vt:lpstr>
      <vt:lpstr>Arial Unicode MS</vt:lpstr>
      <vt:lpstr>Arial Unicode MS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981</cp:revision>
  <dcterms:created xsi:type="dcterms:W3CDTF">2017-07-25T03:07:00Z</dcterms:created>
  <dcterms:modified xsi:type="dcterms:W3CDTF">2025-11-04T03:49:17Z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2052-12.1.0.23542</vt:lpwstr>
  </property>
</Properties>
</file>