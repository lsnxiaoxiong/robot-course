
<file path=[Content_Types].xml><?xml version="1.0" encoding="utf-8"?>
<Types xmlns="http://schemas.openxmlformats.org/package/2006/content-types">
  <Default Extension="jpeg" ContentType="image/jpeg"/>
  <Default Extension="JPG" ContentType="image/.jpg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5" r:id="rId3"/>
  </p:sldMasterIdLst>
  <p:notesMasterIdLst>
    <p:notesMasterId r:id="rId5"/>
  </p:notesMasterIdLst>
  <p:handoutMasterIdLst>
    <p:handoutMasterId r:id="rId34"/>
  </p:handoutMasterIdLst>
  <p:sldIdLst>
    <p:sldId id="322" r:id="rId4"/>
    <p:sldId id="364" r:id="rId6"/>
    <p:sldId id="445" r:id="rId7"/>
    <p:sldId id="446" r:id="rId8"/>
    <p:sldId id="447" r:id="rId9"/>
    <p:sldId id="448" r:id="rId10"/>
    <p:sldId id="449" r:id="rId11"/>
    <p:sldId id="450" r:id="rId12"/>
    <p:sldId id="410" r:id="rId13"/>
    <p:sldId id="451" r:id="rId14"/>
    <p:sldId id="452" r:id="rId15"/>
    <p:sldId id="453" r:id="rId16"/>
    <p:sldId id="462" r:id="rId17"/>
    <p:sldId id="454" r:id="rId18"/>
    <p:sldId id="455" r:id="rId19"/>
    <p:sldId id="456" r:id="rId20"/>
    <p:sldId id="458" r:id="rId21"/>
    <p:sldId id="459" r:id="rId22"/>
    <p:sldId id="460" r:id="rId23"/>
    <p:sldId id="461" r:id="rId24"/>
    <p:sldId id="463" r:id="rId25"/>
    <p:sldId id="464" r:id="rId26"/>
    <p:sldId id="465" r:id="rId27"/>
    <p:sldId id="466" r:id="rId28"/>
    <p:sldId id="467" r:id="rId29"/>
    <p:sldId id="468" r:id="rId30"/>
    <p:sldId id="469" r:id="rId31"/>
    <p:sldId id="356" r:id="rId32"/>
    <p:sldId id="320" r:id="rId3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9" userDrawn="1">
          <p15:clr>
            <a:srgbClr val="A4A3A4"/>
          </p15:clr>
        </p15:guide>
        <p15:guide id="2" orient="horz" pos="220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马奇" initials="马奇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  <a:srgbClr val="E89E00"/>
    <a:srgbClr val="FF9900"/>
    <a:srgbClr val="FFCCCC"/>
    <a:srgbClr val="D8BBA1"/>
    <a:srgbClr val="E2C718"/>
    <a:srgbClr val="D61621"/>
    <a:srgbClr val="FFD002"/>
    <a:srgbClr val="FF6666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18" autoAdjust="0"/>
    <p:restoredTop sz="79859" autoAdjust="0"/>
  </p:normalViewPr>
  <p:slideViewPr>
    <p:cSldViewPr snapToGrid="0" showGuides="1">
      <p:cViewPr varScale="1">
        <p:scale>
          <a:sx n="83" d="100"/>
          <a:sy n="83" d="100"/>
        </p:scale>
        <p:origin x="438" y="84"/>
      </p:cViewPr>
      <p:guideLst>
        <p:guide pos="3849"/>
        <p:guide orient="horz" pos="220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8" Type="http://schemas.openxmlformats.org/officeDocument/2006/relationships/commentAuthors" Target="commentAuthors.xml"/><Relationship Id="rId37" Type="http://schemas.openxmlformats.org/officeDocument/2006/relationships/tableStyles" Target="tableStyles.xml"/><Relationship Id="rId36" Type="http://schemas.openxmlformats.org/officeDocument/2006/relationships/viewProps" Target="viewProps.xml"/><Relationship Id="rId35" Type="http://schemas.openxmlformats.org/officeDocument/2006/relationships/presProps" Target="presProps.xml"/><Relationship Id="rId34" Type="http://schemas.openxmlformats.org/officeDocument/2006/relationships/handoutMaster" Target="handoutMasters/handoutMaster1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235978-AA0F-4019-89CE-7C0DBBEECEE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 7"/>
          <p:cNvSpPr/>
          <p:nvPr userDrawn="1"/>
        </p:nvSpPr>
        <p:spPr>
          <a:xfrm rot="5400000">
            <a:off x="4050259" y="-4050255"/>
            <a:ext cx="1802935" cy="9903456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lnTo>
                  <a:pt x="6907593" y="1776503"/>
                </a:lnTo>
                <a:lnTo>
                  <a:pt x="0" y="1776503"/>
                </a:lnTo>
                <a:close/>
              </a:path>
            </a:pathLst>
          </a:custGeom>
          <a:solidFill>
            <a:srgbClr val="157DA8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/>
          </a:p>
        </p:txBody>
      </p:sp>
      <p:sp>
        <p:nvSpPr>
          <p:cNvPr id="9" name="任意多边形 8"/>
          <p:cNvSpPr/>
          <p:nvPr userDrawn="1"/>
        </p:nvSpPr>
        <p:spPr>
          <a:xfrm flipH="1">
            <a:off x="10111813" y="1412240"/>
            <a:ext cx="2080184" cy="5445760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lnTo>
                  <a:pt x="6907593" y="1776503"/>
                </a:lnTo>
                <a:lnTo>
                  <a:pt x="0" y="1776503"/>
                </a:lnTo>
                <a:close/>
              </a:path>
            </a:pathLst>
          </a:custGeom>
          <a:solidFill>
            <a:srgbClr val="E89E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/>
          </a:p>
        </p:txBody>
      </p:sp>
      <p:sp>
        <p:nvSpPr>
          <p:cNvPr id="10" name="任意多边形 9"/>
          <p:cNvSpPr/>
          <p:nvPr userDrawn="1"/>
        </p:nvSpPr>
        <p:spPr>
          <a:xfrm rot="5400000">
            <a:off x="2385073" y="-2385070"/>
            <a:ext cx="1061693" cy="5831840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lnTo>
                  <a:pt x="6907593" y="1776503"/>
                </a:lnTo>
                <a:lnTo>
                  <a:pt x="0" y="177650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/>
          </a:p>
        </p:txBody>
      </p:sp>
      <p:sp>
        <p:nvSpPr>
          <p:cNvPr id="11" name="任意多边形 10"/>
          <p:cNvSpPr/>
          <p:nvPr userDrawn="1"/>
        </p:nvSpPr>
        <p:spPr>
          <a:xfrm rot="5400000">
            <a:off x="1483399" y="-1483401"/>
            <a:ext cx="660321" cy="3627120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lnTo>
                  <a:pt x="6907593" y="1776503"/>
                </a:lnTo>
                <a:lnTo>
                  <a:pt x="0" y="1776503"/>
                </a:lnTo>
                <a:close/>
              </a:path>
            </a:pathLst>
          </a:custGeom>
          <a:solidFill>
            <a:schemeClr val="bg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/>
          </a:p>
        </p:txBody>
      </p:sp>
      <p:sp>
        <p:nvSpPr>
          <p:cNvPr id="12" name="任意多边形 11"/>
          <p:cNvSpPr/>
          <p:nvPr userDrawn="1"/>
        </p:nvSpPr>
        <p:spPr>
          <a:xfrm flipH="1">
            <a:off x="10993120" y="3719437"/>
            <a:ext cx="1198876" cy="3138563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lnTo>
                  <a:pt x="6907593" y="1776503"/>
                </a:lnTo>
                <a:lnTo>
                  <a:pt x="0" y="177650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/>
          </a:p>
        </p:txBody>
      </p:sp>
      <p:grpSp>
        <p:nvGrpSpPr>
          <p:cNvPr id="7" name="组合 6"/>
          <p:cNvGrpSpPr/>
          <p:nvPr userDrawn="1"/>
        </p:nvGrpSpPr>
        <p:grpSpPr>
          <a:xfrm>
            <a:off x="9273790" y="-94255"/>
            <a:ext cx="2995243" cy="1264792"/>
            <a:chOff x="8303568" y="2694"/>
            <a:chExt cx="3888434" cy="1641957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81156" y="221822"/>
              <a:ext cx="2909748" cy="1422829"/>
            </a:xfrm>
            <a:prstGeom prst="rect">
              <a:avLst/>
            </a:prstGeom>
          </p:spPr>
        </p:pic>
        <p:sp>
          <p:nvSpPr>
            <p:cNvPr id="14" name="文本框 13"/>
            <p:cNvSpPr txBox="1"/>
            <p:nvPr/>
          </p:nvSpPr>
          <p:spPr>
            <a:xfrm>
              <a:off x="8303571" y="2694"/>
              <a:ext cx="3888431" cy="6069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18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上海仪酷智能科技有限公司</a:t>
              </a:r>
              <a:endParaRPr lang="en-US" altLang="zh-CN" sz="3200" dirty="0">
                <a:solidFill>
                  <a:srgbClr val="0070C0"/>
                </a:solidFill>
                <a:latin typeface="+mj-lt"/>
                <a:ea typeface="华文新魏" panose="02010800040101010101" pitchFamily="2" charset="-122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8303568" y="274888"/>
              <a:ext cx="3888431" cy="9797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3200" dirty="0">
                  <a:solidFill>
                    <a:srgbClr val="0070C0"/>
                  </a:solidFill>
                  <a:ea typeface="华文新魏" panose="02010800040101010101" pitchFamily="2" charset="-122"/>
                </a:rPr>
                <a:t>VI</a:t>
              </a:r>
              <a:r>
                <a:rPr lang="en-US" altLang="zh-CN" sz="3200" dirty="0">
                  <a:solidFill>
                    <a:schemeClr val="bg1">
                      <a:lumMod val="65000"/>
                    </a:schemeClr>
                  </a:solidFill>
                  <a:ea typeface="华文新魏" panose="02010800040101010101" pitchFamily="2" charset="-122"/>
                </a:rPr>
                <a:t>R </a:t>
              </a:r>
              <a:r>
                <a:rPr lang="en-US" altLang="zh-CN" sz="3200" dirty="0">
                  <a:ea typeface="华文新魏" panose="02010800040101010101" pitchFamily="2" charset="-122"/>
                </a:rPr>
                <a:t>      </a:t>
              </a:r>
              <a:r>
                <a:rPr lang="en-US" altLang="zh-CN" sz="3200" dirty="0">
                  <a:solidFill>
                    <a:schemeClr val="bg1">
                      <a:lumMod val="65000"/>
                    </a:schemeClr>
                  </a:solidFill>
                  <a:ea typeface="华文新魏" panose="02010800040101010101" pitchFamily="2" charset="-122"/>
                </a:rPr>
                <a:t>tics</a:t>
              </a:r>
              <a:endParaRPr lang="en-US" altLang="zh-CN" sz="3200" dirty="0">
                <a:solidFill>
                  <a:schemeClr val="bg1">
                    <a:lumMod val="65000"/>
                  </a:schemeClr>
                </a:solidFill>
                <a:ea typeface="华文新魏" panose="02010800040101010101" pitchFamily="2" charset="-122"/>
              </a:endParaRPr>
            </a:p>
          </p:txBody>
        </p:sp>
      </p:grpSp>
      <p:sp>
        <p:nvSpPr>
          <p:cNvPr id="16" name="任意多边形 15"/>
          <p:cNvSpPr/>
          <p:nvPr userDrawn="1"/>
        </p:nvSpPr>
        <p:spPr>
          <a:xfrm rot="5400000" flipH="1">
            <a:off x="140597" y="5298178"/>
            <a:ext cx="1419223" cy="1700416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lnTo>
                  <a:pt x="6907593" y="1776503"/>
                </a:lnTo>
                <a:lnTo>
                  <a:pt x="0" y="1776503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/>
          </a:p>
        </p:txBody>
      </p:sp>
      <p:sp>
        <p:nvSpPr>
          <p:cNvPr id="17" name="任意多边形 16"/>
          <p:cNvSpPr/>
          <p:nvPr userDrawn="1"/>
        </p:nvSpPr>
        <p:spPr>
          <a:xfrm rot="5400000" flipH="1">
            <a:off x="86469" y="5898692"/>
            <a:ext cx="872838" cy="1045776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lnTo>
                  <a:pt x="6907593" y="1776503"/>
                </a:lnTo>
                <a:lnTo>
                  <a:pt x="0" y="177650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H_Others_1"/>
          <p:cNvSpPr/>
          <p:nvPr userDrawn="1">
            <p:custDataLst>
              <p:tags r:id="rId2"/>
            </p:custDataLst>
          </p:nvPr>
        </p:nvSpPr>
        <p:spPr>
          <a:xfrm>
            <a:off x="10312400" y="449"/>
            <a:ext cx="1879600" cy="6857551"/>
          </a:xfrm>
          <a:prstGeom prst="rect">
            <a:avLst/>
          </a:prstGeom>
          <a:solidFill>
            <a:srgbClr val="E89E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59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  <a:sym typeface="Arial" panose="020B0604020202020204" pitchFamily="34" charset="0"/>
            </a:endParaRPr>
          </a:p>
        </p:txBody>
      </p:sp>
      <p:sp>
        <p:nvSpPr>
          <p:cNvPr id="4" name="MH_Others_2"/>
          <p:cNvSpPr/>
          <p:nvPr userDrawn="1">
            <p:custDataLst>
              <p:tags r:id="rId3"/>
            </p:custDataLst>
          </p:nvPr>
        </p:nvSpPr>
        <p:spPr>
          <a:xfrm>
            <a:off x="10011847" y="1"/>
            <a:ext cx="132066" cy="6861462"/>
          </a:xfrm>
          <a:prstGeom prst="rect">
            <a:avLst/>
          </a:prstGeom>
          <a:solidFill>
            <a:srgbClr val="157DA8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首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"/>
          <p:cNvSpPr/>
          <p:nvPr userDrawn="1"/>
        </p:nvSpPr>
        <p:spPr>
          <a:xfrm>
            <a:off x="0" y="4438650"/>
            <a:ext cx="12188991" cy="2426627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  <a:gd name="connsiteX0-1" fmla="*/ 0 w 6907593"/>
              <a:gd name="connsiteY0-2" fmla="*/ 0 h 1776503"/>
              <a:gd name="connsiteX1-3" fmla="*/ 6907593 w 6907593"/>
              <a:gd name="connsiteY1-4" fmla="*/ 1776503 h 1776503"/>
              <a:gd name="connsiteX2-5" fmla="*/ 0 w 6907593"/>
              <a:gd name="connsiteY2-6" fmla="*/ 1776503 h 1776503"/>
              <a:gd name="connsiteX3" fmla="*/ 0 w 6907593"/>
              <a:gd name="connsiteY3" fmla="*/ 0 h 1776503"/>
              <a:gd name="connsiteX0-7" fmla="*/ 0 w 6907593"/>
              <a:gd name="connsiteY0-8" fmla="*/ 0 h 1776503"/>
              <a:gd name="connsiteX1-9" fmla="*/ 6907593 w 6907593"/>
              <a:gd name="connsiteY1-10" fmla="*/ 1776503 h 1776503"/>
              <a:gd name="connsiteX2-11" fmla="*/ 0 w 6907593"/>
              <a:gd name="connsiteY2-12" fmla="*/ 1776503 h 1776503"/>
              <a:gd name="connsiteX3-13" fmla="*/ 0 w 6907593"/>
              <a:gd name="connsiteY3-14" fmla="*/ 0 h 1776503"/>
              <a:gd name="connsiteX0-15" fmla="*/ 0 w 6907593"/>
              <a:gd name="connsiteY0-16" fmla="*/ 0 h 1776503"/>
              <a:gd name="connsiteX1-17" fmla="*/ 6907593 w 6907593"/>
              <a:gd name="connsiteY1-18" fmla="*/ 1776503 h 1776503"/>
              <a:gd name="connsiteX2-19" fmla="*/ 0 w 6907593"/>
              <a:gd name="connsiteY2-20" fmla="*/ 1776503 h 1776503"/>
              <a:gd name="connsiteX3-21" fmla="*/ 0 w 6907593"/>
              <a:gd name="connsiteY3-22" fmla="*/ 0 h 177650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13" y="connsiteY3-14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cubicBezTo>
                  <a:pt x="2091413" y="1639688"/>
                  <a:pt x="4374752" y="1587227"/>
                  <a:pt x="6907593" y="1776503"/>
                </a:cubicBezTo>
                <a:lnTo>
                  <a:pt x="0" y="1776503"/>
                </a:lnTo>
                <a:lnTo>
                  <a:pt x="0" y="0"/>
                </a:lnTo>
                <a:close/>
              </a:path>
            </a:pathLst>
          </a:custGeom>
          <a:solidFill>
            <a:srgbClr val="157DA8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/>
          </a:p>
        </p:txBody>
      </p:sp>
      <p:sp>
        <p:nvSpPr>
          <p:cNvPr id="3" name="任意多边形 2"/>
          <p:cNvSpPr/>
          <p:nvPr userDrawn="1"/>
        </p:nvSpPr>
        <p:spPr>
          <a:xfrm flipH="1">
            <a:off x="6229348" y="5057775"/>
            <a:ext cx="5969693" cy="1807736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  <a:gd name="connsiteX0-1" fmla="*/ 0 w 6907593"/>
              <a:gd name="connsiteY0-2" fmla="*/ 0 h 1776503"/>
              <a:gd name="connsiteX1-3" fmla="*/ 6907593 w 6907593"/>
              <a:gd name="connsiteY1-4" fmla="*/ 1776503 h 1776503"/>
              <a:gd name="connsiteX2-5" fmla="*/ 0 w 6907593"/>
              <a:gd name="connsiteY2-6" fmla="*/ 1776503 h 1776503"/>
              <a:gd name="connsiteX3" fmla="*/ 0 w 6907593"/>
              <a:gd name="connsiteY3" fmla="*/ 0 h 1776503"/>
              <a:gd name="connsiteX0-7" fmla="*/ 0 w 6907593"/>
              <a:gd name="connsiteY0-8" fmla="*/ 0 h 1776503"/>
              <a:gd name="connsiteX1-9" fmla="*/ 6907593 w 6907593"/>
              <a:gd name="connsiteY1-10" fmla="*/ 1776503 h 1776503"/>
              <a:gd name="connsiteX2-11" fmla="*/ 0 w 6907593"/>
              <a:gd name="connsiteY2-12" fmla="*/ 1776503 h 1776503"/>
              <a:gd name="connsiteX3-13" fmla="*/ 0 w 6907593"/>
              <a:gd name="connsiteY3-14" fmla="*/ 0 h 177650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13" y="connsiteY3-14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cubicBezTo>
                  <a:pt x="1979235" y="1345282"/>
                  <a:pt x="4428718" y="1766287"/>
                  <a:pt x="6907593" y="1776503"/>
                </a:cubicBezTo>
                <a:lnTo>
                  <a:pt x="0" y="1776503"/>
                </a:lnTo>
                <a:lnTo>
                  <a:pt x="0" y="0"/>
                </a:lnTo>
                <a:close/>
              </a:path>
            </a:pathLst>
          </a:custGeom>
          <a:solidFill>
            <a:srgbClr val="E89E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/>
          </a:p>
        </p:txBody>
      </p:sp>
      <p:cxnSp>
        <p:nvCxnSpPr>
          <p:cNvPr id="6" name="直接连接符 5"/>
          <p:cNvCxnSpPr/>
          <p:nvPr userDrawn="1"/>
        </p:nvCxnSpPr>
        <p:spPr>
          <a:xfrm flipV="1">
            <a:off x="5013503" y="2190063"/>
            <a:ext cx="0" cy="1997354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8" name="组合 7"/>
          <p:cNvGrpSpPr/>
          <p:nvPr userDrawn="1"/>
        </p:nvGrpSpPr>
        <p:grpSpPr>
          <a:xfrm>
            <a:off x="3042969" y="2258053"/>
            <a:ext cx="1476644" cy="1476644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9" name="同心圆 8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80808"/>
                </a:solidFill>
                <a:latin typeface="+mj-ea"/>
                <a:ea typeface="+mj-ea"/>
              </a:endParaRPr>
            </a:p>
          </p:txBody>
        </p:sp>
        <p:sp>
          <p:nvSpPr>
            <p:cNvPr id="10" name="椭圆 9"/>
            <p:cNvSpPr/>
            <p:nvPr userDrawn="1"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80808"/>
                </a:solidFill>
                <a:latin typeface="+mj-ea"/>
                <a:ea typeface="+mj-ea"/>
              </a:endParaRPr>
            </a:p>
          </p:txBody>
        </p:sp>
      </p:grpSp>
      <p:pic>
        <p:nvPicPr>
          <p:cNvPr id="12" name="Picture 8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3455" y="349038"/>
            <a:ext cx="1569142" cy="399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任意多边形 10"/>
          <p:cNvSpPr/>
          <p:nvPr userDrawn="1"/>
        </p:nvSpPr>
        <p:spPr>
          <a:xfrm rot="10800000" flipH="1">
            <a:off x="1" y="-4"/>
            <a:ext cx="2657474" cy="1752604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  <a:gd name="connsiteX0-1" fmla="*/ 0 w 6907593"/>
              <a:gd name="connsiteY0-2" fmla="*/ 0 h 1776503"/>
              <a:gd name="connsiteX1-3" fmla="*/ 6907593 w 6907593"/>
              <a:gd name="connsiteY1-4" fmla="*/ 1776503 h 1776503"/>
              <a:gd name="connsiteX2-5" fmla="*/ 0 w 6907593"/>
              <a:gd name="connsiteY2-6" fmla="*/ 1776503 h 1776503"/>
              <a:gd name="connsiteX3" fmla="*/ 0 w 6907593"/>
              <a:gd name="connsiteY3" fmla="*/ 0 h 1776503"/>
              <a:gd name="connsiteX0-7" fmla="*/ 0 w 6907593"/>
              <a:gd name="connsiteY0-8" fmla="*/ 0 h 1776503"/>
              <a:gd name="connsiteX1-9" fmla="*/ 6907593 w 6907593"/>
              <a:gd name="connsiteY1-10" fmla="*/ 1776503 h 1776503"/>
              <a:gd name="connsiteX2-11" fmla="*/ 0 w 6907593"/>
              <a:gd name="connsiteY2-12" fmla="*/ 1776503 h 1776503"/>
              <a:gd name="connsiteX3-13" fmla="*/ 0 w 6907593"/>
              <a:gd name="connsiteY3-14" fmla="*/ 0 h 177650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13" y="connsiteY3-14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cubicBezTo>
                  <a:pt x="1979235" y="1345282"/>
                  <a:pt x="4428718" y="1766287"/>
                  <a:pt x="6907593" y="1776503"/>
                </a:cubicBezTo>
                <a:lnTo>
                  <a:pt x="0" y="1776503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新年快乐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32151"/>
            <a:ext cx="2395959" cy="1564128"/>
          </a:xfrm>
          <a:prstGeom prst="rect">
            <a:avLst/>
          </a:prstGeom>
        </p:spPr>
      </p:pic>
      <p:pic>
        <p:nvPicPr>
          <p:cNvPr id="13" name="Picture 8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903455" y="349038"/>
            <a:ext cx="1569142" cy="399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任意多边形 13"/>
          <p:cNvSpPr/>
          <p:nvPr userDrawn="1"/>
        </p:nvSpPr>
        <p:spPr>
          <a:xfrm>
            <a:off x="0" y="4438650"/>
            <a:ext cx="12188991" cy="2426627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  <a:gd name="connsiteX0-1" fmla="*/ 0 w 6907593"/>
              <a:gd name="connsiteY0-2" fmla="*/ 0 h 1776503"/>
              <a:gd name="connsiteX1-3" fmla="*/ 6907593 w 6907593"/>
              <a:gd name="connsiteY1-4" fmla="*/ 1776503 h 1776503"/>
              <a:gd name="connsiteX2-5" fmla="*/ 0 w 6907593"/>
              <a:gd name="connsiteY2-6" fmla="*/ 1776503 h 1776503"/>
              <a:gd name="connsiteX3" fmla="*/ 0 w 6907593"/>
              <a:gd name="connsiteY3" fmla="*/ 0 h 1776503"/>
              <a:gd name="connsiteX0-7" fmla="*/ 0 w 6907593"/>
              <a:gd name="connsiteY0-8" fmla="*/ 0 h 1776503"/>
              <a:gd name="connsiteX1-9" fmla="*/ 6907593 w 6907593"/>
              <a:gd name="connsiteY1-10" fmla="*/ 1776503 h 1776503"/>
              <a:gd name="connsiteX2-11" fmla="*/ 0 w 6907593"/>
              <a:gd name="connsiteY2-12" fmla="*/ 1776503 h 1776503"/>
              <a:gd name="connsiteX3-13" fmla="*/ 0 w 6907593"/>
              <a:gd name="connsiteY3-14" fmla="*/ 0 h 1776503"/>
              <a:gd name="connsiteX0-15" fmla="*/ 0 w 6907593"/>
              <a:gd name="connsiteY0-16" fmla="*/ 0 h 1776503"/>
              <a:gd name="connsiteX1-17" fmla="*/ 6907593 w 6907593"/>
              <a:gd name="connsiteY1-18" fmla="*/ 1776503 h 1776503"/>
              <a:gd name="connsiteX2-19" fmla="*/ 0 w 6907593"/>
              <a:gd name="connsiteY2-20" fmla="*/ 1776503 h 1776503"/>
              <a:gd name="connsiteX3-21" fmla="*/ 0 w 6907593"/>
              <a:gd name="connsiteY3-22" fmla="*/ 0 h 177650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13" y="connsiteY3-14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cubicBezTo>
                  <a:pt x="2091413" y="1639688"/>
                  <a:pt x="4374752" y="1587227"/>
                  <a:pt x="6907593" y="1776503"/>
                </a:cubicBezTo>
                <a:lnTo>
                  <a:pt x="0" y="1776503"/>
                </a:lnTo>
                <a:lnTo>
                  <a:pt x="0" y="0"/>
                </a:lnTo>
                <a:close/>
              </a:path>
            </a:pathLst>
          </a:custGeom>
          <a:solidFill>
            <a:srgbClr val="D61621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/>
          </a:p>
        </p:txBody>
      </p:sp>
      <p:sp>
        <p:nvSpPr>
          <p:cNvPr id="15" name="任意多边形 14"/>
          <p:cNvSpPr/>
          <p:nvPr userDrawn="1"/>
        </p:nvSpPr>
        <p:spPr>
          <a:xfrm flipH="1">
            <a:off x="6229348" y="5057775"/>
            <a:ext cx="5969693" cy="1807736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  <a:gd name="connsiteX0-1" fmla="*/ 0 w 6907593"/>
              <a:gd name="connsiteY0-2" fmla="*/ 0 h 1776503"/>
              <a:gd name="connsiteX1-3" fmla="*/ 6907593 w 6907593"/>
              <a:gd name="connsiteY1-4" fmla="*/ 1776503 h 1776503"/>
              <a:gd name="connsiteX2-5" fmla="*/ 0 w 6907593"/>
              <a:gd name="connsiteY2-6" fmla="*/ 1776503 h 1776503"/>
              <a:gd name="connsiteX3" fmla="*/ 0 w 6907593"/>
              <a:gd name="connsiteY3" fmla="*/ 0 h 1776503"/>
              <a:gd name="connsiteX0-7" fmla="*/ 0 w 6907593"/>
              <a:gd name="connsiteY0-8" fmla="*/ 0 h 1776503"/>
              <a:gd name="connsiteX1-9" fmla="*/ 6907593 w 6907593"/>
              <a:gd name="connsiteY1-10" fmla="*/ 1776503 h 1776503"/>
              <a:gd name="connsiteX2-11" fmla="*/ 0 w 6907593"/>
              <a:gd name="connsiteY2-12" fmla="*/ 1776503 h 1776503"/>
              <a:gd name="connsiteX3-13" fmla="*/ 0 w 6907593"/>
              <a:gd name="connsiteY3-14" fmla="*/ 0 h 177650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13" y="connsiteY3-14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cubicBezTo>
                  <a:pt x="1979235" y="1345282"/>
                  <a:pt x="4428718" y="1766287"/>
                  <a:pt x="6907593" y="1776503"/>
                </a:cubicBezTo>
                <a:lnTo>
                  <a:pt x="0" y="1776503"/>
                </a:lnTo>
                <a:lnTo>
                  <a:pt x="0" y="0"/>
                </a:lnTo>
                <a:close/>
              </a:path>
            </a:pathLst>
          </a:custGeom>
          <a:solidFill>
            <a:srgbClr val="E2C718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/>
          </a:p>
        </p:txBody>
      </p:sp>
      <p:pic>
        <p:nvPicPr>
          <p:cNvPr id="21" name="图片 20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251064" y="748598"/>
            <a:ext cx="1221533" cy="45097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1007435" y="833864"/>
            <a:ext cx="10465162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/>
          <p:cNvGrpSpPr/>
          <p:nvPr userDrawn="1"/>
        </p:nvGrpSpPr>
        <p:grpSpPr>
          <a:xfrm>
            <a:off x="335360" y="277337"/>
            <a:ext cx="576064" cy="559375"/>
            <a:chOff x="298460" y="987574"/>
            <a:chExt cx="288032" cy="279687"/>
          </a:xfrm>
        </p:grpSpPr>
        <p:sp>
          <p:nvSpPr>
            <p:cNvPr id="9" name="矩形 8"/>
            <p:cNvSpPr/>
            <p:nvPr/>
          </p:nvSpPr>
          <p:spPr>
            <a:xfrm>
              <a:off x="298460" y="987574"/>
              <a:ext cx="216024" cy="216024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/>
            </a:p>
          </p:txBody>
        </p:sp>
        <p:sp>
          <p:nvSpPr>
            <p:cNvPr id="10" name="矩形 9"/>
            <p:cNvSpPr/>
            <p:nvPr/>
          </p:nvSpPr>
          <p:spPr>
            <a:xfrm>
              <a:off x="406472" y="1087241"/>
              <a:ext cx="180020" cy="180020"/>
            </a:xfrm>
            <a:prstGeom prst="rect">
              <a:avLst/>
            </a:prstGeom>
            <a:solidFill>
              <a:srgbClr val="E89E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/>
            </a:p>
          </p:txBody>
        </p:sp>
      </p:grpSp>
      <p:pic>
        <p:nvPicPr>
          <p:cNvPr id="11" name="Picture 8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3455" y="349038"/>
            <a:ext cx="1569142" cy="399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直角三角形 2"/>
          <p:cNvSpPr/>
          <p:nvPr userDrawn="1"/>
        </p:nvSpPr>
        <p:spPr>
          <a:xfrm rot="10800000">
            <a:off x="84662" y="-2"/>
            <a:ext cx="12107337" cy="349040"/>
          </a:xfrm>
          <a:prstGeom prst="rtTriangle">
            <a:avLst/>
          </a:prstGeom>
          <a:gradFill flip="none" rotWithShape="1">
            <a:gsLst>
              <a:gs pos="0">
                <a:srgbClr val="5CC1EA">
                  <a:shade val="30000"/>
                  <a:satMod val="115000"/>
                  <a:alpha val="31000"/>
                </a:srgbClr>
              </a:gs>
              <a:gs pos="50000">
                <a:srgbClr val="5CC1EA">
                  <a:shade val="67500"/>
                  <a:satMod val="115000"/>
                </a:srgbClr>
              </a:gs>
              <a:gs pos="100000">
                <a:srgbClr val="5CC1EA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直角三角形 13"/>
          <p:cNvSpPr/>
          <p:nvPr userDrawn="1"/>
        </p:nvSpPr>
        <p:spPr>
          <a:xfrm>
            <a:off x="0" y="6417733"/>
            <a:ext cx="12107336" cy="440267"/>
          </a:xfrm>
          <a:prstGeom prst="rtTriangle">
            <a:avLst/>
          </a:prstGeom>
          <a:gradFill flip="none" rotWithShape="1">
            <a:gsLst>
              <a:gs pos="0">
                <a:schemeClr val="accent4">
                  <a:lumMod val="0"/>
                  <a:lumOff val="100000"/>
                </a:schemeClr>
              </a:gs>
              <a:gs pos="0">
                <a:schemeClr val="accent4">
                  <a:lumMod val="0"/>
                  <a:lumOff val="100000"/>
                </a:schemeClr>
              </a:gs>
              <a:gs pos="39000">
                <a:schemeClr val="accent4">
                  <a:lumMod val="10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任意多边形 23"/>
          <p:cNvSpPr/>
          <p:nvPr userDrawn="1"/>
        </p:nvSpPr>
        <p:spPr>
          <a:xfrm rot="10800000" flipH="1">
            <a:off x="-3" y="-2"/>
            <a:ext cx="4563538" cy="2514602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lnTo>
                  <a:pt x="6907593" y="1776503"/>
                </a:lnTo>
                <a:lnTo>
                  <a:pt x="0" y="1776503"/>
                </a:lnTo>
                <a:close/>
              </a:path>
            </a:pathLst>
          </a:custGeom>
          <a:solidFill>
            <a:srgbClr val="E89E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>
              <a:solidFill>
                <a:prstClr val="white"/>
              </a:solidFill>
            </a:endParaRPr>
          </a:p>
        </p:txBody>
      </p:sp>
      <p:sp>
        <p:nvSpPr>
          <p:cNvPr id="8" name="任意多边形 7"/>
          <p:cNvSpPr/>
          <p:nvPr userDrawn="1"/>
        </p:nvSpPr>
        <p:spPr>
          <a:xfrm rot="5400000">
            <a:off x="3805768" y="-3805763"/>
            <a:ext cx="1168396" cy="8779937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lnTo>
                  <a:pt x="6907593" y="1776503"/>
                </a:lnTo>
                <a:lnTo>
                  <a:pt x="0" y="1776503"/>
                </a:lnTo>
                <a:close/>
              </a:path>
            </a:pathLst>
          </a:custGeom>
          <a:solidFill>
            <a:srgbClr val="157DA8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>
              <a:solidFill>
                <a:prstClr val="white"/>
              </a:solidFill>
            </a:endParaRPr>
          </a:p>
        </p:txBody>
      </p:sp>
      <p:sp>
        <p:nvSpPr>
          <p:cNvPr id="10" name="任意多边形 9"/>
          <p:cNvSpPr/>
          <p:nvPr userDrawn="1"/>
        </p:nvSpPr>
        <p:spPr>
          <a:xfrm rot="5400000">
            <a:off x="1697568" y="-1697564"/>
            <a:ext cx="1168399" cy="4563535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lnTo>
                  <a:pt x="6907593" y="1776503"/>
                </a:lnTo>
                <a:lnTo>
                  <a:pt x="0" y="177650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>
              <a:solidFill>
                <a:prstClr val="white"/>
              </a:solidFill>
            </a:endParaRPr>
          </a:p>
        </p:txBody>
      </p:sp>
      <p:sp>
        <p:nvSpPr>
          <p:cNvPr id="11" name="任意多边形 10"/>
          <p:cNvSpPr/>
          <p:nvPr userDrawn="1"/>
        </p:nvSpPr>
        <p:spPr>
          <a:xfrm rot="5400000">
            <a:off x="1127283" y="-1127283"/>
            <a:ext cx="827303" cy="3081870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lnTo>
                  <a:pt x="6907593" y="1776503"/>
                </a:lnTo>
                <a:lnTo>
                  <a:pt x="0" y="1776503"/>
                </a:lnTo>
                <a:close/>
              </a:path>
            </a:pathLst>
          </a:custGeom>
          <a:solidFill>
            <a:schemeClr val="bg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>
              <a:solidFill>
                <a:prstClr val="white"/>
              </a:solidFill>
            </a:endParaRPr>
          </a:p>
        </p:txBody>
      </p:sp>
      <p:grpSp>
        <p:nvGrpSpPr>
          <p:cNvPr id="3" name="组合 2"/>
          <p:cNvGrpSpPr/>
          <p:nvPr userDrawn="1"/>
        </p:nvGrpSpPr>
        <p:grpSpPr>
          <a:xfrm>
            <a:off x="9239095" y="76203"/>
            <a:ext cx="3666413" cy="1775426"/>
            <a:chOff x="9196760" y="0"/>
            <a:chExt cx="3666413" cy="1775426"/>
          </a:xfrm>
        </p:grpSpPr>
        <p:pic>
          <p:nvPicPr>
            <p:cNvPr id="13" name="图片 12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9862065" y="307923"/>
              <a:ext cx="3001108" cy="1467503"/>
            </a:xfrm>
            <a:prstGeom prst="rect">
              <a:avLst/>
            </a:prstGeom>
          </p:spPr>
        </p:pic>
        <p:sp>
          <p:nvSpPr>
            <p:cNvPr id="14" name="文本框 13"/>
            <p:cNvSpPr txBox="1"/>
            <p:nvPr/>
          </p:nvSpPr>
          <p:spPr>
            <a:xfrm>
              <a:off x="9196760" y="0"/>
              <a:ext cx="299524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 smtClean="0">
                  <a:solidFill>
                    <a:prstClr val="black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上海交通大学工程训练中心</a:t>
              </a:r>
              <a:endParaRPr lang="en-US" altLang="zh-CN" dirty="0" smtClean="0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  <a:p>
              <a:pPr algn="ctr"/>
              <a:r>
                <a:rPr lang="zh-CN" altLang="en-US" dirty="0" smtClean="0">
                  <a:solidFill>
                    <a:prstClr val="black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上海仪酷智能科技有限公司</a:t>
              </a:r>
              <a:endParaRPr lang="en-US" altLang="zh-CN" dirty="0" smtClean="0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pic>
          <p:nvPicPr>
            <p:cNvPr id="2" name="图片 1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70533" y="660321"/>
              <a:ext cx="762708" cy="762708"/>
            </a:xfrm>
            <a:prstGeom prst="rect">
              <a:avLst/>
            </a:prstGeom>
          </p:spPr>
        </p:pic>
      </p:grpSp>
      <p:grpSp>
        <p:nvGrpSpPr>
          <p:cNvPr id="62" name="组合 61"/>
          <p:cNvGrpSpPr/>
          <p:nvPr userDrawn="1"/>
        </p:nvGrpSpPr>
        <p:grpSpPr>
          <a:xfrm rot="10800000">
            <a:off x="8779935" y="4741014"/>
            <a:ext cx="3412065" cy="2116984"/>
            <a:chOff x="2810930" y="2822526"/>
            <a:chExt cx="8779937" cy="2526726"/>
          </a:xfrm>
        </p:grpSpPr>
        <p:sp>
          <p:nvSpPr>
            <p:cNvPr id="58" name="任意多边形 57"/>
            <p:cNvSpPr/>
            <p:nvPr userDrawn="1"/>
          </p:nvSpPr>
          <p:spPr>
            <a:xfrm rot="10800000" flipH="1">
              <a:off x="2810930" y="2834650"/>
              <a:ext cx="4563537" cy="2514602"/>
            </a:xfrm>
            <a:custGeom>
              <a:avLst/>
              <a:gdLst>
                <a:gd name="connsiteX0" fmla="*/ 0 w 6907593"/>
                <a:gd name="connsiteY0" fmla="*/ 0 h 1776503"/>
                <a:gd name="connsiteX1" fmla="*/ 6907593 w 6907593"/>
                <a:gd name="connsiteY1" fmla="*/ 1776503 h 1776503"/>
                <a:gd name="connsiteX2" fmla="*/ 0 w 6907593"/>
                <a:gd name="connsiteY2" fmla="*/ 1776503 h 1776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907593" h="1776503">
                  <a:moveTo>
                    <a:pt x="0" y="0"/>
                  </a:moveTo>
                  <a:lnTo>
                    <a:pt x="6907593" y="1776503"/>
                  </a:lnTo>
                  <a:lnTo>
                    <a:pt x="0" y="1776503"/>
                  </a:lnTo>
                  <a:close/>
                </a:path>
              </a:pathLst>
            </a:custGeom>
            <a:solidFill>
              <a:srgbClr val="E89E00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>
                <a:solidFill>
                  <a:prstClr val="white"/>
                </a:solidFill>
              </a:endParaRPr>
            </a:p>
          </p:txBody>
        </p:sp>
        <p:sp>
          <p:nvSpPr>
            <p:cNvPr id="59" name="任意多边形 58"/>
            <p:cNvSpPr/>
            <p:nvPr userDrawn="1"/>
          </p:nvSpPr>
          <p:spPr>
            <a:xfrm rot="5400000">
              <a:off x="6616701" y="-983237"/>
              <a:ext cx="1168396" cy="8779937"/>
            </a:xfrm>
            <a:custGeom>
              <a:avLst/>
              <a:gdLst>
                <a:gd name="connsiteX0" fmla="*/ 0 w 6907593"/>
                <a:gd name="connsiteY0" fmla="*/ 0 h 1776503"/>
                <a:gd name="connsiteX1" fmla="*/ 6907593 w 6907593"/>
                <a:gd name="connsiteY1" fmla="*/ 1776503 h 1776503"/>
                <a:gd name="connsiteX2" fmla="*/ 0 w 6907593"/>
                <a:gd name="connsiteY2" fmla="*/ 1776503 h 1776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907593" h="1776503">
                  <a:moveTo>
                    <a:pt x="0" y="0"/>
                  </a:moveTo>
                  <a:lnTo>
                    <a:pt x="6907593" y="1776503"/>
                  </a:lnTo>
                  <a:lnTo>
                    <a:pt x="0" y="1776503"/>
                  </a:lnTo>
                  <a:close/>
                </a:path>
              </a:pathLst>
            </a:custGeom>
            <a:solidFill>
              <a:srgbClr val="157DA8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>
                <a:solidFill>
                  <a:prstClr val="white"/>
                </a:solidFill>
              </a:endParaRPr>
            </a:p>
          </p:txBody>
        </p:sp>
        <p:sp>
          <p:nvSpPr>
            <p:cNvPr id="60" name="任意多边形 59"/>
            <p:cNvSpPr/>
            <p:nvPr userDrawn="1"/>
          </p:nvSpPr>
          <p:spPr>
            <a:xfrm rot="5400000">
              <a:off x="4508501" y="1124962"/>
              <a:ext cx="1168399" cy="4563535"/>
            </a:xfrm>
            <a:custGeom>
              <a:avLst/>
              <a:gdLst>
                <a:gd name="connsiteX0" fmla="*/ 0 w 6907593"/>
                <a:gd name="connsiteY0" fmla="*/ 0 h 1776503"/>
                <a:gd name="connsiteX1" fmla="*/ 6907593 w 6907593"/>
                <a:gd name="connsiteY1" fmla="*/ 1776503 h 1776503"/>
                <a:gd name="connsiteX2" fmla="*/ 0 w 6907593"/>
                <a:gd name="connsiteY2" fmla="*/ 1776503 h 1776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907593" h="1776503">
                  <a:moveTo>
                    <a:pt x="0" y="0"/>
                  </a:moveTo>
                  <a:lnTo>
                    <a:pt x="6907593" y="1776503"/>
                  </a:lnTo>
                  <a:lnTo>
                    <a:pt x="0" y="177650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>
                <a:solidFill>
                  <a:prstClr val="white"/>
                </a:solidFill>
              </a:endParaRPr>
            </a:p>
          </p:txBody>
        </p:sp>
        <p:sp>
          <p:nvSpPr>
            <p:cNvPr id="61" name="任意多边形 60"/>
            <p:cNvSpPr/>
            <p:nvPr userDrawn="1"/>
          </p:nvSpPr>
          <p:spPr>
            <a:xfrm rot="5400000">
              <a:off x="3938216" y="1695243"/>
              <a:ext cx="827303" cy="3081870"/>
            </a:xfrm>
            <a:custGeom>
              <a:avLst/>
              <a:gdLst>
                <a:gd name="connsiteX0" fmla="*/ 0 w 6907593"/>
                <a:gd name="connsiteY0" fmla="*/ 0 h 1776503"/>
                <a:gd name="connsiteX1" fmla="*/ 6907593 w 6907593"/>
                <a:gd name="connsiteY1" fmla="*/ 1776503 h 1776503"/>
                <a:gd name="connsiteX2" fmla="*/ 0 w 6907593"/>
                <a:gd name="connsiteY2" fmla="*/ 1776503 h 1776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907593" h="1776503">
                  <a:moveTo>
                    <a:pt x="0" y="0"/>
                  </a:moveTo>
                  <a:lnTo>
                    <a:pt x="6907593" y="1776503"/>
                  </a:lnTo>
                  <a:lnTo>
                    <a:pt x="0" y="1776503"/>
                  </a:lnTo>
                  <a:close/>
                </a:path>
              </a:pathLst>
            </a:custGeom>
            <a:solidFill>
              <a:schemeClr val="bg1">
                <a:lumMod val="50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>
                <a:solidFill>
                  <a:prstClr val="white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H_Others_1"/>
          <p:cNvSpPr/>
          <p:nvPr userDrawn="1">
            <p:custDataLst>
              <p:tags r:id="rId2"/>
            </p:custDataLst>
          </p:nvPr>
        </p:nvSpPr>
        <p:spPr>
          <a:xfrm>
            <a:off x="10312400" y="449"/>
            <a:ext cx="1879600" cy="6857551"/>
          </a:xfrm>
          <a:prstGeom prst="rect">
            <a:avLst/>
          </a:prstGeom>
          <a:solidFill>
            <a:srgbClr val="E89E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590" dirty="0">
              <a:solidFill>
                <a:prstClr val="white"/>
              </a:solidFill>
              <a:latin typeface="黑体" panose="02010609060101010101" pitchFamily="49" charset="-122"/>
              <a:ea typeface="黑体" panose="02010609060101010101" pitchFamily="49" charset="-122"/>
              <a:sym typeface="Arial" panose="020B0604020202020204" pitchFamily="34" charset="0"/>
            </a:endParaRPr>
          </a:p>
        </p:txBody>
      </p:sp>
      <p:sp>
        <p:nvSpPr>
          <p:cNvPr id="4" name="MH_Others_2"/>
          <p:cNvSpPr/>
          <p:nvPr userDrawn="1">
            <p:custDataLst>
              <p:tags r:id="rId3"/>
            </p:custDataLst>
          </p:nvPr>
        </p:nvSpPr>
        <p:spPr>
          <a:xfrm>
            <a:off x="10011847" y="1"/>
            <a:ext cx="132066" cy="6861462"/>
          </a:xfrm>
          <a:prstGeom prst="rect">
            <a:avLst/>
          </a:prstGeom>
          <a:solidFill>
            <a:srgbClr val="157DA8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首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"/>
          <p:cNvSpPr/>
          <p:nvPr userDrawn="1"/>
        </p:nvSpPr>
        <p:spPr>
          <a:xfrm>
            <a:off x="0" y="4438650"/>
            <a:ext cx="12188991" cy="2426627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  <a:gd name="connsiteX0-1" fmla="*/ 0 w 6907593"/>
              <a:gd name="connsiteY0-2" fmla="*/ 0 h 1776503"/>
              <a:gd name="connsiteX1-3" fmla="*/ 6907593 w 6907593"/>
              <a:gd name="connsiteY1-4" fmla="*/ 1776503 h 1776503"/>
              <a:gd name="connsiteX2-5" fmla="*/ 0 w 6907593"/>
              <a:gd name="connsiteY2-6" fmla="*/ 1776503 h 1776503"/>
              <a:gd name="connsiteX3" fmla="*/ 0 w 6907593"/>
              <a:gd name="connsiteY3" fmla="*/ 0 h 1776503"/>
              <a:gd name="connsiteX0-7" fmla="*/ 0 w 6907593"/>
              <a:gd name="connsiteY0-8" fmla="*/ 0 h 1776503"/>
              <a:gd name="connsiteX1-9" fmla="*/ 6907593 w 6907593"/>
              <a:gd name="connsiteY1-10" fmla="*/ 1776503 h 1776503"/>
              <a:gd name="connsiteX2-11" fmla="*/ 0 w 6907593"/>
              <a:gd name="connsiteY2-12" fmla="*/ 1776503 h 1776503"/>
              <a:gd name="connsiteX3-13" fmla="*/ 0 w 6907593"/>
              <a:gd name="connsiteY3-14" fmla="*/ 0 h 1776503"/>
              <a:gd name="connsiteX0-15" fmla="*/ 0 w 6907593"/>
              <a:gd name="connsiteY0-16" fmla="*/ 0 h 1776503"/>
              <a:gd name="connsiteX1-17" fmla="*/ 6907593 w 6907593"/>
              <a:gd name="connsiteY1-18" fmla="*/ 1776503 h 1776503"/>
              <a:gd name="connsiteX2-19" fmla="*/ 0 w 6907593"/>
              <a:gd name="connsiteY2-20" fmla="*/ 1776503 h 1776503"/>
              <a:gd name="connsiteX3-21" fmla="*/ 0 w 6907593"/>
              <a:gd name="connsiteY3-22" fmla="*/ 0 h 177650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13" y="connsiteY3-14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cubicBezTo>
                  <a:pt x="2091413" y="1639688"/>
                  <a:pt x="4374752" y="1587227"/>
                  <a:pt x="6907593" y="1776503"/>
                </a:cubicBezTo>
                <a:lnTo>
                  <a:pt x="0" y="1776503"/>
                </a:lnTo>
                <a:lnTo>
                  <a:pt x="0" y="0"/>
                </a:lnTo>
                <a:close/>
              </a:path>
            </a:pathLst>
          </a:custGeom>
          <a:solidFill>
            <a:srgbClr val="157DA8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>
              <a:solidFill>
                <a:prstClr val="white"/>
              </a:solidFill>
            </a:endParaRPr>
          </a:p>
        </p:txBody>
      </p:sp>
      <p:sp>
        <p:nvSpPr>
          <p:cNvPr id="3" name="任意多边形 2"/>
          <p:cNvSpPr/>
          <p:nvPr userDrawn="1"/>
        </p:nvSpPr>
        <p:spPr>
          <a:xfrm flipH="1">
            <a:off x="6229348" y="5057775"/>
            <a:ext cx="5969693" cy="1807736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  <a:gd name="connsiteX0-1" fmla="*/ 0 w 6907593"/>
              <a:gd name="connsiteY0-2" fmla="*/ 0 h 1776503"/>
              <a:gd name="connsiteX1-3" fmla="*/ 6907593 w 6907593"/>
              <a:gd name="connsiteY1-4" fmla="*/ 1776503 h 1776503"/>
              <a:gd name="connsiteX2-5" fmla="*/ 0 w 6907593"/>
              <a:gd name="connsiteY2-6" fmla="*/ 1776503 h 1776503"/>
              <a:gd name="connsiteX3" fmla="*/ 0 w 6907593"/>
              <a:gd name="connsiteY3" fmla="*/ 0 h 1776503"/>
              <a:gd name="connsiteX0-7" fmla="*/ 0 w 6907593"/>
              <a:gd name="connsiteY0-8" fmla="*/ 0 h 1776503"/>
              <a:gd name="connsiteX1-9" fmla="*/ 6907593 w 6907593"/>
              <a:gd name="connsiteY1-10" fmla="*/ 1776503 h 1776503"/>
              <a:gd name="connsiteX2-11" fmla="*/ 0 w 6907593"/>
              <a:gd name="connsiteY2-12" fmla="*/ 1776503 h 1776503"/>
              <a:gd name="connsiteX3-13" fmla="*/ 0 w 6907593"/>
              <a:gd name="connsiteY3-14" fmla="*/ 0 h 177650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13" y="connsiteY3-14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cubicBezTo>
                  <a:pt x="1979235" y="1345282"/>
                  <a:pt x="4428718" y="1766287"/>
                  <a:pt x="6907593" y="1776503"/>
                </a:cubicBezTo>
                <a:lnTo>
                  <a:pt x="0" y="1776503"/>
                </a:lnTo>
                <a:lnTo>
                  <a:pt x="0" y="0"/>
                </a:lnTo>
                <a:close/>
              </a:path>
            </a:pathLst>
          </a:custGeom>
          <a:solidFill>
            <a:srgbClr val="E89E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 userDrawn="1"/>
        </p:nvCxnSpPr>
        <p:spPr>
          <a:xfrm flipV="1">
            <a:off x="5013503" y="2190063"/>
            <a:ext cx="0" cy="1997354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8" name="组合 7"/>
          <p:cNvGrpSpPr/>
          <p:nvPr userDrawn="1"/>
        </p:nvGrpSpPr>
        <p:grpSpPr>
          <a:xfrm>
            <a:off x="3042969" y="2258053"/>
            <a:ext cx="1476644" cy="1476644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9" name="同心圆 8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80808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0" name="椭圆 9"/>
            <p:cNvSpPr/>
            <p:nvPr userDrawn="1"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80808"/>
                </a:solidFill>
                <a:latin typeface="宋体" panose="02010600030101010101" pitchFamily="2" charset="-122"/>
              </a:endParaRPr>
            </a:p>
          </p:txBody>
        </p:sp>
      </p:grpSp>
      <p:sp>
        <p:nvSpPr>
          <p:cNvPr id="11" name="任意多边形 10"/>
          <p:cNvSpPr/>
          <p:nvPr userDrawn="1"/>
        </p:nvSpPr>
        <p:spPr>
          <a:xfrm rot="10800000" flipH="1">
            <a:off x="1" y="-4"/>
            <a:ext cx="2657474" cy="1752604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  <a:gd name="connsiteX0-1" fmla="*/ 0 w 6907593"/>
              <a:gd name="connsiteY0-2" fmla="*/ 0 h 1776503"/>
              <a:gd name="connsiteX1-3" fmla="*/ 6907593 w 6907593"/>
              <a:gd name="connsiteY1-4" fmla="*/ 1776503 h 1776503"/>
              <a:gd name="connsiteX2-5" fmla="*/ 0 w 6907593"/>
              <a:gd name="connsiteY2-6" fmla="*/ 1776503 h 1776503"/>
              <a:gd name="connsiteX3" fmla="*/ 0 w 6907593"/>
              <a:gd name="connsiteY3" fmla="*/ 0 h 1776503"/>
              <a:gd name="connsiteX0-7" fmla="*/ 0 w 6907593"/>
              <a:gd name="connsiteY0-8" fmla="*/ 0 h 1776503"/>
              <a:gd name="connsiteX1-9" fmla="*/ 6907593 w 6907593"/>
              <a:gd name="connsiteY1-10" fmla="*/ 1776503 h 1776503"/>
              <a:gd name="connsiteX2-11" fmla="*/ 0 w 6907593"/>
              <a:gd name="connsiteY2-12" fmla="*/ 1776503 h 1776503"/>
              <a:gd name="connsiteX3-13" fmla="*/ 0 w 6907593"/>
              <a:gd name="connsiteY3-14" fmla="*/ 0 h 177650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13" y="connsiteY3-14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cubicBezTo>
                  <a:pt x="1979235" y="1345282"/>
                  <a:pt x="4428718" y="1766287"/>
                  <a:pt x="6907593" y="1776503"/>
                </a:cubicBezTo>
                <a:lnTo>
                  <a:pt x="0" y="1776503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>
              <a:solidFill>
                <a:prstClr val="white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综合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 userDrawn="1"/>
        </p:nvCxnSpPr>
        <p:spPr>
          <a:xfrm>
            <a:off x="1007435" y="833864"/>
            <a:ext cx="10465162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 userDrawn="1"/>
        </p:nvGrpSpPr>
        <p:grpSpPr>
          <a:xfrm>
            <a:off x="335360" y="277337"/>
            <a:ext cx="576064" cy="559375"/>
            <a:chOff x="298460" y="987574"/>
            <a:chExt cx="288032" cy="279687"/>
          </a:xfrm>
        </p:grpSpPr>
        <p:sp>
          <p:nvSpPr>
            <p:cNvPr id="5" name="矩形 4"/>
            <p:cNvSpPr/>
            <p:nvPr/>
          </p:nvSpPr>
          <p:spPr>
            <a:xfrm>
              <a:off x="298460" y="987574"/>
              <a:ext cx="216024" cy="216024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>
                <a:solidFill>
                  <a:prstClr val="white"/>
                </a:solidFill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406472" y="1087241"/>
              <a:ext cx="180020" cy="180020"/>
            </a:xfrm>
            <a:prstGeom prst="rect">
              <a:avLst/>
            </a:prstGeom>
            <a:solidFill>
              <a:srgbClr val="E89E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>
                <a:solidFill>
                  <a:prstClr val="white"/>
                </a:solidFill>
              </a:endParaRPr>
            </a:p>
          </p:txBody>
        </p:sp>
      </p:grpSp>
      <p:pic>
        <p:nvPicPr>
          <p:cNvPr id="7" name="Picture 8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3455" y="349038"/>
            <a:ext cx="1569142" cy="399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直角三角形 7"/>
          <p:cNvSpPr/>
          <p:nvPr userDrawn="1"/>
        </p:nvSpPr>
        <p:spPr>
          <a:xfrm rot="10800000">
            <a:off x="84662" y="-2"/>
            <a:ext cx="12107337" cy="349040"/>
          </a:xfrm>
          <a:prstGeom prst="rtTriangle">
            <a:avLst/>
          </a:prstGeom>
          <a:gradFill flip="none" rotWithShape="1">
            <a:gsLst>
              <a:gs pos="0">
                <a:srgbClr val="5CC1EA">
                  <a:shade val="30000"/>
                  <a:satMod val="115000"/>
                  <a:alpha val="31000"/>
                </a:srgbClr>
              </a:gs>
              <a:gs pos="50000">
                <a:srgbClr val="5CC1EA">
                  <a:shade val="67500"/>
                  <a:satMod val="115000"/>
                </a:srgbClr>
              </a:gs>
              <a:gs pos="100000">
                <a:srgbClr val="5CC1EA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9" name="直角三角形 8"/>
          <p:cNvSpPr/>
          <p:nvPr userDrawn="1"/>
        </p:nvSpPr>
        <p:spPr>
          <a:xfrm>
            <a:off x="0" y="6417733"/>
            <a:ext cx="12107336" cy="440267"/>
          </a:xfrm>
          <a:prstGeom prst="rtTriangle">
            <a:avLst/>
          </a:prstGeom>
          <a:gradFill flip="none" rotWithShape="1">
            <a:gsLst>
              <a:gs pos="0">
                <a:schemeClr val="accent4">
                  <a:lumMod val="0"/>
                  <a:lumOff val="100000"/>
                </a:schemeClr>
              </a:gs>
              <a:gs pos="0">
                <a:schemeClr val="accent4">
                  <a:lumMod val="0"/>
                  <a:lumOff val="100000"/>
                </a:schemeClr>
              </a:gs>
              <a:gs pos="39000">
                <a:schemeClr val="accent4">
                  <a:lumMod val="10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1007435" y="833864"/>
            <a:ext cx="10465162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/>
          <p:cNvGrpSpPr/>
          <p:nvPr userDrawn="1"/>
        </p:nvGrpSpPr>
        <p:grpSpPr>
          <a:xfrm>
            <a:off x="335360" y="277337"/>
            <a:ext cx="576064" cy="559375"/>
            <a:chOff x="298460" y="987574"/>
            <a:chExt cx="288032" cy="279687"/>
          </a:xfrm>
        </p:grpSpPr>
        <p:sp>
          <p:nvSpPr>
            <p:cNvPr id="9" name="矩形 8"/>
            <p:cNvSpPr/>
            <p:nvPr/>
          </p:nvSpPr>
          <p:spPr>
            <a:xfrm>
              <a:off x="298460" y="987574"/>
              <a:ext cx="216024" cy="216024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>
                <a:solidFill>
                  <a:prstClr val="white"/>
                </a:solidFill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406472" y="1087241"/>
              <a:ext cx="180020" cy="180020"/>
            </a:xfrm>
            <a:prstGeom prst="rect">
              <a:avLst/>
            </a:prstGeom>
            <a:solidFill>
              <a:srgbClr val="4472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>
                <a:solidFill>
                  <a:prstClr val="white"/>
                </a:solidFill>
              </a:endParaRPr>
            </a:p>
          </p:txBody>
        </p:sp>
      </p:grpSp>
      <p:sp>
        <p:nvSpPr>
          <p:cNvPr id="3" name="直角三角形 2"/>
          <p:cNvSpPr/>
          <p:nvPr userDrawn="1"/>
        </p:nvSpPr>
        <p:spPr>
          <a:xfrm rot="10800000">
            <a:off x="84662" y="-2"/>
            <a:ext cx="12107337" cy="349040"/>
          </a:xfrm>
          <a:prstGeom prst="rtTriangle">
            <a:avLst/>
          </a:prstGeom>
          <a:gradFill flip="none" rotWithShape="1">
            <a:gsLst>
              <a:gs pos="0">
                <a:srgbClr val="5CC1EA">
                  <a:shade val="30000"/>
                  <a:satMod val="115000"/>
                  <a:alpha val="31000"/>
                </a:srgbClr>
              </a:gs>
              <a:gs pos="50000">
                <a:srgbClr val="5CC1EA">
                  <a:shade val="67500"/>
                  <a:satMod val="115000"/>
                </a:srgbClr>
              </a:gs>
              <a:gs pos="100000">
                <a:srgbClr val="5CC1EA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903498" y="-28448"/>
            <a:ext cx="157824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600" dirty="0" smtClean="0">
                <a:solidFill>
                  <a:srgbClr val="4472C4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讲</a:t>
            </a:r>
            <a:endParaRPr lang="zh-CN" altLang="en-US" sz="9600" dirty="0">
              <a:solidFill>
                <a:srgbClr val="4472C4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15" name="直角三角形 14"/>
          <p:cNvSpPr/>
          <p:nvPr userDrawn="1"/>
        </p:nvSpPr>
        <p:spPr>
          <a:xfrm>
            <a:off x="0" y="6508960"/>
            <a:ext cx="12107337" cy="349040"/>
          </a:xfrm>
          <a:prstGeom prst="rtTriangle">
            <a:avLst/>
          </a:prstGeom>
          <a:gradFill flip="none" rotWithShape="1">
            <a:gsLst>
              <a:gs pos="0">
                <a:srgbClr val="5CC1EA">
                  <a:shade val="30000"/>
                  <a:satMod val="115000"/>
                  <a:alpha val="31000"/>
                </a:srgbClr>
              </a:gs>
              <a:gs pos="50000">
                <a:srgbClr val="5CC1EA">
                  <a:shade val="67500"/>
                  <a:satMod val="115000"/>
                </a:srgbClr>
              </a:gs>
              <a:gs pos="100000">
                <a:srgbClr val="5CC1EA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1007435" y="833864"/>
            <a:ext cx="10465162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/>
          <p:cNvGrpSpPr/>
          <p:nvPr userDrawn="1"/>
        </p:nvGrpSpPr>
        <p:grpSpPr>
          <a:xfrm>
            <a:off x="335360" y="277337"/>
            <a:ext cx="576064" cy="559375"/>
            <a:chOff x="298460" y="987574"/>
            <a:chExt cx="288032" cy="279687"/>
          </a:xfrm>
        </p:grpSpPr>
        <p:sp>
          <p:nvSpPr>
            <p:cNvPr id="9" name="矩形 8"/>
            <p:cNvSpPr/>
            <p:nvPr/>
          </p:nvSpPr>
          <p:spPr>
            <a:xfrm>
              <a:off x="298460" y="987574"/>
              <a:ext cx="216024" cy="216024"/>
            </a:xfrm>
            <a:prstGeom prst="rect">
              <a:avLst/>
            </a:prstGeom>
            <a:noFill/>
            <a:ln w="38100">
              <a:solidFill>
                <a:srgbClr val="E89E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>
                <a:solidFill>
                  <a:prstClr val="white"/>
                </a:solidFill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406472" y="1087241"/>
              <a:ext cx="180020" cy="180020"/>
            </a:xfrm>
            <a:prstGeom prst="rect">
              <a:avLst/>
            </a:prstGeom>
            <a:solidFill>
              <a:srgbClr val="E89E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>
                <a:solidFill>
                  <a:prstClr val="white"/>
                </a:solidFill>
              </a:endParaRPr>
            </a:p>
          </p:txBody>
        </p:sp>
      </p:grpSp>
      <p:sp>
        <p:nvSpPr>
          <p:cNvPr id="14" name="直角三角形 13"/>
          <p:cNvSpPr/>
          <p:nvPr userDrawn="1"/>
        </p:nvSpPr>
        <p:spPr>
          <a:xfrm>
            <a:off x="0" y="6477000"/>
            <a:ext cx="12107336" cy="381000"/>
          </a:xfrm>
          <a:prstGeom prst="rtTriangle">
            <a:avLst/>
          </a:prstGeom>
          <a:gradFill flip="none" rotWithShape="1">
            <a:gsLst>
              <a:gs pos="0">
                <a:schemeClr val="accent4">
                  <a:lumMod val="0"/>
                  <a:lumOff val="100000"/>
                </a:schemeClr>
              </a:gs>
              <a:gs pos="0">
                <a:schemeClr val="accent4">
                  <a:lumMod val="0"/>
                  <a:lumOff val="100000"/>
                </a:schemeClr>
              </a:gs>
              <a:gs pos="39000">
                <a:schemeClr val="accent4">
                  <a:lumMod val="10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903498" y="-28448"/>
            <a:ext cx="157824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600" dirty="0" smtClean="0">
                <a:solidFill>
                  <a:srgbClr val="E89E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例</a:t>
            </a:r>
            <a:endParaRPr lang="zh-CN" altLang="en-US" sz="9600" dirty="0">
              <a:solidFill>
                <a:srgbClr val="E89E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11" name="直角三角形 10"/>
          <p:cNvSpPr/>
          <p:nvPr userDrawn="1"/>
        </p:nvSpPr>
        <p:spPr>
          <a:xfrm rot="10800000">
            <a:off x="84664" y="3977"/>
            <a:ext cx="12107336" cy="345367"/>
          </a:xfrm>
          <a:prstGeom prst="rtTriangle">
            <a:avLst/>
          </a:prstGeom>
          <a:gradFill flip="none" rotWithShape="1">
            <a:gsLst>
              <a:gs pos="0">
                <a:schemeClr val="accent4">
                  <a:lumMod val="0"/>
                  <a:lumOff val="100000"/>
                </a:schemeClr>
              </a:gs>
              <a:gs pos="0">
                <a:schemeClr val="accent4">
                  <a:lumMod val="0"/>
                  <a:lumOff val="100000"/>
                </a:schemeClr>
              </a:gs>
              <a:gs pos="39000">
                <a:schemeClr val="accent4">
                  <a:lumMod val="10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1007435" y="833864"/>
            <a:ext cx="10465162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/>
          <p:cNvGrpSpPr/>
          <p:nvPr userDrawn="1"/>
        </p:nvGrpSpPr>
        <p:grpSpPr>
          <a:xfrm>
            <a:off x="335360" y="277337"/>
            <a:ext cx="576064" cy="559375"/>
            <a:chOff x="298460" y="987574"/>
            <a:chExt cx="288032" cy="279687"/>
          </a:xfrm>
        </p:grpSpPr>
        <p:sp>
          <p:nvSpPr>
            <p:cNvPr id="9" name="矩形 8"/>
            <p:cNvSpPr/>
            <p:nvPr/>
          </p:nvSpPr>
          <p:spPr>
            <a:xfrm>
              <a:off x="298460" y="987574"/>
              <a:ext cx="216024" cy="216024"/>
            </a:xfrm>
            <a:prstGeom prst="rect">
              <a:avLst/>
            </a:prstGeom>
            <a:noFill/>
            <a:ln w="381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>
                <a:solidFill>
                  <a:prstClr val="white"/>
                </a:solidFill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406472" y="1087241"/>
              <a:ext cx="180020" cy="18002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>
                <a:solidFill>
                  <a:prstClr val="white"/>
                </a:solidFill>
              </a:endParaRPr>
            </a:p>
          </p:txBody>
        </p:sp>
      </p:grpSp>
      <p:sp>
        <p:nvSpPr>
          <p:cNvPr id="3" name="直角三角形 2"/>
          <p:cNvSpPr/>
          <p:nvPr userDrawn="1"/>
        </p:nvSpPr>
        <p:spPr>
          <a:xfrm rot="10800000">
            <a:off x="84662" y="-2"/>
            <a:ext cx="12107337" cy="349040"/>
          </a:xfrm>
          <a:prstGeom prst="rtTriangle">
            <a:avLst/>
          </a:prstGeom>
          <a:gradFill flip="none" rotWithShape="1">
            <a:gsLst>
              <a:gs pos="100000">
                <a:schemeClr val="bg1"/>
              </a:gs>
              <a:gs pos="29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903498" y="-28448"/>
            <a:ext cx="157824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600" dirty="0" smtClean="0">
                <a:solidFill>
                  <a:prstClr val="white">
                    <a:lumMod val="50000"/>
                  </a:prst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练</a:t>
            </a:r>
            <a:endParaRPr lang="zh-CN" altLang="en-US" sz="9600" dirty="0">
              <a:solidFill>
                <a:prstClr val="white">
                  <a:lumMod val="50000"/>
                </a:prstClr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12" name="直角三角形 11"/>
          <p:cNvSpPr/>
          <p:nvPr userDrawn="1"/>
        </p:nvSpPr>
        <p:spPr>
          <a:xfrm>
            <a:off x="0" y="6508960"/>
            <a:ext cx="12107337" cy="349040"/>
          </a:xfrm>
          <a:prstGeom prst="rtTriangle">
            <a:avLst/>
          </a:prstGeom>
          <a:gradFill flip="none" rotWithShape="1">
            <a:gsLst>
              <a:gs pos="100000">
                <a:schemeClr val="bg1"/>
              </a:gs>
              <a:gs pos="29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theme" Target="../theme/theme2.xml"/><Relationship Id="rId8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30.jpe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35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039396" y="2431690"/>
            <a:ext cx="7804514" cy="212280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6600" dirty="0" smtClean="0">
                <a:ln w="0"/>
                <a:solidFill>
                  <a:srgbClr val="157DA8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机器人语音识别与语音</a:t>
            </a:r>
            <a:r>
              <a:rPr lang="zh-CN" altLang="en-US" sz="6600" dirty="0" smtClean="0">
                <a:ln w="0"/>
                <a:solidFill>
                  <a:srgbClr val="157DA8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合成</a:t>
            </a:r>
            <a:endParaRPr lang="zh-CN" altLang="en-US" sz="6600" dirty="0" smtClean="0">
              <a:ln w="0"/>
              <a:solidFill>
                <a:srgbClr val="157DA8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语音模块</a:t>
            </a:r>
            <a:r>
              <a:rPr lang="zh-CN" altLang="en-US" sz="2400" b="1" dirty="0"/>
              <a:t>安装</a:t>
            </a:r>
            <a:endParaRPr lang="zh-CN" altLang="en-US" sz="2400" b="1" dirty="0"/>
          </a:p>
        </p:txBody>
      </p:sp>
      <p:sp>
        <p:nvSpPr>
          <p:cNvPr id="10" name="文本框 9"/>
          <p:cNvSpPr txBox="1"/>
          <p:nvPr/>
        </p:nvSpPr>
        <p:spPr>
          <a:xfrm>
            <a:off x="646430" y="1256665"/>
            <a:ext cx="10524490" cy="7467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>
              <a:lnSpc>
                <a:spcPct val="130000"/>
              </a:lnSpc>
            </a:pPr>
            <a:r>
              <a:rPr lang="zh-CN" altLang="en-US"/>
              <a:t>使用</a:t>
            </a:r>
            <a:r>
              <a:rPr lang="en-US" altLang="zh-CN"/>
              <a:t> M4*6 </a:t>
            </a:r>
            <a:r>
              <a:rPr lang="zh-CN" altLang="en-US"/>
              <a:t>的圆头螺丝将</a:t>
            </a:r>
            <a:r>
              <a:rPr lang="en-US" altLang="zh-CN"/>
              <a:t> AI </a:t>
            </a:r>
            <a:r>
              <a:rPr lang="zh-CN" altLang="en-US"/>
              <a:t>语音交互盒（</a:t>
            </a:r>
            <a:r>
              <a:rPr lang="en-US" altLang="zh-CN"/>
              <a:t>WonderEcho Pro</a:t>
            </a:r>
            <a:r>
              <a:rPr lang="zh-CN" altLang="en-US"/>
              <a:t>）安装在</a:t>
            </a:r>
            <a:r>
              <a:rPr lang="en-US" altLang="zh-CN"/>
              <a:t> TonyPi </a:t>
            </a:r>
            <a:r>
              <a:rPr lang="zh-CN" altLang="en-US"/>
              <a:t>的背部，注意安装方向。通过</a:t>
            </a:r>
            <a:r>
              <a:rPr lang="en-US" altLang="zh-CN"/>
              <a:t> Type C </a:t>
            </a:r>
            <a:r>
              <a:rPr lang="zh-CN" altLang="en-US"/>
              <a:t>线，将模块连接到机器人的</a:t>
            </a:r>
            <a:r>
              <a:rPr lang="en-US" altLang="zh-CN"/>
              <a:t> USB </a:t>
            </a:r>
            <a:r>
              <a:rPr lang="zh-CN" altLang="en-US"/>
              <a:t>口。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4395" y="2682240"/>
            <a:ext cx="5366385" cy="283464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8945" y="2856865"/>
            <a:ext cx="4371975" cy="2349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语音模块</a:t>
            </a:r>
            <a:r>
              <a:rPr lang="zh-CN" altLang="en-US" sz="2400" b="1" dirty="0"/>
              <a:t>测试</a:t>
            </a:r>
            <a:endParaRPr lang="zh-CN" altLang="en-US" sz="2400" b="1" dirty="0"/>
          </a:p>
        </p:txBody>
      </p:sp>
      <p:sp>
        <p:nvSpPr>
          <p:cNvPr id="10" name="文本框 9"/>
          <p:cNvSpPr txBox="1"/>
          <p:nvPr/>
        </p:nvSpPr>
        <p:spPr>
          <a:xfrm>
            <a:off x="646430" y="1256665"/>
            <a:ext cx="10524490" cy="7467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>
              <a:lnSpc>
                <a:spcPct val="130000"/>
              </a:lnSpc>
            </a:pPr>
            <a:r>
              <a:rPr lang="en-US" altLang="zh-CN"/>
              <a:t>vnc </a:t>
            </a:r>
            <a:r>
              <a:rPr lang="zh-CN" altLang="en-US"/>
              <a:t>远程连接桌面进入树莓派系统，查看右上角是否有麦克风好扬声器的标志。如下图所示，有即代表连接成功。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89860" y="2745105"/>
            <a:ext cx="5859780" cy="18440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语音模块</a:t>
            </a:r>
            <a:r>
              <a:rPr lang="zh-CN" altLang="en-US" sz="2400" b="1" dirty="0"/>
              <a:t>测试</a:t>
            </a:r>
            <a:endParaRPr lang="zh-CN" altLang="en-US" sz="2400" b="1" dirty="0"/>
          </a:p>
        </p:txBody>
      </p:sp>
      <p:sp>
        <p:nvSpPr>
          <p:cNvPr id="10" name="文本框 9"/>
          <p:cNvSpPr txBox="1"/>
          <p:nvPr/>
        </p:nvSpPr>
        <p:spPr>
          <a:xfrm>
            <a:off x="646430" y="1256665"/>
            <a:ext cx="10524490" cy="7467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>
              <a:lnSpc>
                <a:spcPct val="130000"/>
              </a:lnSpc>
            </a:pPr>
            <a:r>
              <a:rPr lang="zh-CN" altLang="en-US"/>
              <a:t>在终端输入：</a:t>
            </a:r>
            <a:r>
              <a:rPr lang="en-US" altLang="zh-CN" b="1"/>
              <a:t>arecord -l</a:t>
            </a:r>
            <a:endParaRPr lang="en-US" altLang="zh-CN" b="1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5070" y="2003425"/>
            <a:ext cx="6355080" cy="9906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114425" y="3355340"/>
            <a:ext cx="1017905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/>
            <a:r>
              <a:rPr lang="zh-CN" altLang="en-US"/>
              <a:t>执行命令录音。</a:t>
            </a:r>
            <a:r>
              <a:rPr lang="en-US" altLang="zh-CN"/>
              <a:t>ctrl+C</a:t>
            </a:r>
            <a:r>
              <a:rPr lang="zh-CN" altLang="en-US"/>
              <a:t>停止。录音完成之后，当前文件夹下会有一个</a:t>
            </a:r>
            <a:r>
              <a:rPr lang="en-US" altLang="zh-CN"/>
              <a:t>test.wav</a:t>
            </a:r>
            <a:r>
              <a:rPr lang="zh-CN" altLang="en-US"/>
              <a:t>，播放这个音频文件，可以听到刚才录制的声音。</a:t>
            </a:r>
            <a:endParaRPr lang="zh-CN" altLang="en-US"/>
          </a:p>
          <a:p>
            <a:pPr marL="1828800" lvl="4" indent="457200"/>
            <a:r>
              <a:rPr lang="en-US" altLang="zh-CN" b="1"/>
              <a:t>arecord -D hw:2,0 -f S16_LE -r 16000 -c 2 test.wav</a:t>
            </a:r>
            <a:endParaRPr lang="en-US" altLang="zh-CN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数字音频</a:t>
            </a:r>
            <a:endParaRPr lang="zh-CN" altLang="en-US" sz="2400" b="1" dirty="0"/>
          </a:p>
        </p:txBody>
      </p:sp>
      <p:sp>
        <p:nvSpPr>
          <p:cNvPr id="10" name="文本框 9"/>
          <p:cNvSpPr txBox="1"/>
          <p:nvPr/>
        </p:nvSpPr>
        <p:spPr>
          <a:xfrm>
            <a:off x="646430" y="1189990"/>
            <a:ext cx="10524490" cy="14122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>
              <a:lnSpc>
                <a:spcPct val="130000"/>
              </a:lnSpc>
            </a:pPr>
            <a:r>
              <a:rPr lang="zh-CN" altLang="en-US"/>
              <a:t>声音主要有响度、音高、音高三个基本要素，采样到后以波形图显示。在波形图中，波幅越大，声音的响度越大；波峰间距越小，声音的频率越高；声音的主要特征（音色）不是依赖单一频率，而是由一系列谐波频率共同构成。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6880" y="3253740"/>
            <a:ext cx="8587740" cy="16459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数字音频</a:t>
            </a:r>
            <a:endParaRPr lang="zh-CN" altLang="en-US" sz="2400" b="1" dirty="0"/>
          </a:p>
        </p:txBody>
      </p:sp>
      <p:sp>
        <p:nvSpPr>
          <p:cNvPr id="10" name="文本框 9"/>
          <p:cNvSpPr txBox="1"/>
          <p:nvPr/>
        </p:nvSpPr>
        <p:spPr>
          <a:xfrm>
            <a:off x="646430" y="1034415"/>
            <a:ext cx="10524490" cy="12890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>
              <a:lnSpc>
                <a:spcPct val="130000"/>
              </a:lnSpc>
            </a:pPr>
            <a:r>
              <a:rPr lang="zh-CN" altLang="en-US"/>
              <a:t>声音主要有响度、音高、音高三个基本要素，采样到后以波形图显示。在波形图中，波幅越大，声音的响度越大；波峰间距越小，声音的频率越高；声音的主要特征（音色）不是依赖单一频率，而是由一系列谐波频率共同构成。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5930" y="2227580"/>
            <a:ext cx="8587740" cy="164592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490" y="3992245"/>
            <a:ext cx="3608070" cy="234569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250" y="3992245"/>
            <a:ext cx="5572760" cy="26936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数字音频</a:t>
            </a:r>
            <a:endParaRPr lang="zh-CN" altLang="en-US" sz="2400" b="1" dirty="0"/>
          </a:p>
        </p:txBody>
      </p:sp>
      <p:sp>
        <p:nvSpPr>
          <p:cNvPr id="10" name="文本框 9"/>
          <p:cNvSpPr txBox="1"/>
          <p:nvPr/>
        </p:nvSpPr>
        <p:spPr>
          <a:xfrm>
            <a:off x="646430" y="920115"/>
            <a:ext cx="10524490" cy="4984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>
              <a:lnSpc>
                <a:spcPct val="130000"/>
              </a:lnSpc>
            </a:pPr>
            <a:r>
              <a:rPr lang="zh-CN" altLang="en-US"/>
              <a:t>对波形图做傅里叶变换，可以得到频谱图。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6015" y="1332865"/>
            <a:ext cx="7669530" cy="190881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9400" y="3302000"/>
            <a:ext cx="4226560" cy="33959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采样参数</a:t>
            </a:r>
            <a:endParaRPr lang="zh-CN" altLang="en-US" sz="2400" b="1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9680" y="927735"/>
            <a:ext cx="9692640" cy="56921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阿里云语音</a:t>
            </a:r>
            <a:r>
              <a:rPr lang="en-US" altLang="zh-CN" sz="2400" b="1" dirty="0"/>
              <a:t>API</a:t>
            </a:r>
            <a:endParaRPr lang="en-US" altLang="zh-CN" sz="2400" b="1" dirty="0"/>
          </a:p>
        </p:txBody>
      </p:sp>
      <p:sp>
        <p:nvSpPr>
          <p:cNvPr id="6" name="文本框 5"/>
          <p:cNvSpPr txBox="1"/>
          <p:nvPr/>
        </p:nvSpPr>
        <p:spPr>
          <a:xfrm>
            <a:off x="821055" y="1038860"/>
            <a:ext cx="10035540" cy="5461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30000"/>
              </a:lnSpc>
            </a:pPr>
            <a:r>
              <a:rPr lang="en-US" altLang="zh-CN" b="1"/>
              <a:t>https://bailian.console.aliyun.com/?tab=model#/model-market</a:t>
            </a:r>
            <a:endParaRPr lang="en-US" altLang="zh-CN" b="1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0175" y="1868805"/>
            <a:ext cx="9211310" cy="41706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阿里云语音</a:t>
            </a:r>
            <a:r>
              <a:rPr lang="en-US" altLang="zh-CN" sz="2400" b="1" dirty="0"/>
              <a:t>API-</a:t>
            </a:r>
            <a:r>
              <a:rPr lang="zh-CN" altLang="en-US" sz="2400" b="1" dirty="0"/>
              <a:t>创建</a:t>
            </a:r>
            <a:r>
              <a:rPr lang="en-US" altLang="zh-CN" sz="2400" b="1" dirty="0"/>
              <a:t>APIKEY</a:t>
            </a:r>
            <a:endParaRPr lang="en-US" altLang="zh-CN" sz="2400" b="1" dirty="0"/>
          </a:p>
        </p:txBody>
      </p:sp>
      <p:sp>
        <p:nvSpPr>
          <p:cNvPr id="6" name="文本框 5"/>
          <p:cNvSpPr txBox="1"/>
          <p:nvPr/>
        </p:nvSpPr>
        <p:spPr>
          <a:xfrm>
            <a:off x="821055" y="1038860"/>
            <a:ext cx="10035540" cy="5461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30000"/>
              </a:lnSpc>
            </a:pPr>
            <a:r>
              <a:rPr lang="zh-CN" altLang="en-US"/>
              <a:t>注册实名后，点击</a:t>
            </a:r>
            <a:r>
              <a:rPr lang="en-US" altLang="zh-CN"/>
              <a:t>“</a:t>
            </a:r>
            <a:r>
              <a:rPr lang="zh-CN" altLang="en-US"/>
              <a:t>密钥管理</a:t>
            </a:r>
            <a:r>
              <a:rPr lang="en-US" altLang="zh-CN"/>
              <a:t>”——“</a:t>
            </a:r>
            <a:r>
              <a:rPr lang="zh-CN" altLang="en-US"/>
              <a:t>创建</a:t>
            </a:r>
            <a:r>
              <a:rPr lang="en-US" altLang="zh-CN"/>
              <a:t>API-KEY”</a:t>
            </a:r>
            <a:r>
              <a:rPr lang="zh-CN" altLang="en-US"/>
              <a:t>，选择账号，确认即可。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9610" y="2201545"/>
            <a:ext cx="4798060" cy="326136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2170" y="2201545"/>
            <a:ext cx="6053455" cy="33896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阿里云语音</a:t>
            </a:r>
            <a:r>
              <a:rPr lang="en-US" altLang="zh-CN" sz="2400" b="1" dirty="0"/>
              <a:t>API-</a:t>
            </a:r>
            <a:r>
              <a:rPr lang="zh-CN" altLang="en-US" sz="2400" b="1" dirty="0"/>
              <a:t>语音</a:t>
            </a:r>
            <a:r>
              <a:rPr lang="zh-CN" altLang="en-US" sz="2400" b="1" dirty="0"/>
              <a:t>合成</a:t>
            </a:r>
            <a:endParaRPr lang="zh-CN" altLang="en-US" sz="2400" b="1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50870" y="1085850"/>
            <a:ext cx="5137150" cy="52673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阿里云语音</a:t>
            </a:r>
            <a:r>
              <a:rPr lang="en-US" altLang="zh-CN" sz="2400" b="1" dirty="0"/>
              <a:t>API-</a:t>
            </a:r>
            <a:r>
              <a:rPr lang="zh-CN" altLang="en-US" sz="2400" b="1" dirty="0"/>
              <a:t>识别</a:t>
            </a:r>
            <a:endParaRPr lang="zh-CN" altLang="en-US" sz="2400" b="1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81250" y="1026795"/>
            <a:ext cx="6791960" cy="55511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模型仓库</a:t>
            </a:r>
            <a:r>
              <a:rPr lang="zh-CN" altLang="en-US" sz="2400" b="1" dirty="0"/>
              <a:t>介绍</a:t>
            </a:r>
            <a:endParaRPr lang="zh-CN" altLang="en-US" sz="2400" b="1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5195" y="3218815"/>
            <a:ext cx="1691640" cy="48768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7115" y="3257550"/>
            <a:ext cx="1645920" cy="3429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737995" y="1534160"/>
            <a:ext cx="93389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安装</a:t>
            </a:r>
            <a:r>
              <a:rPr lang="en-US" altLang="zh-CN"/>
              <a:t>:</a:t>
            </a:r>
            <a:endParaRPr lang="en-US" altLang="zh-CN"/>
          </a:p>
          <a:p>
            <a:pPr marL="457200" lvl="1" indent="457200"/>
            <a:r>
              <a:rPr lang="en-US" altLang="zh-CN" b="1"/>
              <a:t>pip3 install -U modelscope huggingface huggingface_hub</a:t>
            </a:r>
            <a:endParaRPr lang="en-US" altLang="zh-CN" b="1"/>
          </a:p>
        </p:txBody>
      </p:sp>
      <p:sp>
        <p:nvSpPr>
          <p:cNvPr id="7" name="文本框 6"/>
          <p:cNvSpPr txBox="1"/>
          <p:nvPr/>
        </p:nvSpPr>
        <p:spPr>
          <a:xfrm>
            <a:off x="6358890" y="3888105"/>
            <a:ext cx="46443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C:\Users\&lt;</a:t>
            </a:r>
            <a:r>
              <a:rPr lang="zh-CN" altLang="en-US"/>
              <a:t>用户名</a:t>
            </a:r>
            <a:r>
              <a:rPr lang="en-US" altLang="zh-CN"/>
              <a:t>&gt;\.cache\modelscope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885825" y="3888105"/>
            <a:ext cx="5025390" cy="4743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C:\Users\&lt;</a:t>
            </a:r>
            <a:r>
              <a:rPr lang="zh-CN" altLang="en-US"/>
              <a:t>你的用户名</a:t>
            </a:r>
            <a:r>
              <a:rPr lang="en-US" altLang="zh-CN"/>
              <a:t>&gt;\.cache\huggingface\</a:t>
            </a:r>
            <a:endParaRPr lang="en-US" altLang="zh-CN"/>
          </a:p>
          <a:p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开源项目介绍</a:t>
            </a:r>
            <a:r>
              <a:rPr lang="en-US" altLang="zh-CN" sz="2400" b="1" dirty="0"/>
              <a:t>-kokoro</a:t>
            </a:r>
            <a:endParaRPr lang="en-US" altLang="zh-CN" sz="24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985520" y="10121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https://github.com/hexgrad/kokoro</a:t>
            </a:r>
            <a:endParaRPr lang="en-US" altLang="zh-CN" b="1"/>
          </a:p>
        </p:txBody>
      </p:sp>
      <p:sp>
        <p:nvSpPr>
          <p:cNvPr id="6" name="文本框 5"/>
          <p:cNvSpPr txBox="1"/>
          <p:nvPr/>
        </p:nvSpPr>
        <p:spPr>
          <a:xfrm>
            <a:off x="985520" y="1555115"/>
            <a:ext cx="9969500" cy="8089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/>
            <a:r>
              <a:rPr lang="en-US" altLang="zh-CN"/>
              <a:t>Kokoro</a:t>
            </a:r>
            <a:r>
              <a:rPr lang="zh-CN" altLang="en-US"/>
              <a:t>是一个具有</a:t>
            </a:r>
            <a:r>
              <a:rPr lang="en-US" altLang="zh-CN"/>
              <a:t>8200</a:t>
            </a:r>
            <a:r>
              <a:rPr lang="zh-CN" altLang="en-US"/>
              <a:t>万参数的开放式</a:t>
            </a:r>
            <a:r>
              <a:rPr lang="en-US" altLang="zh-CN"/>
              <a:t>TTS</a:t>
            </a:r>
            <a:r>
              <a:rPr lang="zh-CN" altLang="en-US"/>
              <a:t>模型。尽管它的架构很轻，但它提供了与大型模型相当的质量，同时速度更快，成本效益更高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171575" y="2459990"/>
            <a:ext cx="96361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安装：</a:t>
            </a:r>
            <a:endParaRPr lang="zh-CN" altLang="en-US"/>
          </a:p>
          <a:p>
            <a:pPr marL="1828800" lvl="4" indent="457200"/>
            <a:r>
              <a:rPr lang="en-US" altLang="zh-CN" b="1"/>
              <a:t>pip install -q kokoro&gt;=0.9.4 soundfile</a:t>
            </a:r>
            <a:endParaRPr lang="en-US" altLang="zh-CN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开源项目介绍</a:t>
            </a:r>
            <a:r>
              <a:rPr lang="en-US" altLang="zh-CN" sz="2400" b="1" dirty="0"/>
              <a:t>-kokoro</a:t>
            </a:r>
            <a:r>
              <a:rPr lang="zh-CN" altLang="en-US" sz="2400" b="1" dirty="0"/>
              <a:t>音色</a:t>
            </a:r>
            <a:r>
              <a:rPr lang="zh-CN" altLang="en-US" sz="2400" b="1" dirty="0"/>
              <a:t>选择</a:t>
            </a:r>
            <a:endParaRPr lang="zh-CN" altLang="en-US" sz="24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985520" y="1012190"/>
            <a:ext cx="6407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https://huggingface.co/hexgrad/Kokoro-82M</a:t>
            </a:r>
            <a:endParaRPr lang="en-US" altLang="zh-CN" b="1"/>
          </a:p>
        </p:txBody>
      </p:sp>
      <p:sp>
        <p:nvSpPr>
          <p:cNvPr id="6" name="文本框 5"/>
          <p:cNvSpPr txBox="1"/>
          <p:nvPr/>
        </p:nvSpPr>
        <p:spPr>
          <a:xfrm>
            <a:off x="985520" y="1497965"/>
            <a:ext cx="9969500" cy="5708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/>
            <a:r>
              <a:rPr lang="zh-CN" altLang="en-US"/>
              <a:t>点击</a:t>
            </a:r>
            <a:r>
              <a:rPr lang="en-US" altLang="zh-CN"/>
              <a:t>github</a:t>
            </a:r>
            <a:r>
              <a:rPr lang="zh-CN" altLang="en-US"/>
              <a:t>仓库</a:t>
            </a:r>
            <a:r>
              <a:rPr lang="en-US" altLang="zh-CN"/>
              <a:t>readme</a:t>
            </a:r>
            <a:r>
              <a:rPr lang="zh-CN" altLang="en-US"/>
              <a:t>中的</a:t>
            </a:r>
            <a:r>
              <a:rPr lang="en-US" altLang="zh-CN"/>
              <a:t>Kokoro-82M</a:t>
            </a:r>
            <a:r>
              <a:rPr lang="zh-CN" altLang="en-US"/>
              <a:t>，可以跳转到</a:t>
            </a:r>
            <a:r>
              <a:rPr lang="en-US" altLang="zh-CN"/>
              <a:t>huggingface</a:t>
            </a:r>
            <a:r>
              <a:rPr lang="zh-CN" altLang="en-US"/>
              <a:t>模型</a:t>
            </a:r>
            <a:r>
              <a:rPr lang="zh-CN" altLang="en-US"/>
              <a:t>页面。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00045" y="2306955"/>
            <a:ext cx="6392545" cy="40798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开源项目介绍</a:t>
            </a:r>
            <a:r>
              <a:rPr lang="en-US" altLang="zh-CN" sz="2400" b="1" dirty="0"/>
              <a:t>-kokoro</a:t>
            </a:r>
            <a:r>
              <a:rPr lang="zh-CN" altLang="en-US" sz="2400" b="1" dirty="0"/>
              <a:t>音色</a:t>
            </a:r>
            <a:r>
              <a:rPr lang="zh-CN" altLang="en-US" sz="2400" b="1" dirty="0"/>
              <a:t>选择</a:t>
            </a:r>
            <a:endParaRPr lang="zh-CN" altLang="en-US" sz="2400" b="1" dirty="0"/>
          </a:p>
        </p:txBody>
      </p:sp>
      <p:sp>
        <p:nvSpPr>
          <p:cNvPr id="6" name="文本框 5"/>
          <p:cNvSpPr txBox="1"/>
          <p:nvPr/>
        </p:nvSpPr>
        <p:spPr>
          <a:xfrm>
            <a:off x="633095" y="1088390"/>
            <a:ext cx="9969500" cy="4762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/>
            <a:r>
              <a:rPr lang="zh-CN" altLang="en-US"/>
              <a:t>下拉找到</a:t>
            </a:r>
            <a:r>
              <a:rPr lang="en-US" altLang="zh-CN"/>
              <a:t>VOICES.md</a:t>
            </a:r>
            <a:r>
              <a:rPr lang="zh-CN" altLang="en-US"/>
              <a:t>文件，点击打开。可以看到可供选择的</a:t>
            </a:r>
            <a:r>
              <a:rPr lang="en-US" altLang="zh-CN"/>
              <a:t>voices</a:t>
            </a:r>
            <a:r>
              <a:rPr lang="zh-CN" altLang="en-US"/>
              <a:t>，</a:t>
            </a:r>
            <a:r>
              <a:rPr lang="en-US" altLang="zh-CN"/>
              <a:t>F</a:t>
            </a:r>
            <a:r>
              <a:rPr lang="zh-CN" altLang="en-US"/>
              <a:t>代表女声，</a:t>
            </a:r>
            <a:r>
              <a:rPr lang="en-US" altLang="zh-CN"/>
              <a:t>M</a:t>
            </a:r>
            <a:r>
              <a:rPr lang="zh-CN" altLang="en-US"/>
              <a:t>代表</a:t>
            </a:r>
            <a:r>
              <a:rPr lang="zh-CN" altLang="en-US"/>
              <a:t>男声。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795" y="1992630"/>
            <a:ext cx="3199765" cy="324993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7785" y="1992630"/>
            <a:ext cx="3500120" cy="325945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7130" y="1992630"/>
            <a:ext cx="4248150" cy="36728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开源项目介绍</a:t>
            </a:r>
            <a:r>
              <a:rPr lang="en-US" altLang="zh-CN" sz="2400" b="1" dirty="0"/>
              <a:t>-kokoro</a:t>
            </a:r>
            <a:r>
              <a:rPr lang="zh-CN" altLang="en-US" sz="2400" b="1" dirty="0"/>
              <a:t>示例</a:t>
            </a:r>
            <a:endParaRPr lang="zh-CN" altLang="en-US" sz="2400" b="1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8790" y="1864995"/>
            <a:ext cx="8477250" cy="32410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开源项目介绍</a:t>
            </a:r>
            <a:r>
              <a:rPr lang="en-US" altLang="zh-CN" sz="2400" b="1" dirty="0"/>
              <a:t>-kokoro</a:t>
            </a:r>
            <a:r>
              <a:rPr lang="zh-CN" altLang="en-US" sz="2400" b="1" dirty="0"/>
              <a:t>示例</a:t>
            </a:r>
            <a:endParaRPr lang="zh-CN" altLang="en-US" sz="2400" b="1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8790" y="2036445"/>
            <a:ext cx="8477250" cy="32410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开源项目介绍</a:t>
            </a:r>
            <a:r>
              <a:rPr lang="en-US" altLang="zh-CN" sz="2400" b="1" dirty="0"/>
              <a:t>-</a:t>
            </a:r>
            <a:r>
              <a:rPr lang="en-US" sz="2400" b="1" dirty="0"/>
              <a:t>funasr</a:t>
            </a:r>
            <a:endParaRPr lang="en-US" sz="24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1209675" y="1069340"/>
            <a:ext cx="8255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https://github.com/modelscope/FunASR?tab=readme-ov-file</a:t>
            </a:r>
            <a:endParaRPr lang="en-US" altLang="zh-CN" b="1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6995" y="2802255"/>
            <a:ext cx="6475730" cy="361124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143000" y="1437640"/>
            <a:ext cx="975042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/>
            <a:r>
              <a:rPr lang="en-US" altLang="zh-CN"/>
              <a:t>FunASR</a:t>
            </a:r>
            <a:r>
              <a:rPr lang="zh-CN" altLang="en-US"/>
              <a:t>是一个基础语音识别工具包，提供多种功能，包括语音识别（</a:t>
            </a:r>
            <a:r>
              <a:rPr lang="en-US" altLang="zh-CN"/>
              <a:t>ASR</a:t>
            </a:r>
            <a:r>
              <a:rPr lang="zh-CN" altLang="en-US"/>
              <a:t>）、语音端点检测（</a:t>
            </a:r>
            <a:r>
              <a:rPr lang="en-US" altLang="zh-CN"/>
              <a:t>VAD</a:t>
            </a:r>
            <a:r>
              <a:rPr lang="zh-CN" altLang="en-US"/>
              <a:t>）、标点恢复、语言模型、说话人验证、说话人分离和多人对话语音识别等。</a:t>
            </a:r>
            <a:r>
              <a:rPr lang="en-US" altLang="zh-CN"/>
              <a:t>FunASR</a:t>
            </a:r>
            <a:r>
              <a:rPr lang="zh-CN" altLang="en-US"/>
              <a:t>提供了便捷的脚本和教程，支持预训练好的模型的推理与微调。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开源项目介绍</a:t>
            </a:r>
            <a:r>
              <a:rPr lang="en-US" altLang="zh-CN" sz="2400" b="1" dirty="0"/>
              <a:t>-</a:t>
            </a:r>
            <a:r>
              <a:rPr lang="en-US" sz="2400" b="1" dirty="0"/>
              <a:t>funasr</a:t>
            </a:r>
            <a:r>
              <a:rPr lang="zh-CN" altLang="en-US" sz="2400" b="1" dirty="0"/>
              <a:t>安装</a:t>
            </a:r>
            <a:endParaRPr lang="zh-CN" altLang="en-US" sz="2400" b="1" dirty="0"/>
          </a:p>
        </p:txBody>
      </p:sp>
      <p:sp>
        <p:nvSpPr>
          <p:cNvPr id="6" name="文本框 5"/>
          <p:cNvSpPr txBox="1"/>
          <p:nvPr/>
        </p:nvSpPr>
        <p:spPr>
          <a:xfrm>
            <a:off x="985520" y="1256665"/>
            <a:ext cx="975042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/>
            <a:r>
              <a:rPr lang="zh-CN" altLang="en-US"/>
              <a:t>环境</a:t>
            </a:r>
            <a:r>
              <a:rPr lang="zh-CN" altLang="en-US"/>
              <a:t>依赖：</a:t>
            </a:r>
            <a:endParaRPr lang="zh-CN" altLang="en-US"/>
          </a:p>
          <a:p>
            <a:pPr marL="457200" lvl="1" indent="457200"/>
            <a:r>
              <a:rPr lang="en-US" altLang="zh-CN"/>
              <a:t>python&gt;=3.8</a:t>
            </a:r>
            <a:endParaRPr lang="en-US" altLang="zh-CN"/>
          </a:p>
          <a:p>
            <a:pPr marL="457200" lvl="1" indent="457200"/>
            <a:r>
              <a:rPr lang="en-US" altLang="zh-CN"/>
              <a:t>torch&gt;=1.13</a:t>
            </a:r>
            <a:endParaRPr lang="en-US" altLang="zh-CN"/>
          </a:p>
          <a:p>
            <a:pPr marL="457200" lvl="1" indent="457200"/>
            <a:r>
              <a:rPr lang="en-US" altLang="zh-CN"/>
              <a:t>torchaudio</a:t>
            </a:r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1476375" y="285051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安装：</a:t>
            </a:r>
            <a:endParaRPr lang="zh-CN" altLang="en-US"/>
          </a:p>
          <a:p>
            <a:pPr indent="457200"/>
            <a:r>
              <a:rPr lang="en-US" altLang="zh-CN" b="1"/>
              <a:t>pip3 install -U funasr</a:t>
            </a:r>
            <a:endParaRPr lang="en-US" altLang="zh-CN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开源项目介绍</a:t>
            </a:r>
            <a:r>
              <a:rPr lang="en-US" altLang="zh-CN" sz="2400" b="1" dirty="0"/>
              <a:t>-</a:t>
            </a:r>
            <a:r>
              <a:rPr lang="en-US" sz="2400" b="1" dirty="0"/>
              <a:t>funasr</a:t>
            </a:r>
            <a:r>
              <a:rPr lang="zh-CN" altLang="en-US" sz="2400" b="1" dirty="0"/>
              <a:t>示例</a:t>
            </a:r>
            <a:endParaRPr lang="zh-CN" altLang="en-US" sz="2400" b="1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6825" y="1080135"/>
            <a:ext cx="9197340" cy="41452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开源项目介绍</a:t>
            </a:r>
            <a:r>
              <a:rPr lang="en-US" altLang="zh-CN" sz="2400" b="1" dirty="0"/>
              <a:t>-</a:t>
            </a:r>
            <a:r>
              <a:rPr lang="en-US" sz="2400" b="1" dirty="0"/>
              <a:t>funasr</a:t>
            </a:r>
            <a:r>
              <a:rPr lang="zh-CN" altLang="en-US" sz="2400" b="1" dirty="0"/>
              <a:t>示例</a:t>
            </a:r>
            <a:endParaRPr lang="zh-CN" altLang="en-US" sz="24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1133475" y="1336675"/>
            <a:ext cx="974915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/>
            <a:r>
              <a:rPr lang="en-US" altLang="zh-CN"/>
              <a:t>chunk_size</a:t>
            </a:r>
            <a:r>
              <a:rPr lang="zh-CN" altLang="en-US"/>
              <a:t>为流式延时配置，</a:t>
            </a:r>
            <a:r>
              <a:rPr lang="en-US" altLang="zh-CN"/>
              <a:t>[0,10,5]</a:t>
            </a:r>
            <a:r>
              <a:rPr lang="zh-CN" altLang="en-US"/>
              <a:t>表示上屏实时出字粒度为</a:t>
            </a:r>
            <a:r>
              <a:rPr lang="en-US" altLang="zh-CN"/>
              <a:t>10*60=600ms</a:t>
            </a:r>
            <a:r>
              <a:rPr lang="zh-CN" altLang="en-US"/>
              <a:t>，未来信息为</a:t>
            </a:r>
            <a:r>
              <a:rPr lang="en-US" altLang="zh-CN"/>
              <a:t>5*60=300ms</a:t>
            </a:r>
            <a:r>
              <a:rPr lang="zh-CN" altLang="en-US"/>
              <a:t>。每次推理输入为</a:t>
            </a:r>
            <a:r>
              <a:rPr lang="en-US" altLang="zh-CN"/>
              <a:t>600ms</a:t>
            </a:r>
            <a:r>
              <a:rPr lang="zh-CN" altLang="en-US"/>
              <a:t>（采样点数为</a:t>
            </a:r>
            <a:r>
              <a:rPr lang="en-US" altLang="zh-CN"/>
              <a:t>16000*0.6=960</a:t>
            </a:r>
            <a:r>
              <a:rPr lang="zh-CN" altLang="en-US"/>
              <a:t>），输出为对应文字，最后一个语音片段输入需要设置</a:t>
            </a:r>
            <a:r>
              <a:rPr lang="en-US" altLang="zh-CN"/>
              <a:t>is_final=True</a:t>
            </a:r>
            <a:r>
              <a:rPr lang="zh-CN" altLang="en-US"/>
              <a:t>来强制输出最后一个字。</a:t>
            </a:r>
            <a:endParaRPr lang="zh-CN" altLang="en-US"/>
          </a:p>
        </p:txBody>
      </p:sp>
      <p:pic>
        <p:nvPicPr>
          <p:cNvPr id="5" name="图片 4" descr="Screenshot_20251104_1008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5065" y="2840355"/>
            <a:ext cx="6789420" cy="21869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开源项目介绍</a:t>
            </a:r>
            <a:r>
              <a:rPr lang="en-US" altLang="zh-CN" sz="2400" b="1" dirty="0"/>
              <a:t>-</a:t>
            </a:r>
            <a:r>
              <a:rPr lang="en-US" sz="2400" b="1" dirty="0"/>
              <a:t>Index-tts</a:t>
            </a:r>
            <a:endParaRPr lang="en-US" sz="24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893445" y="1422400"/>
            <a:ext cx="104336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/>
            <a:r>
              <a:rPr lang="en-US" altLang="zh-CN"/>
              <a:t>Index-tts</a:t>
            </a:r>
            <a:r>
              <a:rPr lang="zh-CN" altLang="en-US"/>
              <a:t>是</a:t>
            </a:r>
            <a:r>
              <a:rPr lang="en-US" altLang="zh-CN"/>
              <a:t>B</a:t>
            </a:r>
            <a:r>
              <a:rPr lang="zh-CN" altLang="en-US"/>
              <a:t>站开源的</a:t>
            </a:r>
            <a:r>
              <a:rPr lang="en-US" altLang="zh-CN"/>
              <a:t>TTS</a:t>
            </a:r>
            <a:r>
              <a:rPr lang="zh-CN" altLang="en-US"/>
              <a:t>（</a:t>
            </a:r>
            <a:r>
              <a:rPr lang="en-US" altLang="zh-CN"/>
              <a:t>Text To Speech</a:t>
            </a:r>
            <a:r>
              <a:rPr lang="zh-CN" altLang="en-US"/>
              <a:t>）项目。能够使用非常简短的语音音频进行音色克隆。截止</a:t>
            </a:r>
            <a:r>
              <a:rPr lang="en-US" altLang="zh-CN"/>
              <a:t>2025.10.29</a:t>
            </a:r>
            <a:r>
              <a:rPr lang="zh-CN" altLang="en-US"/>
              <a:t>，</a:t>
            </a:r>
            <a:r>
              <a:rPr lang="en-US" altLang="zh-CN"/>
              <a:t>index-tts</a:t>
            </a:r>
            <a:r>
              <a:rPr lang="zh-CN" altLang="en-US"/>
              <a:t>已有两个版本：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133475" y="9683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ym typeface="+mn-ea"/>
              </a:rPr>
              <a:t>https://github.com/index-tts/index-tts</a:t>
            </a:r>
            <a:endParaRPr lang="zh-CN" altLang="en-US" b="1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7435" y="2296795"/>
            <a:ext cx="10259695" cy="138811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2375" y="3914140"/>
            <a:ext cx="4346575" cy="26562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开源项目介绍</a:t>
            </a:r>
            <a:r>
              <a:rPr lang="en-US" altLang="zh-CN" sz="2400" b="1" dirty="0"/>
              <a:t>-index-tts</a:t>
            </a:r>
            <a:r>
              <a:rPr lang="zh-CN" altLang="en-US" sz="2400" b="1" dirty="0"/>
              <a:t>下载</a:t>
            </a:r>
            <a:endParaRPr lang="zh-CN" altLang="en-US" sz="24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893445" y="1054100"/>
            <a:ext cx="104336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/>
            <a:r>
              <a:rPr lang="zh-CN" altLang="en-US"/>
              <a:t>打开</a:t>
            </a:r>
            <a:r>
              <a:rPr lang="en-US" altLang="zh-CN"/>
              <a:t>github</a:t>
            </a:r>
            <a:r>
              <a:rPr lang="zh-CN" altLang="en-US"/>
              <a:t>仓库，选择</a:t>
            </a:r>
            <a:r>
              <a:rPr lang="en-US" altLang="zh-CN"/>
              <a:t>v1.5.0</a:t>
            </a:r>
            <a:r>
              <a:rPr lang="zh-CN" altLang="en-US"/>
              <a:t>版本，点击下载源码。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520" y="1858645"/>
            <a:ext cx="4772660" cy="376936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1265" y="1858645"/>
            <a:ext cx="4358640" cy="38696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开源项目介绍</a:t>
            </a:r>
            <a:r>
              <a:rPr lang="en-US" altLang="zh-CN" sz="2400" b="1" dirty="0"/>
              <a:t>-index-tts-</a:t>
            </a:r>
            <a:r>
              <a:rPr lang="zh-CN" altLang="en-US" sz="2400" b="1" dirty="0"/>
              <a:t>创建虚拟</a:t>
            </a:r>
            <a:r>
              <a:rPr lang="zh-CN" altLang="en-US" sz="2400" b="1" dirty="0"/>
              <a:t>环境</a:t>
            </a:r>
            <a:endParaRPr lang="zh-CN" altLang="en-US" sz="24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893445" y="1311275"/>
            <a:ext cx="10433685" cy="6927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/>
            <a:r>
              <a:rPr lang="zh-CN" altLang="en-US"/>
              <a:t>创建一个名为</a:t>
            </a:r>
            <a:r>
              <a:rPr lang="en-US" altLang="zh-CN"/>
              <a:t>it15</a:t>
            </a:r>
            <a:r>
              <a:rPr lang="zh-CN" altLang="en-US"/>
              <a:t>，安装</a:t>
            </a:r>
            <a:r>
              <a:rPr lang="en-US" altLang="zh-CN"/>
              <a:t>ffpege</a:t>
            </a:r>
            <a:r>
              <a:rPr lang="zh-CN" altLang="en-US"/>
              <a:t>，</a:t>
            </a:r>
            <a:r>
              <a:rPr lang="en-US" altLang="zh-CN"/>
              <a:t>python</a:t>
            </a:r>
            <a:r>
              <a:rPr lang="zh-CN" altLang="en-US"/>
              <a:t>版本为</a:t>
            </a:r>
            <a:r>
              <a:rPr lang="en-US" altLang="zh-CN"/>
              <a:t>3.10</a:t>
            </a:r>
            <a:r>
              <a:rPr lang="zh-CN" altLang="en-US"/>
              <a:t>：</a:t>
            </a:r>
            <a:endParaRPr lang="zh-CN" altLang="en-US"/>
          </a:p>
          <a:p>
            <a:pPr marL="914400" lvl="2" indent="457200"/>
            <a:r>
              <a:rPr lang="en-US" altLang="zh-CN" b="1"/>
              <a:t>conda create -n it15 -c conda-forge python=3.10 ffmpeg --no-channel-priority</a:t>
            </a:r>
            <a:endParaRPr lang="en-US" altLang="zh-CN" b="1"/>
          </a:p>
        </p:txBody>
      </p:sp>
      <p:sp>
        <p:nvSpPr>
          <p:cNvPr id="4" name="文本框 3"/>
          <p:cNvSpPr txBox="1"/>
          <p:nvPr/>
        </p:nvSpPr>
        <p:spPr>
          <a:xfrm>
            <a:off x="1371600" y="2212340"/>
            <a:ext cx="92360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安装</a:t>
            </a:r>
            <a:r>
              <a:rPr lang="en-US" altLang="zh-CN"/>
              <a:t>pytorch</a:t>
            </a:r>
            <a:r>
              <a:rPr lang="zh-CN" altLang="en-US"/>
              <a:t>：</a:t>
            </a:r>
            <a:endParaRPr lang="zh-CN" altLang="en-US"/>
          </a:p>
          <a:p>
            <a:pPr marL="457200" lvl="1" indent="457200"/>
            <a:r>
              <a:rPr lang="en-US" altLang="zh-CN" b="1"/>
              <a:t>pip install torch torchaudio --index-url https://download.pytorch.org/whl/cu118</a:t>
            </a:r>
            <a:endParaRPr lang="en-US" altLang="zh-CN" b="1"/>
          </a:p>
        </p:txBody>
      </p:sp>
      <p:sp>
        <p:nvSpPr>
          <p:cNvPr id="6" name="文本框 5"/>
          <p:cNvSpPr txBox="1"/>
          <p:nvPr/>
        </p:nvSpPr>
        <p:spPr>
          <a:xfrm>
            <a:off x="1371600" y="3145790"/>
            <a:ext cx="86741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windows</a:t>
            </a:r>
            <a:r>
              <a:rPr lang="zh-CN" altLang="en-US"/>
              <a:t>系统，需要额外安装：</a:t>
            </a:r>
            <a:endParaRPr lang="zh-CN" altLang="en-US"/>
          </a:p>
          <a:p>
            <a:pPr marL="457200" lvl="1" indent="457200"/>
            <a:r>
              <a:rPr lang="en-US" altLang="zh-CN" b="1"/>
              <a:t>conda install -c conda-forge pynini==2.1.6</a:t>
            </a:r>
            <a:endParaRPr lang="en-US" altLang="zh-CN" b="1"/>
          </a:p>
          <a:p>
            <a:pPr marL="457200" lvl="1" indent="457200"/>
            <a:r>
              <a:rPr lang="en-US" altLang="zh-CN" b="1"/>
              <a:t>pip install WeTextProcessing --no-deps</a:t>
            </a:r>
            <a:endParaRPr lang="en-US" altLang="zh-CN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开源项目介绍</a:t>
            </a:r>
            <a:r>
              <a:rPr lang="en-US" altLang="zh-CN" sz="2400" b="1" dirty="0"/>
              <a:t>-index-tts-</a:t>
            </a:r>
            <a:r>
              <a:rPr lang="zh-CN" altLang="en-US" sz="2400" b="1" dirty="0"/>
              <a:t>安装</a:t>
            </a:r>
            <a:endParaRPr lang="zh-CN" altLang="en-US" sz="24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893445" y="1168400"/>
            <a:ext cx="10433685" cy="6927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/>
            <a:r>
              <a:rPr lang="zh-CN" altLang="en-US"/>
              <a:t>打开终端，激活</a:t>
            </a:r>
            <a:r>
              <a:rPr lang="zh-CN" altLang="en-US"/>
              <a:t>环境，进入到项目目录，运行：</a:t>
            </a:r>
            <a:endParaRPr lang="zh-CN" altLang="en-US"/>
          </a:p>
          <a:p>
            <a:pPr marL="3657600" lvl="8" indent="457200"/>
            <a:r>
              <a:rPr lang="en-US" altLang="zh-CN" b="1"/>
              <a:t>pip install -e .</a:t>
            </a:r>
            <a:endParaRPr lang="en-US" altLang="zh-CN" b="1"/>
          </a:p>
        </p:txBody>
      </p:sp>
      <p:sp>
        <p:nvSpPr>
          <p:cNvPr id="5" name="文本框 4"/>
          <p:cNvSpPr txBox="1"/>
          <p:nvPr/>
        </p:nvSpPr>
        <p:spPr>
          <a:xfrm>
            <a:off x="1400175" y="2288540"/>
            <a:ext cx="999744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下载</a:t>
            </a:r>
            <a:r>
              <a:rPr lang="zh-CN" altLang="en-US"/>
              <a:t>模型：</a:t>
            </a:r>
            <a:endParaRPr lang="zh-CN" altLang="en-US"/>
          </a:p>
          <a:p>
            <a:pPr indent="457200"/>
            <a:r>
              <a:rPr lang="en-US" altLang="zh-CN" b="1"/>
              <a:t>huggingface-cli download IndexTeam/IndexTTS-1.5 config.yaml bigvgan_discriminator.pth bigvgan_generator.pth bpe.model dvae.pth gpt.pth unigram_12000.vocab --local-dir checkpoints</a:t>
            </a:r>
            <a:endParaRPr lang="en-US" altLang="zh-CN" b="1"/>
          </a:p>
        </p:txBody>
      </p:sp>
      <p:sp>
        <p:nvSpPr>
          <p:cNvPr id="7" name="文本框 6"/>
          <p:cNvSpPr txBox="1"/>
          <p:nvPr/>
        </p:nvSpPr>
        <p:spPr>
          <a:xfrm>
            <a:off x="1476375" y="3602990"/>
            <a:ext cx="922655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如果下载慢，可以使用镜像：</a:t>
            </a:r>
            <a:endParaRPr lang="zh-CN" altLang="en-US"/>
          </a:p>
          <a:p>
            <a:pPr indent="457200"/>
            <a:r>
              <a:rPr lang="en-US" altLang="zh-CN"/>
              <a:t>export HF_ENDPOINT="https://hf-mirror.com"     </a:t>
            </a:r>
            <a:endParaRPr lang="en-US" altLang="zh-CN"/>
          </a:p>
          <a:p>
            <a:pPr indent="457200"/>
            <a:r>
              <a:rPr lang="en-US" altLang="zh-CN" b="1"/>
              <a:t>set HF_ENDPOINT=https://hf-mirror.com</a:t>
            </a:r>
            <a:r>
              <a:rPr lang="en-US" altLang="zh-CN"/>
              <a:t>     ( --windows )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开源项目介绍</a:t>
            </a:r>
            <a:r>
              <a:rPr lang="en-US" altLang="zh-CN" sz="2400" b="1" dirty="0"/>
              <a:t>-index-tts-</a:t>
            </a:r>
            <a:r>
              <a:rPr lang="zh-CN" altLang="en-US" sz="2400" b="1" dirty="0"/>
              <a:t>示例</a:t>
            </a:r>
            <a:endParaRPr lang="zh-CN" altLang="en-US" sz="2400" b="1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6370" y="1874520"/>
            <a:ext cx="9319260" cy="13735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练习</a:t>
            </a:r>
            <a:endParaRPr lang="zh-CN" altLang="en-US" sz="2400" b="1" dirty="0"/>
          </a:p>
        </p:txBody>
      </p:sp>
      <p:sp>
        <p:nvSpPr>
          <p:cNvPr id="6" name="文本框 5"/>
          <p:cNvSpPr txBox="1"/>
          <p:nvPr/>
        </p:nvSpPr>
        <p:spPr>
          <a:xfrm>
            <a:off x="1199515" y="1060450"/>
            <a:ext cx="9382760" cy="1872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30000"/>
              </a:lnSpc>
            </a:pPr>
            <a:r>
              <a:rPr lang="en-US" altLang="zh-CN" sz="2400"/>
              <a:t>1. </a:t>
            </a:r>
            <a:r>
              <a:rPr lang="zh-CN" altLang="en-US" sz="2400"/>
              <a:t>运行本节课程代码（</a:t>
            </a:r>
            <a:r>
              <a:rPr lang="en-US" altLang="zh-CN" sz="2400"/>
              <a:t>funasr</a:t>
            </a:r>
            <a:r>
              <a:rPr lang="zh-CN" altLang="en-US" sz="2400"/>
              <a:t>和</a:t>
            </a:r>
            <a:r>
              <a:rPr lang="en-US" altLang="zh-CN" sz="2400"/>
              <a:t>kokoro</a:t>
            </a:r>
            <a:r>
              <a:rPr lang="zh-CN" altLang="en-US" sz="2400"/>
              <a:t>）。</a:t>
            </a:r>
            <a:endParaRPr lang="zh-CN" altLang="en-US" sz="2400"/>
          </a:p>
          <a:p>
            <a:pPr>
              <a:lnSpc>
                <a:spcPct val="130000"/>
              </a:lnSpc>
            </a:pPr>
            <a:r>
              <a:rPr lang="en-US" altLang="zh-CN" sz="2400"/>
              <a:t>2. </a:t>
            </a:r>
            <a:r>
              <a:rPr lang="zh-CN" altLang="en-US" sz="2400"/>
              <a:t>提出三个任何与本节内容相关的问题，并自行回答。</a:t>
            </a:r>
            <a:endParaRPr lang="zh-CN" altLang="en-US" sz="2400"/>
          </a:p>
          <a:p>
            <a:pPr>
              <a:lnSpc>
                <a:spcPct val="130000"/>
              </a:lnSpc>
            </a:pPr>
            <a:r>
              <a:rPr lang="en-US" altLang="zh-CN" sz="2400"/>
              <a:t>3.</a:t>
            </a:r>
            <a:r>
              <a:rPr lang="zh-CN" altLang="en-US" sz="2400"/>
              <a:t>将代码和问题回答推送到</a:t>
            </a:r>
            <a:r>
              <a:rPr lang="en-US" altLang="zh-CN" sz="2400"/>
              <a:t>github</a:t>
            </a:r>
            <a:r>
              <a:rPr lang="zh-CN" altLang="en-US" sz="2400"/>
              <a:t>。</a:t>
            </a:r>
            <a:endParaRPr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041964" y="2338038"/>
            <a:ext cx="1457608" cy="1322070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CN" sz="8000" dirty="0">
                <a:solidFill>
                  <a:srgbClr val="E89E00"/>
                </a:solidFill>
                <a:ea typeface="Arial Unicode MS" panose="020B0604020202020204" pitchFamily="34" charset="-122"/>
                <a:cs typeface="Arial Unicode MS" panose="020B0604020202020204" pitchFamily="34" charset="-122"/>
              </a:rPr>
              <a:t>4</a:t>
            </a:r>
            <a:endParaRPr lang="en-US" altLang="zh-CN" sz="8000" dirty="0">
              <a:solidFill>
                <a:srgbClr val="E89E00"/>
              </a:solidFill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186014" y="3076017"/>
            <a:ext cx="4887877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600" b="1" dirty="0" smtClean="0">
                <a:solidFill>
                  <a:prstClr val="black"/>
                </a:solidFill>
                <a:latin typeface="宋体" panose="02010600030101010101" pitchFamily="2" charset="-122"/>
              </a:rPr>
              <a:t>第</a:t>
            </a:r>
            <a:r>
              <a:rPr lang="en-US" altLang="zh-CN" sz="3600" b="1" dirty="0" smtClean="0">
                <a:solidFill>
                  <a:prstClr val="black"/>
                </a:solidFill>
                <a:latin typeface="宋体" panose="02010600030101010101" pitchFamily="2" charset="-122"/>
              </a:rPr>
              <a:t>4</a:t>
            </a:r>
            <a:r>
              <a:rPr lang="zh-CN" altLang="en-US" sz="3600" b="1" dirty="0" smtClean="0">
                <a:solidFill>
                  <a:prstClr val="black"/>
                </a:solidFill>
                <a:latin typeface="宋体" panose="02010600030101010101" pitchFamily="2" charset="-122"/>
              </a:rPr>
              <a:t>课</a:t>
            </a:r>
            <a:r>
              <a:rPr lang="en-US" altLang="zh-CN" sz="3600" b="1" dirty="0" smtClean="0">
                <a:solidFill>
                  <a:prstClr val="black"/>
                </a:solidFill>
                <a:latin typeface="宋体" panose="02010600030101010101" pitchFamily="2" charset="-122"/>
              </a:rPr>
              <a:t>	</a:t>
            </a:r>
            <a:r>
              <a:rPr lang="zh-CN" altLang="en-US" sz="3600" b="1" dirty="0" smtClean="0">
                <a:solidFill>
                  <a:prstClr val="black"/>
                </a:solidFill>
                <a:latin typeface="宋体" panose="02010600030101010101" pitchFamily="2" charset="-122"/>
              </a:rPr>
              <a:t>完</a:t>
            </a:r>
            <a:endParaRPr lang="en-US" altLang="zh-CN" sz="3600" b="1" dirty="0" smtClean="0">
              <a:solidFill>
                <a:prstClr val="black"/>
              </a:solidFill>
              <a:latin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186012" y="2337353"/>
            <a:ext cx="6761573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 smtClean="0">
                <a:solidFill>
                  <a:srgbClr val="4472C4"/>
                </a:solidFill>
              </a:rPr>
              <a:t>机器人语音识别与</a:t>
            </a:r>
            <a:r>
              <a:rPr lang="zh-CN" altLang="en-US" sz="3200" dirty="0" smtClean="0">
                <a:solidFill>
                  <a:srgbClr val="4472C4"/>
                </a:solidFill>
              </a:rPr>
              <a:t>语音合成</a:t>
            </a:r>
            <a:endParaRPr lang="zh-CN" altLang="en-US" sz="3200" dirty="0" smtClean="0">
              <a:solidFill>
                <a:srgbClr val="4472C4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MH" val="20160830110410"/>
  <p:tag name="MH_LIBRARY" val="CONTENTS"/>
  <p:tag name="MH_TYPE" val="OTHERS"/>
  <p:tag name="ID" val="547132"/>
</p:tagLst>
</file>

<file path=ppt/tags/tag2.xml><?xml version="1.0" encoding="utf-8"?>
<p:tagLst xmlns:p="http://schemas.openxmlformats.org/presentationml/2006/main">
  <p:tag name="MH" val="20160830110410"/>
  <p:tag name="MH_LIBRARY" val="CONTENTS"/>
  <p:tag name="MH_TYPE" val="OTHERS"/>
  <p:tag name="ID" val="547132"/>
</p:tagLst>
</file>

<file path=ppt/tags/tag3.xml><?xml version="1.0" encoding="utf-8"?>
<p:tagLst xmlns:p="http://schemas.openxmlformats.org/presentationml/2006/main">
  <p:tag name="MH" val="20160830110410"/>
  <p:tag name="MH_LIBRARY" val="CONTENTS"/>
  <p:tag name="MH_TYPE" val="OTHERS"/>
  <p:tag name="ID" val="547132"/>
</p:tagLst>
</file>

<file path=ppt/tags/tag4.xml><?xml version="1.0" encoding="utf-8"?>
<p:tagLst xmlns:p="http://schemas.openxmlformats.org/presentationml/2006/main">
  <p:tag name="MH" val="20160830110410"/>
  <p:tag name="MH_LIBRARY" val="CONTENTS"/>
  <p:tag name="MH_TYPE" val="OTHERS"/>
  <p:tag name="ID" val="547132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28575">
          <a:tailEnd type="none"/>
        </a:ln>
      </a:spPr>
      <a:bodyPr/>
      <a:lstStyle/>
      <a:style>
        <a:lnRef idx="3">
          <a:schemeClr val="accent4"/>
        </a:lnRef>
        <a:fillRef idx="0">
          <a:schemeClr val="accent4"/>
        </a:fillRef>
        <a:effectRef idx="2">
          <a:schemeClr val="accent4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38100">
          <a:solidFill>
            <a:srgbClr val="4472C4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0</TotalTime>
  <Words>2577</Words>
  <Application>WPS 演示</Application>
  <PresentationFormat>宽屏</PresentationFormat>
  <Paragraphs>146</Paragraphs>
  <Slides>29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29</vt:i4>
      </vt:variant>
    </vt:vector>
  </HeadingPairs>
  <TitlesOfParts>
    <vt:vector size="41" baseType="lpstr">
      <vt:lpstr>Arial</vt:lpstr>
      <vt:lpstr>宋体</vt:lpstr>
      <vt:lpstr>Wingdings</vt:lpstr>
      <vt:lpstr>华文新魏</vt:lpstr>
      <vt:lpstr>黑体</vt:lpstr>
      <vt:lpstr>微软雅黑</vt:lpstr>
      <vt:lpstr>华文行楷</vt:lpstr>
      <vt:lpstr>Calibri</vt:lpstr>
      <vt:lpstr>Arial Unicode MS</vt:lpstr>
      <vt:lpstr>Arial Unicode MS</vt:lpstr>
      <vt:lpstr>Office 主题</vt:lpstr>
      <vt:lpstr>2_Office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上海仪酷智能科技有限公司</dc:creator>
  <cp:lastModifiedBy>╭⌒better进行时</cp:lastModifiedBy>
  <cp:revision>983</cp:revision>
  <dcterms:created xsi:type="dcterms:W3CDTF">2017-07-25T03:07:00Z</dcterms:created>
  <dcterms:modified xsi:type="dcterms:W3CDTF">2025-11-04T10:43:37Z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8841B4F7B610481D8E35DE8E2DF00779_13</vt:lpwstr>
  </property>
  <property fmtid="{D5CDD505-2E9C-101B-9397-08002B2CF9AE}" pid="3" name="KSOProductBuildVer">
    <vt:lpwstr>2052-12.1.0.23542</vt:lpwstr>
  </property>
</Properties>
</file>