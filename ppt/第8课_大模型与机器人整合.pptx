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6"/>
  </p:notesMasterIdLst>
  <p:handoutMasterIdLst>
    <p:handoutMasterId r:id="rId25"/>
  </p:handoutMasterIdLst>
  <p:sldIdLst>
    <p:sldId id="463" r:id="rId4"/>
    <p:sldId id="364" r:id="rId5"/>
    <p:sldId id="470" r:id="rId7"/>
    <p:sldId id="464" r:id="rId8"/>
    <p:sldId id="471" r:id="rId9"/>
    <p:sldId id="472" r:id="rId10"/>
    <p:sldId id="465" r:id="rId11"/>
    <p:sldId id="473" r:id="rId12"/>
    <p:sldId id="474" r:id="rId13"/>
    <p:sldId id="451" r:id="rId14"/>
    <p:sldId id="475" r:id="rId15"/>
    <p:sldId id="477" r:id="rId16"/>
    <p:sldId id="467" r:id="rId17"/>
    <p:sldId id="478" r:id="rId18"/>
    <p:sldId id="468" r:id="rId19"/>
    <p:sldId id="479" r:id="rId20"/>
    <p:sldId id="469" r:id="rId21"/>
    <p:sldId id="480" r:id="rId22"/>
    <p:sldId id="356" r:id="rId23"/>
    <p:sldId id="32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9" userDrawn="1">
          <p15:clr>
            <a:srgbClr val="A4A3A4"/>
          </p15:clr>
        </p15:guide>
        <p15:guide id="2" orient="horz" pos="22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19"/>
        <p:guide orient="horz" pos="22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.png"/><Relationship Id="rId3" Type="http://schemas.openxmlformats.org/officeDocument/2006/relationships/tags" Target="../tags/tag5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117725" y="2665730"/>
            <a:ext cx="7816850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大模型与机器人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整合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5920" y="86360"/>
            <a:ext cx="298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上海交通大学学生创新</a:t>
            </a:r>
            <a:r>
              <a:rPr lang="zh-CN" altLang="en-US"/>
              <a:t>中心</a:t>
            </a:r>
            <a:endParaRPr lang="zh-CN" altLang="en-US"/>
          </a:p>
          <a:p>
            <a:r>
              <a:rPr lang="zh-CN" altLang="en-US"/>
              <a:t>上海仪酷智能科技</a:t>
            </a:r>
            <a:r>
              <a:rPr lang="zh-CN" altLang="en-US"/>
              <a:t>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启动</a:t>
            </a:r>
            <a:r>
              <a:rPr lang="zh-CN" altLang="en-US" sz="2400" b="1" dirty="0"/>
              <a:t>程序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42670" y="975995"/>
            <a:ext cx="10248900" cy="2372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将触摸传感器和麦克风扬声器与机器人</a:t>
            </a:r>
            <a:r>
              <a:rPr lang="zh-CN" altLang="en-US"/>
              <a:t>连接。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先在电脑上运行</a:t>
            </a:r>
            <a:r>
              <a:rPr lang="en-US" altLang="zh-CN"/>
              <a:t>w08/mcp_client.py</a:t>
            </a:r>
            <a:r>
              <a:rPr lang="zh-CN" altLang="en-US"/>
              <a:t>，这个程序会启动多个服务：</a:t>
            </a:r>
            <a:r>
              <a:rPr lang="en-US" altLang="zh-CN"/>
              <a:t>socketServer</a:t>
            </a:r>
            <a:r>
              <a:rPr lang="zh-CN" altLang="en-US"/>
              <a:t>、</a:t>
            </a:r>
            <a:r>
              <a:rPr lang="en-US" altLang="zh-CN"/>
              <a:t>TTSServer</a:t>
            </a:r>
            <a:r>
              <a:rPr lang="zh-CN" altLang="en-US"/>
              <a:t>、</a:t>
            </a:r>
            <a:r>
              <a:rPr lang="en-US" altLang="zh-CN"/>
              <a:t>ASRServer</a:t>
            </a:r>
            <a:r>
              <a:rPr lang="zh-CN" altLang="en-US"/>
              <a:t>、</a:t>
            </a:r>
            <a:r>
              <a:rPr lang="en-US" altLang="zh-CN"/>
              <a:t>MCPServer</a:t>
            </a:r>
            <a:r>
              <a:rPr lang="zh-CN" altLang="en-US"/>
              <a:t>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然后在机器人上运行</a:t>
            </a:r>
            <a:r>
              <a:rPr lang="en-US" altLang="zh-CN"/>
              <a:t>w08/robot_client.py</a:t>
            </a:r>
            <a:r>
              <a:rPr lang="zh-CN" altLang="en-US"/>
              <a:t>以及</a:t>
            </a:r>
            <a:r>
              <a:rPr lang="en-US" altLang="zh-CN"/>
              <a:t>launch.py</a:t>
            </a:r>
            <a:r>
              <a:rPr lang="zh-CN" altLang="en-US"/>
              <a:t>，这个程序会启动多个客户端连接：</a:t>
            </a:r>
            <a:r>
              <a:rPr lang="en-US" altLang="zh-CN"/>
              <a:t>socketClient</a:t>
            </a:r>
            <a:r>
              <a:rPr lang="zh-CN" altLang="en-US"/>
              <a:t>、</a:t>
            </a:r>
            <a:r>
              <a:rPr lang="en-US" altLang="zh-CN"/>
              <a:t>AudioSendClient</a:t>
            </a:r>
            <a:r>
              <a:rPr lang="zh-CN" altLang="en-US"/>
              <a:t>、</a:t>
            </a:r>
            <a:r>
              <a:rPr lang="en-US" altLang="zh-CN"/>
              <a:t>AudioReceiveClient</a:t>
            </a:r>
            <a:r>
              <a:rPr lang="zh-CN" altLang="en-US"/>
              <a:t>、</a:t>
            </a:r>
            <a:r>
              <a:rPr lang="en-US" altLang="zh-CN"/>
              <a:t>TouchSensor</a:t>
            </a:r>
            <a:r>
              <a:rPr lang="zh-CN" altLang="en-US"/>
              <a:t>、</a:t>
            </a:r>
            <a:r>
              <a:rPr lang="en-US" altLang="zh-CN"/>
              <a:t>ActionController</a:t>
            </a:r>
            <a:r>
              <a:rPr lang="zh-CN" altLang="en-US"/>
              <a:t>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启动后，对麦克风说话，电脑终端会实时输出识别的语音文本，按下触摸传感器，程序会将最近保存的结果输入给</a:t>
            </a:r>
            <a:r>
              <a:rPr lang="zh-CN" altLang="en-US"/>
              <a:t>大模型。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zh-CN" altLang="en-US"/>
          </a:p>
        </p:txBody>
      </p:sp>
      <p:pic>
        <p:nvPicPr>
          <p:cNvPr id="5" name="tonypi_robot_output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57525" y="3596005"/>
            <a:ext cx="5129530" cy="2885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整体架构</a:t>
            </a:r>
            <a:endParaRPr lang="zh-CN" altLang="en-US" sz="2400" b="1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051050" y="1016000"/>
            <a:ext cx="7853680" cy="5169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Socket-asrServer</a:t>
            </a:r>
            <a:endParaRPr lang="en-US" altLang="zh-CN" sz="2400" b="1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82625" y="1967865"/>
            <a:ext cx="5133340" cy="308800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5959475" y="1888490"/>
            <a:ext cx="6009640" cy="3332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ASRServer</a:t>
            </a:r>
            <a:endParaRPr lang="en-US" altLang="zh-CN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36880" y="987425"/>
            <a:ext cx="11292205" cy="411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主服务器线程（</a:t>
            </a:r>
            <a:r>
              <a:rPr lang="en-US" altLang="zh-CN" b="1"/>
              <a:t>_server_worker</a:t>
            </a:r>
            <a:r>
              <a:rPr lang="zh-CN" altLang="en-US" b="1"/>
              <a:t>）</a:t>
            </a:r>
            <a:endParaRPr lang="zh-CN" altLang="en-US" b="1"/>
          </a:p>
          <a:p>
            <a:pPr indent="457200"/>
            <a:r>
              <a:rPr lang="zh-CN" altLang="en-US"/>
              <a:t>负责监听端口（默认</a:t>
            </a:r>
            <a:r>
              <a:rPr lang="en-US" altLang="zh-CN"/>
              <a:t> 50007</a:t>
            </a:r>
            <a:r>
              <a:rPr lang="zh-CN" altLang="en-US"/>
              <a:t>），等待客户端连接。一旦有客户端连上来，就标记</a:t>
            </a:r>
            <a:r>
              <a:rPr lang="en-US" altLang="zh-CN"/>
              <a:t> connected=True</a:t>
            </a:r>
            <a:r>
              <a:rPr lang="zh-CN" altLang="en-US"/>
              <a:t>，然后立刻再启动一个专门的</a:t>
            </a:r>
            <a:r>
              <a:rPr lang="en-US" altLang="zh-CN"/>
              <a:t>“</a:t>
            </a:r>
            <a:r>
              <a:rPr lang="zh-CN" altLang="en-US"/>
              <a:t>接收线程</a:t>
            </a:r>
            <a:r>
              <a:rPr lang="en-US" altLang="zh-CN"/>
              <a:t>”</a:t>
            </a:r>
            <a:r>
              <a:rPr lang="zh-CN" altLang="en-US"/>
              <a:t>。客户端断开后，它会自动清理资源，然后继续监听下一个客户端。</a:t>
            </a:r>
            <a:endParaRPr lang="zh-CN" altLang="en-US"/>
          </a:p>
          <a:p>
            <a:pPr indent="457200"/>
            <a:endParaRPr lang="zh-CN" altLang="en-US"/>
          </a:p>
          <a:p>
            <a:pPr indent="0"/>
            <a:r>
              <a:rPr lang="zh-CN" altLang="en-US" b="1"/>
              <a:t>音频接收线程（</a:t>
            </a:r>
            <a:r>
              <a:rPr lang="en-US" altLang="zh-CN" b="1"/>
              <a:t>_receive_worker</a:t>
            </a:r>
            <a:r>
              <a:rPr lang="zh-CN" altLang="en-US" b="1"/>
              <a:t>）</a:t>
            </a:r>
            <a:endParaRPr lang="zh-CN" altLang="en-US"/>
          </a:p>
          <a:p>
            <a:pPr indent="457200"/>
            <a:r>
              <a:rPr lang="zh-CN" altLang="en-US"/>
              <a:t>它以固定</a:t>
            </a:r>
            <a:r>
              <a:rPr lang="en-US" altLang="zh-CN"/>
              <a:t> 9600 </a:t>
            </a:r>
            <a:r>
              <a:rPr lang="zh-CN" altLang="en-US"/>
              <a:t>帧（约</a:t>
            </a:r>
            <a:r>
              <a:rPr lang="en-US" altLang="zh-CN"/>
              <a:t> 0.6 </a:t>
            </a:r>
            <a:r>
              <a:rPr lang="zh-CN" altLang="en-US"/>
              <a:t>秒音频，</a:t>
            </a:r>
            <a:r>
              <a:rPr lang="en-US" altLang="zh-CN"/>
              <a:t>19200 </a:t>
            </a:r>
            <a:r>
              <a:rPr lang="zh-CN" altLang="en-US"/>
              <a:t>字节）为单位，不断从</a:t>
            </a:r>
            <a:r>
              <a:rPr lang="en-US" altLang="zh-CN"/>
              <a:t> socket </a:t>
            </a:r>
            <a:r>
              <a:rPr lang="zh-CN" altLang="en-US"/>
              <a:t>里精确读取数据（用了</a:t>
            </a:r>
            <a:r>
              <a:rPr lang="en-US" altLang="zh-CN"/>
              <a:t> _recv_exact </a:t>
            </a:r>
            <a:r>
              <a:rPr lang="zh-CN" altLang="en-US"/>
              <a:t>防止粘包</a:t>
            </a:r>
            <a:r>
              <a:rPr lang="en-US" altLang="zh-CN"/>
              <a:t>/</a:t>
            </a:r>
            <a:r>
              <a:rPr lang="zh-CN" altLang="en-US"/>
              <a:t>半包），转成</a:t>
            </a:r>
            <a:r>
              <a:rPr lang="en-US" altLang="zh-CN"/>
              <a:t> numpy int16 </a:t>
            </a:r>
            <a:r>
              <a:rPr lang="zh-CN" altLang="en-US"/>
              <a:t>数组后直接丢进一个</a:t>
            </a:r>
            <a:r>
              <a:rPr lang="en-US" altLang="zh-CN"/>
              <a:t> thread-safe </a:t>
            </a:r>
            <a:r>
              <a:rPr lang="zh-CN" altLang="en-US"/>
              <a:t>的</a:t>
            </a:r>
            <a:r>
              <a:rPr lang="en-US" altLang="zh-CN"/>
              <a:t> queue.Queue</a:t>
            </a:r>
            <a:r>
              <a:rPr lang="zh-CN" altLang="en-US"/>
              <a:t>。如果开启了</a:t>
            </a:r>
            <a:r>
              <a:rPr lang="en-US" altLang="zh-CN"/>
              <a:t> audio_output</a:t>
            </a:r>
            <a:r>
              <a:rPr lang="zh-CN" altLang="en-US"/>
              <a:t>，还会实时把收到的声音从电脑声卡播放出来。如果服务器被</a:t>
            </a:r>
            <a:r>
              <a:rPr lang="en-US" altLang="zh-CN"/>
              <a:t> pause </a:t>
            </a:r>
            <a:r>
              <a:rPr lang="zh-CN" altLang="en-US"/>
              <a:t>了，这个线程会自动跳过接收并清空队列，做到</a:t>
            </a:r>
            <a:r>
              <a:rPr lang="en-US" altLang="zh-CN"/>
              <a:t>“</a:t>
            </a:r>
            <a:r>
              <a:rPr lang="zh-CN" altLang="en-US"/>
              <a:t>秒级暂停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indent="457200"/>
            <a:endParaRPr lang="zh-CN" altLang="en-US"/>
          </a:p>
          <a:p>
            <a:pPr indent="0"/>
            <a:r>
              <a:rPr lang="en-US" altLang="zh-CN" b="1"/>
              <a:t>ASR </a:t>
            </a:r>
            <a:r>
              <a:rPr lang="zh-CN" altLang="en-US" b="1"/>
              <a:t>处理线程（</a:t>
            </a:r>
            <a:r>
              <a:rPr lang="en-US" altLang="zh-CN" b="1"/>
              <a:t>_asr_worker</a:t>
            </a:r>
            <a:r>
              <a:rPr lang="zh-CN" altLang="en-US" b="1"/>
              <a:t>）</a:t>
            </a:r>
            <a:endParaRPr lang="zh-CN" altLang="en-US"/>
          </a:p>
          <a:p>
            <a:pPr indent="457200"/>
            <a:r>
              <a:rPr lang="zh-CN" altLang="en-US"/>
              <a:t>它不断从队列里取音频块，调用</a:t>
            </a:r>
            <a:r>
              <a:rPr lang="en-US" altLang="zh-CN"/>
              <a:t> SpeechRecognizer </a:t>
            </a:r>
            <a:r>
              <a:rPr lang="zh-CN" altLang="en-US"/>
              <a:t>的</a:t>
            </a:r>
            <a:r>
              <a:rPr lang="en-US" altLang="zh-CN"/>
              <a:t> start_reco_with_audio </a:t>
            </a:r>
            <a:r>
              <a:rPr lang="zh-CN" altLang="en-US"/>
              <a:t>方法把音频喂给</a:t>
            </a:r>
            <a:r>
              <a:rPr lang="en-US" altLang="zh-CN"/>
              <a:t> FunASR </a:t>
            </a:r>
            <a:r>
              <a:rPr lang="zh-CN" altLang="en-US"/>
              <a:t>模型进行识别。识别完成后，结果会自动存到</a:t>
            </a:r>
            <a:r>
              <a:rPr lang="en-US" altLang="zh-CN"/>
              <a:t> recognizer.recognition_res </a:t>
            </a:r>
            <a:r>
              <a:rPr lang="zh-CN" altLang="en-US"/>
              <a:t>这个字典里（</a:t>
            </a:r>
            <a:r>
              <a:rPr lang="en-US" altLang="zh-CN"/>
              <a:t>key </a:t>
            </a:r>
            <a:r>
              <a:rPr lang="zh-CN" altLang="en-US"/>
              <a:t>是时间戳，</a:t>
            </a:r>
            <a:r>
              <a:rPr lang="en-US" altLang="zh-CN"/>
              <a:t>value </a:t>
            </a:r>
            <a:r>
              <a:rPr lang="zh-CN" altLang="en-US"/>
              <a:t>是识别文本）。</a:t>
            </a:r>
            <a:r>
              <a:rPr lang="en-US" altLang="zh-CN"/>
              <a:t> </a:t>
            </a:r>
            <a:endParaRPr lang="zh-CN" altLang="en-US"/>
          </a:p>
          <a:p>
            <a:pPr indent="45720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ASRServer</a:t>
            </a:r>
            <a:endParaRPr lang="en-US" altLang="zh-CN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91540" y="1099185"/>
            <a:ext cx="10837545" cy="338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/>
              <a:t>_running</a:t>
            </a:r>
            <a:r>
              <a:rPr lang="zh-CN" altLang="en-US"/>
              <a:t>：整个服务器是否应该继续跑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_paused</a:t>
            </a:r>
            <a:r>
              <a:rPr lang="zh-CN" altLang="en-US"/>
              <a:t>：是否暂停接收新音频</a:t>
            </a:r>
            <a:r>
              <a:rPr lang="en-US" altLang="zh-CN"/>
              <a:t> 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_connected</a:t>
            </a:r>
            <a:r>
              <a:rPr lang="zh-CN" altLang="en-US"/>
              <a:t>：当前是否有客户端连着</a:t>
            </a: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start() / stop()</a:t>
            </a:r>
            <a:r>
              <a:rPr lang="zh-CN" altLang="en-US"/>
              <a:t>：启动和彻底停止整个服务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pause() / resume()</a:t>
            </a:r>
            <a:r>
              <a:rPr lang="zh-CN" altLang="en-US"/>
              <a:t>：暂停和恢复音频接收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is_paused() / is_connected()</a:t>
            </a:r>
            <a:r>
              <a:rPr lang="zh-CN" altLang="en-US"/>
              <a:t>：查询当前状态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get_recognition_results()</a:t>
            </a:r>
            <a:r>
              <a:rPr lang="zh-CN" altLang="en-US"/>
              <a:t>：获取所有历史识别结果（带时间戳）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get_latest_result()</a:t>
            </a:r>
            <a:r>
              <a:rPr lang="zh-CN" altLang="en-US"/>
              <a:t>：只取最新一句识别</a:t>
            </a:r>
            <a:r>
              <a:rPr lang="zh-CN" altLang="en-US"/>
              <a:t>结果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Socket-tts</a:t>
            </a:r>
            <a:r>
              <a:rPr lang="en-US" altLang="zh-CN" sz="2400" b="1" dirty="0"/>
              <a:t>Server</a:t>
            </a:r>
            <a:endParaRPr lang="en-US" altLang="zh-CN" sz="2400" b="1" dirty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035810" y="2000885"/>
            <a:ext cx="7455535" cy="2855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TTSServer</a:t>
            </a:r>
            <a:endParaRPr lang="en-US" altLang="zh-CN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91540" y="1099185"/>
            <a:ext cx="10837545" cy="338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b="1"/>
              <a:t>语音合成线程（</a:t>
            </a:r>
            <a:r>
              <a:rPr lang="en-US" altLang="zh-CN" b="1"/>
              <a:t>_tts_worker</a:t>
            </a:r>
            <a:r>
              <a:rPr lang="zh-CN" altLang="en-US" b="1"/>
              <a:t>）</a:t>
            </a:r>
            <a:endParaRPr lang="zh-CN" altLang="en-US" b="1"/>
          </a:p>
          <a:p>
            <a:pPr indent="457200">
              <a:lnSpc>
                <a:spcPct val="120000"/>
              </a:lnSpc>
            </a:pPr>
            <a:r>
              <a:rPr lang="zh-CN" altLang="en-US"/>
              <a:t>循环从</a:t>
            </a:r>
            <a:r>
              <a:rPr lang="en-US" altLang="zh-CN"/>
              <a:t> text_queue </a:t>
            </a:r>
            <a:r>
              <a:rPr lang="zh-CN" altLang="en-US"/>
              <a:t>获取文本，调用</a:t>
            </a:r>
            <a:r>
              <a:rPr lang="en-US" altLang="zh-CN"/>
              <a:t> self.tts.push_text(text) </a:t>
            </a:r>
            <a:r>
              <a:rPr lang="zh-CN" altLang="en-US"/>
              <a:t>将文本推入</a:t>
            </a:r>
            <a:r>
              <a:rPr lang="en-US" altLang="zh-CN"/>
              <a:t>Kokoro</a:t>
            </a:r>
            <a:r>
              <a:rPr lang="zh-CN" altLang="en-US"/>
              <a:t>生成器，触发实时合成。</a:t>
            </a:r>
            <a:endParaRPr lang="zh-CN" altLang="en-US"/>
          </a:p>
          <a:p>
            <a:pPr indent="0">
              <a:lnSpc>
                <a:spcPct val="120000"/>
              </a:lnSpc>
            </a:pPr>
            <a:endParaRPr lang="zh-CN" altLang="en-US"/>
          </a:p>
          <a:p>
            <a:pPr indent="0">
              <a:lnSpc>
                <a:spcPct val="120000"/>
              </a:lnSpc>
            </a:pPr>
            <a:r>
              <a:rPr lang="zh-CN" altLang="en-US" b="1"/>
              <a:t>音频分发线程（</a:t>
            </a:r>
            <a:r>
              <a:rPr lang="en-US" altLang="zh-CN" b="1"/>
              <a:t>_audio_sender</a:t>
            </a:r>
            <a:r>
              <a:rPr lang="zh-CN" altLang="en-US" b="1"/>
              <a:t>）</a:t>
            </a:r>
            <a:endParaRPr lang="zh-CN" altLang="en-US" b="1"/>
          </a:p>
          <a:p>
            <a:pPr indent="457200">
              <a:lnSpc>
                <a:spcPct val="120000"/>
              </a:lnSpc>
            </a:pPr>
            <a:r>
              <a:rPr lang="zh-CN" altLang="en-US"/>
              <a:t>通过</a:t>
            </a:r>
            <a:r>
              <a:rPr lang="en-US" altLang="zh-CN"/>
              <a:t> for audio_chunk in self.tts.get_audio() </a:t>
            </a:r>
            <a:r>
              <a:rPr lang="zh-CN" altLang="en-US"/>
              <a:t>迭代获取合成的音频块（</a:t>
            </a:r>
            <a:r>
              <a:rPr lang="en-US" altLang="zh-CN"/>
              <a:t>numpy array</a:t>
            </a:r>
            <a:r>
              <a:rPr lang="zh-CN" altLang="en-US"/>
              <a:t>），并立即调用</a:t>
            </a:r>
            <a:r>
              <a:rPr lang="en-US" altLang="zh-CN"/>
              <a:t> conn.sendall() </a:t>
            </a:r>
            <a:r>
              <a:rPr lang="zh-CN" altLang="en-US"/>
              <a:t>将原始字节流发送给客户端，实现边合成边播放。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zh-CN" altLang="en-US"/>
          </a:p>
          <a:p>
            <a:pPr indent="0">
              <a:lnSpc>
                <a:spcPct val="120000"/>
              </a:lnSpc>
            </a:pPr>
            <a:r>
              <a:rPr lang="zh-CN" altLang="en-US" b="1"/>
              <a:t>主服务器线程（</a:t>
            </a:r>
            <a:r>
              <a:rPr lang="en-US" altLang="zh-CN" b="1"/>
              <a:t>_server_worker</a:t>
            </a:r>
            <a:r>
              <a:rPr lang="zh-CN" altLang="en-US"/>
              <a:t>）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无限循环创建监听套接字、绑定端口、接受客户端连接，一旦连接成功即启动</a:t>
            </a:r>
            <a:r>
              <a:rPr lang="en-US" altLang="zh-CN"/>
              <a:t> _audio_sender </a:t>
            </a:r>
            <a:r>
              <a:rPr lang="zh-CN" altLang="en-US"/>
              <a:t>线程，客户端断开后自动清理并重新监听。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TTSServer</a:t>
            </a:r>
            <a:endParaRPr lang="en-US" altLang="zh-CN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91540" y="1099185"/>
            <a:ext cx="10837545" cy="2554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/>
              <a:t>text_queue</a:t>
            </a:r>
            <a:r>
              <a:rPr lang="zh-CN" altLang="en-US"/>
              <a:t>：用于接收外部程序投递的待合成文本，实现线程安全的文本排队。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en-US" altLang="zh-CN"/>
              <a:t>audio_queue</a:t>
            </a:r>
            <a:r>
              <a:rPr lang="zh-CN" altLang="en-US"/>
              <a:t>：（当前未实际使用，保留作为扩展），预留用于未来缓存音频块。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en-US" altLang="zh-CN"/>
              <a:t>tts</a:t>
            </a:r>
            <a:r>
              <a:rPr lang="zh-CN" altLang="en-US"/>
              <a:t>：</a:t>
            </a:r>
            <a:r>
              <a:rPr lang="en-US" altLang="zh-CN"/>
              <a:t>AudioGenerator </a:t>
            </a:r>
            <a:r>
              <a:rPr lang="zh-CN" altLang="en-US"/>
              <a:t>实例，来自</a:t>
            </a:r>
            <a:r>
              <a:rPr lang="en-US" altLang="zh-CN"/>
              <a:t> kokoro </a:t>
            </a:r>
            <a:r>
              <a:rPr lang="zh-CN" altLang="en-US"/>
              <a:t>的核心</a:t>
            </a:r>
            <a:r>
              <a:rPr lang="en-US" altLang="zh-CN"/>
              <a:t>TTS</a:t>
            </a:r>
            <a:r>
              <a:rPr lang="zh-CN" altLang="en-US"/>
              <a:t>生成器，负责实际的语音合成与音频块产出。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en-US" altLang="zh-CN"/>
              <a:t>put_text(text: str)</a:t>
            </a:r>
            <a:r>
              <a:rPr lang="zh-CN" altLang="en-US"/>
              <a:t>：将一段文本放入文本队列。外部程序（如大模型回答完成）只需调用此方法即可触发后续合成与播报，无需关心连接状态或合成进度。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Socket Server&amp;Client</a:t>
            </a:r>
            <a:endParaRPr lang="en-US" altLang="zh-CN" sz="2400" b="1" dirty="0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59080" y="1547495"/>
            <a:ext cx="5803900" cy="316611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175375" y="1547495"/>
            <a:ext cx="5739765" cy="3857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SocketClient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80415" y="1033780"/>
            <a:ext cx="10047605" cy="4741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/>
              <a:t>host</a:t>
            </a:r>
            <a:r>
              <a:rPr lang="zh-CN" altLang="en-US"/>
              <a:t>：字符串类型，默认</a:t>
            </a:r>
            <a:r>
              <a:rPr lang="en-US" altLang="zh-CN"/>
              <a:t> "127.0.0.1"</a:t>
            </a:r>
            <a:r>
              <a:rPr lang="zh-CN" altLang="en-US"/>
              <a:t>，目标服务器</a:t>
            </a:r>
            <a:r>
              <a:rPr lang="en-US" altLang="zh-CN"/>
              <a:t>IP</a:t>
            </a:r>
            <a:r>
              <a:rPr lang="zh-CN" altLang="en-US"/>
              <a:t>地址。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port</a:t>
            </a:r>
            <a:r>
              <a:rPr lang="zh-CN" altLang="en-US"/>
              <a:t>：整数类型，默认</a:t>
            </a:r>
            <a:r>
              <a:rPr lang="en-US" altLang="zh-CN"/>
              <a:t> 8888</a:t>
            </a:r>
            <a:r>
              <a:rPr lang="zh-CN" altLang="en-US"/>
              <a:t>，目标服务器端口。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socket</a:t>
            </a:r>
            <a:r>
              <a:rPr lang="zh-CN" altLang="en-US"/>
              <a:t>：</a:t>
            </a:r>
            <a:r>
              <a:rPr lang="en-US" altLang="zh-CN"/>
              <a:t>socket.socket </a:t>
            </a:r>
            <a:r>
              <a:rPr lang="zh-CN" altLang="en-US"/>
              <a:t>实例，实际的</a:t>
            </a:r>
            <a:r>
              <a:rPr lang="en-US" altLang="zh-CN"/>
              <a:t>TCP</a:t>
            </a:r>
            <a:r>
              <a:rPr lang="zh-CN" altLang="en-US"/>
              <a:t>套接字对象。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msg_queue</a:t>
            </a:r>
            <a:r>
              <a:rPr lang="zh-CN" altLang="en-US"/>
              <a:t>：</a:t>
            </a:r>
            <a:r>
              <a:rPr lang="en-US" altLang="zh-CN"/>
              <a:t>queue.Queue </a:t>
            </a:r>
            <a:r>
              <a:rPr lang="zh-CN" altLang="en-US"/>
              <a:t>实例，无大小限制，用于缓存待发送的字符串消息，实现线程安全的发送排队。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_send_pause</a:t>
            </a:r>
            <a:r>
              <a:rPr lang="zh-CN" altLang="en-US"/>
              <a:t>：</a:t>
            </a:r>
            <a:r>
              <a:rPr lang="en-US" altLang="zh-CN"/>
              <a:t>threading.Event </a:t>
            </a:r>
            <a:r>
              <a:rPr lang="zh-CN" altLang="en-US"/>
              <a:t>实例，核心流控信号，默认已置位（</a:t>
            </a:r>
            <a:r>
              <a:rPr lang="en-US" altLang="zh-CN"/>
              <a:t>set</a:t>
            </a:r>
            <a:r>
              <a:rPr lang="zh-CN" altLang="en-US"/>
              <a:t>）。用于实现</a:t>
            </a:r>
            <a:r>
              <a:rPr lang="en-US" altLang="zh-CN"/>
              <a:t>“</a:t>
            </a:r>
            <a:r>
              <a:rPr lang="zh-CN" altLang="en-US"/>
              <a:t>队列为空时发送线程自动挂起，有新消息时立即唤醒</a:t>
            </a:r>
            <a:r>
              <a:rPr lang="en-US" altLang="zh-CN"/>
              <a:t>”</a:t>
            </a:r>
            <a:r>
              <a:rPr lang="zh-CN" altLang="en-US"/>
              <a:t>的低</a:t>
            </a:r>
            <a:r>
              <a:rPr lang="en-US" altLang="zh-CN"/>
              <a:t>CPU</a:t>
            </a:r>
            <a:r>
              <a:rPr lang="zh-CN" altLang="en-US"/>
              <a:t>占用机制。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_send_thread</a:t>
            </a:r>
            <a:r>
              <a:rPr lang="zh-CN" altLang="en-US"/>
              <a:t>：线程对象或</a:t>
            </a:r>
            <a:r>
              <a:rPr lang="en-US" altLang="zh-CN"/>
              <a:t>None</a:t>
            </a:r>
            <a:r>
              <a:rPr lang="zh-CN" altLang="en-US"/>
              <a:t>，负责后台持续发送消息的专用线程。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MAX_RECONNECT_TRIES</a:t>
            </a:r>
            <a:r>
              <a:rPr lang="zh-CN" altLang="en-US"/>
              <a:t>：类常量，整数</a:t>
            </a:r>
            <a:r>
              <a:rPr lang="en-US" altLang="zh-CN"/>
              <a:t>5</a:t>
            </a:r>
            <a:r>
              <a:rPr lang="zh-CN" altLang="en-US"/>
              <a:t>，最大自动重连次数。</a:t>
            </a: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put_msg(new_msg: str)</a:t>
            </a:r>
            <a:r>
              <a:rPr lang="zh-CN" altLang="en-US"/>
              <a:t>：对外唯一核心接口，将一条字符串消息放入发送队列并立即唤醒发送线程。</a:t>
            </a:r>
            <a:r>
              <a:rPr lang="en-US" altLang="zh-CN"/>
              <a:t> 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send_msg()</a:t>
            </a:r>
            <a:r>
              <a:rPr lang="zh-CN" altLang="en-US"/>
              <a:t>：发送线程主函数，死循环监控队列：队列为空时通过</a:t>
            </a:r>
            <a:r>
              <a:rPr lang="en-US" altLang="zh-CN"/>
              <a:t> _send_pause.clear() </a:t>
            </a:r>
            <a:r>
              <a:rPr lang="zh-CN" altLang="en-US"/>
              <a:t>让自己阻塞挂起；当</a:t>
            </a:r>
            <a:r>
              <a:rPr lang="en-US" altLang="zh-CN"/>
              <a:t> put_msg() </a:t>
            </a:r>
            <a:r>
              <a:rPr lang="zh-CN" altLang="en-US"/>
              <a:t>调用</a:t>
            </a:r>
            <a:r>
              <a:rPr lang="en-US" altLang="zh-CN"/>
              <a:t> set() </a:t>
            </a:r>
            <a:r>
              <a:rPr lang="zh-CN" altLang="en-US"/>
              <a:t>后立即苏醒，取出一条消息，先发送</a:t>
            </a:r>
            <a:r>
              <a:rPr lang="en-US" altLang="zh-CN"/>
              <a:t>4</a:t>
            </a:r>
            <a:r>
              <a:rPr lang="zh-CN" altLang="en-US"/>
              <a:t>字节大端长度前缀，再发送实际</a:t>
            </a:r>
            <a:r>
              <a:rPr lang="en-US" altLang="zh-CN"/>
              <a:t>UTF-8</a:t>
            </a:r>
            <a:r>
              <a:rPr lang="zh-CN" altLang="en-US"/>
              <a:t>编码内容，实现自定义应用层协议防粘包。</a:t>
            </a:r>
            <a:r>
              <a:rPr lang="en-US" altLang="zh-CN"/>
              <a:t>finally </a:t>
            </a:r>
            <a:r>
              <a:rPr lang="zh-CN" altLang="en-US"/>
              <a:t>块保证异常时关闭</a:t>
            </a:r>
            <a:r>
              <a:rPr lang="en-US" altLang="zh-CN"/>
              <a:t>socket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SocketServer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80415" y="1033780"/>
            <a:ext cx="10790555" cy="5073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/>
              <a:t>host</a:t>
            </a:r>
            <a:r>
              <a:rPr lang="zh-CN" altLang="en-US"/>
              <a:t>：字符串类型，默认</a:t>
            </a:r>
            <a:r>
              <a:rPr lang="en-US" altLang="zh-CN"/>
              <a:t> "0.0.0.0"</a:t>
            </a:r>
            <a:r>
              <a:rPr lang="zh-CN" altLang="en-US"/>
              <a:t>，表示监听所有网卡。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port</a:t>
            </a:r>
            <a:r>
              <a:rPr lang="zh-CN" altLang="en-US"/>
              <a:t>：整数类型，默认</a:t>
            </a:r>
            <a:r>
              <a:rPr lang="en-US" altLang="zh-CN"/>
              <a:t> 8888</a:t>
            </a:r>
            <a:r>
              <a:rPr lang="zh-CN" altLang="en-US"/>
              <a:t>，控制指令监听端口。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socket</a:t>
            </a:r>
            <a:r>
              <a:rPr lang="zh-CN" altLang="en-US"/>
              <a:t>：</a:t>
            </a:r>
            <a:r>
              <a:rPr lang="en-US" altLang="zh-CN"/>
              <a:t>socket.socket </a:t>
            </a:r>
            <a:r>
              <a:rPr lang="zh-CN" altLang="en-US"/>
              <a:t>实例，主监听套接字。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conn</a:t>
            </a:r>
            <a:r>
              <a:rPr lang="zh-CN" altLang="en-US"/>
              <a:t>：</a:t>
            </a:r>
            <a:r>
              <a:rPr lang="en-US" altLang="zh-CN"/>
              <a:t>socket.socket </a:t>
            </a:r>
            <a:r>
              <a:rPr lang="zh-CN" altLang="en-US"/>
              <a:t>实例，当前已连接的客户端套接字。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addr</a:t>
            </a:r>
            <a:r>
              <a:rPr lang="zh-CN" altLang="en-US"/>
              <a:t>：元组，当前客户端的</a:t>
            </a:r>
            <a:r>
              <a:rPr lang="en-US" altLang="zh-CN"/>
              <a:t> IP </a:t>
            </a:r>
            <a:r>
              <a:rPr lang="zh-CN" altLang="en-US"/>
              <a:t>和端口。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received_msg</a:t>
            </a:r>
            <a:r>
              <a:rPr lang="zh-CN" altLang="en-US"/>
              <a:t>：</a:t>
            </a:r>
            <a:r>
              <a:rPr lang="en-US" altLang="zh-CN"/>
              <a:t>queue.Queue </a:t>
            </a:r>
            <a:r>
              <a:rPr lang="zh-CN" altLang="en-US"/>
              <a:t>实例，线程安全的接收消息队列，是本类唯一对外提供的数据出口，上层只需从这个队列取消息即可。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_thread_server</a:t>
            </a:r>
            <a:r>
              <a:rPr lang="zh-CN" altLang="en-US"/>
              <a:t>：</a:t>
            </a:r>
            <a:r>
              <a:rPr lang="en-US" altLang="zh-CN"/>
              <a:t>threading.Thread </a:t>
            </a:r>
            <a:r>
              <a:rPr lang="zh-CN" altLang="en-US"/>
              <a:t>实例，负责监听和连接管理的后台线程，实例化时立即启动。</a:t>
            </a: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_server_worker()</a:t>
            </a:r>
            <a:r>
              <a:rPr lang="zh-CN" altLang="en-US"/>
              <a:t>：内部主线程函数，无限循环创建监听</a:t>
            </a:r>
            <a:r>
              <a:rPr lang="en-US" altLang="zh-CN"/>
              <a:t> socket </a:t>
            </a:r>
            <a:r>
              <a:rPr lang="en-US" altLang="en-US"/>
              <a:t>→</a:t>
            </a:r>
            <a:r>
              <a:rPr lang="en-US" altLang="zh-CN"/>
              <a:t> bind </a:t>
            </a:r>
            <a:r>
              <a:rPr lang="en-US" altLang="en-US"/>
              <a:t>→</a:t>
            </a:r>
            <a:r>
              <a:rPr lang="en-US" altLang="zh-CN"/>
              <a:t> listen </a:t>
            </a:r>
            <a:r>
              <a:rPr lang="en-US" altLang="en-US"/>
              <a:t>→</a:t>
            </a:r>
            <a:r>
              <a:rPr lang="en-US" altLang="zh-CN"/>
              <a:t> accept </a:t>
            </a:r>
            <a:r>
              <a:rPr lang="zh-CN" altLang="en-US"/>
              <a:t>客户端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成功后启动</a:t>
            </a:r>
            <a:r>
              <a:rPr lang="en-US" altLang="zh-CN"/>
              <a:t> receive_msg </a:t>
            </a:r>
            <a:r>
              <a:rPr lang="zh-CN" altLang="en-US"/>
              <a:t>线程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客户端断开后自动关闭资源并重新进入监听状态，实现自动重连。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receive_msg()</a:t>
            </a:r>
            <a:r>
              <a:rPr lang="zh-CN" altLang="en-US"/>
              <a:t>：内部接收线程函数，循环执行：先精确读取</a:t>
            </a:r>
            <a:r>
              <a:rPr lang="en-US" altLang="zh-CN"/>
              <a:t> 4 </a:t>
            </a:r>
            <a:r>
              <a:rPr lang="zh-CN" altLang="en-US"/>
              <a:t>字节长度前缀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再通过</a:t>
            </a:r>
            <a:r>
              <a:rPr lang="en-US" altLang="zh-CN"/>
              <a:t> recv_exact(length) </a:t>
            </a:r>
            <a:r>
              <a:rPr lang="zh-CN" altLang="en-US"/>
              <a:t>读取指定字节的消息体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解码为</a:t>
            </a:r>
            <a:r>
              <a:rPr lang="en-US" altLang="zh-CN"/>
              <a:t> UTF-8 </a:t>
            </a:r>
            <a:r>
              <a:rPr lang="zh-CN" altLang="en-US"/>
              <a:t>字符串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放入</a:t>
            </a:r>
            <a:r>
              <a:rPr lang="en-US" altLang="zh-CN"/>
              <a:t> received_msg </a:t>
            </a:r>
            <a:r>
              <a:rPr lang="zh-CN" altLang="en-US"/>
              <a:t>队列供上层消费；异常或断连时尝试重新</a:t>
            </a:r>
            <a:r>
              <a:rPr lang="en-US" altLang="zh-CN"/>
              <a:t> accept</a:t>
            </a:r>
            <a:r>
              <a:rPr lang="zh-CN" altLang="en-US"/>
              <a:t>（实际会在外层重连）。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recv_exact(n_bytes)</a:t>
            </a:r>
            <a:r>
              <a:rPr lang="zh-CN" altLang="en-US"/>
              <a:t>：工具方法，保证一次性完整接收指定字节数，解决</a:t>
            </a:r>
            <a:r>
              <a:rPr lang="en-US" altLang="zh-CN"/>
              <a:t> TCP </a:t>
            </a:r>
            <a:r>
              <a:rPr lang="zh-CN" altLang="en-US"/>
              <a:t>粘包</a:t>
            </a:r>
            <a:r>
              <a:rPr lang="en-US" altLang="zh-CN"/>
              <a:t>/</a:t>
            </a:r>
            <a:r>
              <a:rPr lang="zh-CN" altLang="en-US"/>
              <a:t>半包问题。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yolo-</a:t>
            </a:r>
            <a:r>
              <a:rPr lang="en-US" altLang="zh-CN" sz="2400" b="1" dirty="0"/>
              <a:t>gestureRecognize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0" y="1139190"/>
            <a:ext cx="5736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https://github.com/hukenovs/hagrid?tab=readme-ov-file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175" y="1738630"/>
            <a:ext cx="7211695" cy="2257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355" y="4338955"/>
            <a:ext cx="4088765" cy="22059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4691380"/>
            <a:ext cx="2903220" cy="1501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85" y="4398645"/>
            <a:ext cx="2437130" cy="214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ym typeface="+mn-ea"/>
              </a:rPr>
              <a:t>yolo-gestureRecognize</a:t>
            </a:r>
            <a:endParaRPr lang="en-US" altLang="zh-CN" sz="2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85520" y="1080135"/>
            <a:ext cx="9918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运行</a:t>
            </a:r>
            <a:r>
              <a:rPr lang="en-US" altLang="zh-CN"/>
              <a:t>w06/s02_yolo_stream.py</a:t>
            </a:r>
            <a:r>
              <a:rPr lang="zh-CN" altLang="en-US"/>
              <a:t>可启动本地摄像头进行手势</a:t>
            </a:r>
            <a:r>
              <a:rPr lang="zh-CN" altLang="en-US"/>
              <a:t>识别。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" y="1838325"/>
            <a:ext cx="5105400" cy="45878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95" y="3131185"/>
            <a:ext cx="6256655" cy="29832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19140" y="1804670"/>
            <a:ext cx="5968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result.boxes.data.tolist()</a:t>
            </a:r>
            <a:r>
              <a:rPr lang="zh-CN" altLang="en-US"/>
              <a:t>可获取识别结果的列表。每个项是长度为</a:t>
            </a:r>
            <a:r>
              <a:rPr lang="en-US" altLang="zh-CN"/>
              <a:t>6</a:t>
            </a:r>
            <a:r>
              <a:rPr lang="zh-CN" altLang="en-US"/>
              <a:t>的列表，值为：</a:t>
            </a:r>
            <a:r>
              <a:rPr lang="en-US" altLang="zh-CN"/>
              <a:t>x_center,y_center,w,h,conf,cls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yolo-RPC</a:t>
            </a:r>
            <a:endParaRPr lang="en-US" altLang="zh-CN" sz="2400" b="1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2354580" y="1903095"/>
            <a:ext cx="7266305" cy="3535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yolo-RPC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725170" y="1154430"/>
            <a:ext cx="10772775" cy="134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RPC</a:t>
            </a:r>
            <a:r>
              <a:rPr lang="zh-CN" altLang="en-US"/>
              <a:t>是远程过程调用（</a:t>
            </a:r>
            <a:r>
              <a:rPr lang="en-US" altLang="zh-CN"/>
              <a:t>Remote Procedure Call</a:t>
            </a:r>
            <a:r>
              <a:rPr lang="zh-CN" altLang="en-US"/>
              <a:t>）。这里主要是将控制机器人动作的</a:t>
            </a:r>
            <a:r>
              <a:rPr lang="en-US" altLang="zh-CN"/>
              <a:t>http</a:t>
            </a:r>
            <a:r>
              <a:rPr lang="zh-CN" altLang="en-US"/>
              <a:t>请求封装为可调用的</a:t>
            </a:r>
            <a:r>
              <a:rPr lang="zh-CN" altLang="en-US"/>
              <a:t>方法。</a:t>
            </a:r>
            <a:endParaRPr lang="zh-CN" altLang="en-US"/>
          </a:p>
          <a:p>
            <a:pPr indent="457200"/>
            <a:r>
              <a:rPr lang="en-US" altLang="zh-CN"/>
              <a:t>RobotRPC</a:t>
            </a:r>
            <a:r>
              <a:rPr lang="zh-CN" altLang="en-US"/>
              <a:t>这个类中定义了一个</a:t>
            </a:r>
            <a:r>
              <a:rPr lang="en-US" altLang="zh-CN"/>
              <a:t>run_action</a:t>
            </a:r>
            <a:r>
              <a:rPr lang="zh-CN" altLang="en-US"/>
              <a:t>方法，这个方法封装了</a:t>
            </a:r>
            <a:r>
              <a:rPr lang="en-US" altLang="zh-CN"/>
              <a:t>get</a:t>
            </a:r>
            <a:r>
              <a:rPr lang="zh-CN" altLang="en-US"/>
              <a:t>请求，传入</a:t>
            </a:r>
            <a:r>
              <a:rPr lang="en-US" altLang="zh-CN"/>
              <a:t>action_name</a:t>
            </a:r>
            <a:r>
              <a:rPr lang="zh-CN" altLang="en-US"/>
              <a:t>和</a:t>
            </a:r>
            <a:r>
              <a:rPr lang="en-US" altLang="zh-CN"/>
              <a:t>times</a:t>
            </a:r>
            <a:r>
              <a:rPr lang="zh-CN" altLang="en-US"/>
              <a:t>就可以直接</a:t>
            </a:r>
            <a:r>
              <a:rPr lang="zh-CN" altLang="en-US"/>
              <a:t>调用。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5460" y="2982595"/>
            <a:ext cx="5340985" cy="309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mcp-action</a:t>
            </a:r>
            <a:endParaRPr lang="en-US" altLang="zh-CN" sz="2400" b="1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033270" y="2120265"/>
            <a:ext cx="8124825" cy="2264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mcp-action</a:t>
            </a:r>
            <a:endParaRPr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4560" y="1413510"/>
            <a:ext cx="4986655" cy="4418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310" y="1275715"/>
            <a:ext cx="5076825" cy="194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20000"/>
              </a:lnSpc>
            </a:pPr>
            <a:r>
              <a:rPr lang="en-US" altLang="zh-CN"/>
              <a:t>w08/mcp_server.py</a:t>
            </a:r>
            <a:r>
              <a:rPr lang="zh-CN" altLang="en-US"/>
              <a:t>中定义了一个</a:t>
            </a:r>
            <a:r>
              <a:rPr lang="en-US" altLang="zh-CN"/>
              <a:t>mcp</a:t>
            </a:r>
            <a:r>
              <a:rPr lang="zh-CN" altLang="en-US"/>
              <a:t>工具，内部直接调用</a:t>
            </a:r>
            <a:r>
              <a:rPr lang="en-US" altLang="zh-CN"/>
              <a:t>RobotRPC</a:t>
            </a:r>
            <a:r>
              <a:rPr lang="zh-CN" altLang="en-US"/>
              <a:t>中的</a:t>
            </a:r>
            <a:r>
              <a:rPr lang="en-US" altLang="zh-CN"/>
              <a:t>run_action</a:t>
            </a:r>
            <a:r>
              <a:rPr lang="zh-CN" altLang="en-US"/>
              <a:t>方法。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r>
              <a:rPr lang="zh-CN" altLang="en-US"/>
              <a:t>在方法签名中，</a:t>
            </a:r>
            <a:r>
              <a:rPr lang="en-US" altLang="zh-CN"/>
              <a:t>action_name</a:t>
            </a:r>
            <a:r>
              <a:rPr lang="zh-CN" altLang="en-US"/>
              <a:t>被描述为枚举类型的，可根据实际已有动作进行</a:t>
            </a:r>
            <a:r>
              <a:rPr lang="zh-CN" altLang="en-US"/>
              <a:t>修改。</a:t>
            </a:r>
            <a:endParaRPr lang="zh-CN" altLang="en-US"/>
          </a:p>
          <a:p>
            <a:pPr indent="457200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060450"/>
            <a:ext cx="9382760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使用已学模块，实现一个综合</a:t>
            </a:r>
            <a:r>
              <a:rPr lang="zh-CN" altLang="en-US" sz="2400"/>
              <a:t>功能。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录制完整的机器人演示视频。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制作</a:t>
            </a:r>
            <a:r>
              <a:rPr lang="en-US" altLang="zh-CN" sz="2400"/>
              <a:t>ppt</a:t>
            </a:r>
            <a:r>
              <a:rPr lang="zh-CN" altLang="en-US" sz="2400"/>
              <a:t>，在最后一节课简单讲解各个功能设计。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4.</a:t>
            </a:r>
            <a:r>
              <a:rPr lang="zh-CN" altLang="en-US" sz="2400"/>
              <a:t>将代码、</a:t>
            </a:r>
            <a:r>
              <a:rPr lang="en-US" altLang="zh-CN" sz="2400"/>
              <a:t>ppt</a:t>
            </a:r>
            <a:r>
              <a:rPr lang="zh-CN" altLang="en-US" sz="2400"/>
              <a:t>、演示</a:t>
            </a:r>
            <a:r>
              <a:rPr lang="zh-CN" altLang="en-US" sz="2400"/>
              <a:t>视频推送到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8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4472C4"/>
                </a:solidFill>
              </a:rPr>
              <a:t>大模型与机器人</a:t>
            </a:r>
            <a:r>
              <a:rPr lang="zh-CN" altLang="en-US" sz="3200" dirty="0" smtClean="0">
                <a:solidFill>
                  <a:srgbClr val="4472C4"/>
                </a:solidFill>
              </a:rPr>
              <a:t>整合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5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3445</Words>
  <Application>WPS 演示</Application>
  <PresentationFormat>宽屏</PresentationFormat>
  <Paragraphs>128</Paragraphs>
  <Slides>20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Arial Unicode MS</vt:lpstr>
      <vt:lpstr>Calibri</vt:lpstr>
      <vt:lpstr>Arial Unicode MS</vt:lpstr>
      <vt:lpstr>Calibri Light</vt:lpstr>
      <vt:lpstr>JetBrains Mono</vt:lpstr>
      <vt:lpstr>Courier New</vt:lpstr>
      <vt:lpstr>Liberation Mono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1039</cp:revision>
  <dcterms:created xsi:type="dcterms:W3CDTF">2017-07-25T03:07:00Z</dcterms:created>
  <dcterms:modified xsi:type="dcterms:W3CDTF">2025-12-04T06:31:06Z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6EF75D85C5F1449FA80D807F9B4C029F_13</vt:lpwstr>
  </property>
  <property fmtid="{D5CDD505-2E9C-101B-9397-08002B2CF9AE}" pid="3" name="KSOProductBuildVer">
    <vt:lpwstr>2052-12.1.0.23542</vt:lpwstr>
  </property>
</Properties>
</file>