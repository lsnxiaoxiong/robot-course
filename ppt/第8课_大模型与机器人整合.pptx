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notesMasterIdLst>
    <p:notesMasterId r:id="rId6"/>
  </p:notesMasterIdLst>
  <p:handoutMasterIdLst>
    <p:handoutMasterId r:id="rId16"/>
  </p:handoutMasterIdLst>
  <p:sldIdLst>
    <p:sldId id="463" r:id="rId4"/>
    <p:sldId id="364" r:id="rId5"/>
    <p:sldId id="470" r:id="rId7"/>
    <p:sldId id="451" r:id="rId8"/>
    <p:sldId id="464" r:id="rId9"/>
    <p:sldId id="465" r:id="rId10"/>
    <p:sldId id="467" r:id="rId11"/>
    <p:sldId id="468" r:id="rId12"/>
    <p:sldId id="469" r:id="rId13"/>
    <p:sldId id="356" r:id="rId14"/>
    <p:sldId id="320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26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马奇" initials="马奇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89E00"/>
    <a:srgbClr val="FF9900"/>
    <a:srgbClr val="FFCCCC"/>
    <a:srgbClr val="D8BBA1"/>
    <a:srgbClr val="E2C718"/>
    <a:srgbClr val="D61621"/>
    <a:srgbClr val="FFD002"/>
    <a:srgbClr val="FF6666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18" autoAdjust="0"/>
    <p:restoredTop sz="79859" autoAdjust="0"/>
  </p:normalViewPr>
  <p:slideViewPr>
    <p:cSldViewPr snapToGrid="0" showGuides="1">
      <p:cViewPr varScale="1">
        <p:scale>
          <a:sx n="83" d="100"/>
          <a:sy n="83" d="100"/>
        </p:scale>
        <p:origin x="438" y="84"/>
      </p:cViewPr>
      <p:guideLst>
        <p:guide pos="3840"/>
        <p:guide orient="horz" pos="22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0" Type="http://schemas.openxmlformats.org/officeDocument/2006/relationships/commentAuthors" Target="commentAuthors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35978-AA0F-4019-89CE-7C0DBBEECEE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 7"/>
          <p:cNvSpPr/>
          <p:nvPr userDrawn="1"/>
        </p:nvSpPr>
        <p:spPr>
          <a:xfrm rot="5400000">
            <a:off x="4050259" y="-4050255"/>
            <a:ext cx="1802935" cy="990345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9" name="任意多边形 8"/>
          <p:cNvSpPr/>
          <p:nvPr userDrawn="1"/>
        </p:nvSpPr>
        <p:spPr>
          <a:xfrm flipH="1">
            <a:off x="10111813" y="1412240"/>
            <a:ext cx="2080184" cy="544576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2385073" y="-2385070"/>
            <a:ext cx="1061693" cy="583184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483399" y="-1483401"/>
            <a:ext cx="660321" cy="362712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2" name="任意多边形 11"/>
          <p:cNvSpPr/>
          <p:nvPr userDrawn="1"/>
        </p:nvSpPr>
        <p:spPr>
          <a:xfrm flipH="1">
            <a:off x="10993120" y="3719437"/>
            <a:ext cx="1198876" cy="3138563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273790" y="-94255"/>
            <a:ext cx="2995243" cy="1264792"/>
            <a:chOff x="8303568" y="2694"/>
            <a:chExt cx="3888434" cy="1641957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1156" y="221822"/>
              <a:ext cx="2909748" cy="1422829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8303571" y="2694"/>
              <a:ext cx="3888431" cy="606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800" dirty="0"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sz="3200" dirty="0">
                <a:solidFill>
                  <a:srgbClr val="0070C0"/>
                </a:solidFill>
                <a:latin typeface="+mj-lt"/>
                <a:ea typeface="华文新魏" panose="02010800040101010101" pitchFamily="2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303568" y="274888"/>
              <a:ext cx="3888431" cy="9797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3200" dirty="0">
                  <a:solidFill>
                    <a:srgbClr val="0070C0"/>
                  </a:solidFill>
                  <a:ea typeface="华文新魏" panose="02010800040101010101" pitchFamily="2" charset="-122"/>
                </a:rPr>
                <a:t>VI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R </a:t>
              </a:r>
              <a:r>
                <a:rPr lang="en-US" altLang="zh-CN" sz="3200" dirty="0">
                  <a:ea typeface="华文新魏" panose="02010800040101010101" pitchFamily="2" charset="-122"/>
                </a:rPr>
                <a:t>      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tics</a:t>
              </a:r>
              <a:endParaRPr lang="en-US" altLang="zh-CN" sz="3200" dirty="0">
                <a:solidFill>
                  <a:schemeClr val="bg1">
                    <a:lumMod val="65000"/>
                  </a:schemeClr>
                </a:solidFill>
                <a:ea typeface="华文新魏" panose="02010800040101010101" pitchFamily="2" charset="-122"/>
              </a:endParaRPr>
            </a:p>
          </p:txBody>
        </p:sp>
      </p:grpSp>
      <p:sp>
        <p:nvSpPr>
          <p:cNvPr id="16" name="任意多边形 15"/>
          <p:cNvSpPr/>
          <p:nvPr userDrawn="1"/>
        </p:nvSpPr>
        <p:spPr>
          <a:xfrm rot="5400000" flipH="1">
            <a:off x="140597" y="5298178"/>
            <a:ext cx="1419223" cy="170041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7" name="任意多边形 16"/>
          <p:cNvSpPr/>
          <p:nvPr userDrawn="1"/>
        </p:nvSpPr>
        <p:spPr>
          <a:xfrm rot="5400000" flipH="1">
            <a:off x="86469" y="5898692"/>
            <a:ext cx="872838" cy="104577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新年快乐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2151"/>
            <a:ext cx="2395959" cy="156412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任意多边形 13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D61621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5" name="任意多边形 14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2C71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51064" y="748598"/>
            <a:ext cx="1221533" cy="45097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</p:grpSp>
      <p:pic>
        <p:nvPicPr>
          <p:cNvPr id="11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直角三角形 13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 23"/>
          <p:cNvSpPr/>
          <p:nvPr userDrawn="1"/>
        </p:nvSpPr>
        <p:spPr>
          <a:xfrm rot="10800000" flipH="1">
            <a:off x="-3" y="-2"/>
            <a:ext cx="4563538" cy="2514602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8" name="任意多边形 7"/>
          <p:cNvSpPr/>
          <p:nvPr userDrawn="1"/>
        </p:nvSpPr>
        <p:spPr>
          <a:xfrm rot="5400000">
            <a:off x="3805768" y="-3805763"/>
            <a:ext cx="1168396" cy="877993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1697568" y="-1697564"/>
            <a:ext cx="1168399" cy="4563535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127283" y="-1127283"/>
            <a:ext cx="827303" cy="308187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9239095" y="76203"/>
            <a:ext cx="3666413" cy="1775426"/>
            <a:chOff x="9196760" y="0"/>
            <a:chExt cx="3666413" cy="1775426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62065" y="307923"/>
              <a:ext cx="3001108" cy="146750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9196760" y="0"/>
              <a:ext cx="29952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上海交通大学工程训练中心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</p:txBody>
        </p:sp>
        <p:pic>
          <p:nvPicPr>
            <p:cNvPr id="2" name="图片 1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0533" y="660321"/>
              <a:ext cx="762708" cy="762708"/>
            </a:xfrm>
            <a:prstGeom prst="rect">
              <a:avLst/>
            </a:prstGeom>
          </p:spPr>
        </p:pic>
      </p:grpSp>
      <p:grpSp>
        <p:nvGrpSpPr>
          <p:cNvPr id="62" name="组合 61"/>
          <p:cNvGrpSpPr/>
          <p:nvPr userDrawn="1"/>
        </p:nvGrpSpPr>
        <p:grpSpPr>
          <a:xfrm rot="10800000">
            <a:off x="8779935" y="4741014"/>
            <a:ext cx="3412065" cy="2116984"/>
            <a:chOff x="2810930" y="2822526"/>
            <a:chExt cx="8779937" cy="2526726"/>
          </a:xfrm>
        </p:grpSpPr>
        <p:sp>
          <p:nvSpPr>
            <p:cNvPr id="58" name="任意多边形 57"/>
            <p:cNvSpPr/>
            <p:nvPr userDrawn="1"/>
          </p:nvSpPr>
          <p:spPr>
            <a:xfrm rot="10800000" flipH="1">
              <a:off x="2810930" y="2834650"/>
              <a:ext cx="4563537" cy="2514602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E89E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59" name="任意多边形 58"/>
            <p:cNvSpPr/>
            <p:nvPr userDrawn="1"/>
          </p:nvSpPr>
          <p:spPr>
            <a:xfrm rot="5400000">
              <a:off x="6616701" y="-983237"/>
              <a:ext cx="1168396" cy="8779937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157DA8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0" name="任意多边形 59"/>
            <p:cNvSpPr/>
            <p:nvPr userDrawn="1"/>
          </p:nvSpPr>
          <p:spPr>
            <a:xfrm rot="5400000">
              <a:off x="4508501" y="1124962"/>
              <a:ext cx="1168399" cy="4563535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1" name="任意多边形 60"/>
            <p:cNvSpPr/>
            <p:nvPr userDrawn="1"/>
          </p:nvSpPr>
          <p:spPr>
            <a:xfrm rot="5400000">
              <a:off x="3938216" y="1695243"/>
              <a:ext cx="827303" cy="3081870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prstClr val="white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</p:grpSp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综合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5" name="矩形 4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pic>
        <p:nvPicPr>
          <p:cNvPr id="7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直角三角形 7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" name="直角三角形 8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4472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4472C4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讲</a:t>
            </a:r>
            <a:endParaRPr lang="zh-CN" altLang="en-US" sz="9600" dirty="0">
              <a:solidFill>
                <a:srgbClr val="4472C4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5" name="直角三角形 14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rgbClr val="E89E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14" name="直角三角形 13"/>
          <p:cNvSpPr/>
          <p:nvPr userDrawn="1"/>
        </p:nvSpPr>
        <p:spPr>
          <a:xfrm>
            <a:off x="0" y="6477000"/>
            <a:ext cx="12107336" cy="381000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E89E00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例</a:t>
            </a:r>
            <a:endParaRPr lang="zh-CN" altLang="en-US" sz="9600" dirty="0">
              <a:solidFill>
                <a:srgbClr val="E89E00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1" name="直角三角形 10"/>
          <p:cNvSpPr/>
          <p:nvPr userDrawn="1"/>
        </p:nvSpPr>
        <p:spPr>
          <a:xfrm rot="10800000">
            <a:off x="84664" y="3977"/>
            <a:ext cx="12107336" cy="3453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prstClr val="white">
                    <a:lumMod val="50000"/>
                  </a:prst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练</a:t>
            </a:r>
            <a:endParaRPr lang="zh-CN" altLang="en-US" sz="9600" dirty="0">
              <a:solidFill>
                <a:prstClr val="white">
                  <a:lumMod val="50000"/>
                </a:prst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2" name="直角三角形 11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2F288E0-7875-42C4-84C8-98DBBD3BF4D2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0" Type="http://schemas.openxmlformats.org/officeDocument/2006/relationships/theme" Target="../theme/theme2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5.xml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/>
          <p:nvPr/>
        </p:nvSpPr>
        <p:spPr>
          <a:xfrm>
            <a:off x="2117725" y="2665730"/>
            <a:ext cx="7816850" cy="11068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大模型与机器人</a:t>
            </a:r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整合</a:t>
            </a:r>
            <a:endParaRPr lang="zh-CN" altLang="en-US" sz="6600" dirty="0" smtClean="0">
              <a:ln w="0"/>
              <a:solidFill>
                <a:srgbClr val="157DA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9265920" y="86360"/>
            <a:ext cx="29876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上海交通大学学生创新</a:t>
            </a:r>
            <a:r>
              <a:rPr lang="zh-CN" altLang="en-US"/>
              <a:t>中心</a:t>
            </a:r>
            <a:endParaRPr lang="zh-CN" altLang="en-US"/>
          </a:p>
          <a:p>
            <a:r>
              <a:rPr lang="zh-CN" altLang="en-US"/>
              <a:t>上海仪酷智能科技</a:t>
            </a:r>
            <a:r>
              <a:rPr lang="zh-CN" altLang="en-US"/>
              <a:t>有限公司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启动</a:t>
            </a:r>
            <a:r>
              <a:rPr lang="zh-CN" altLang="en-US" sz="2400" b="1" dirty="0"/>
              <a:t>程序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1042670" y="1339850"/>
            <a:ext cx="10248900" cy="1946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先在电脑上运行</a:t>
            </a:r>
            <a:r>
              <a:rPr lang="en-US" altLang="zh-CN"/>
              <a:t>w08/mcp_client.py</a:t>
            </a:r>
            <a:r>
              <a:rPr lang="zh-CN" altLang="en-US"/>
              <a:t>，这个程序会启动多个服务：</a:t>
            </a:r>
            <a:r>
              <a:rPr lang="en-US" altLang="zh-CN"/>
              <a:t>socketServer</a:t>
            </a:r>
            <a:r>
              <a:rPr lang="zh-CN" altLang="en-US"/>
              <a:t>、</a:t>
            </a:r>
            <a:r>
              <a:rPr lang="en-US" altLang="zh-CN"/>
              <a:t>TTSServer</a:t>
            </a:r>
            <a:r>
              <a:rPr lang="zh-CN" altLang="en-US"/>
              <a:t>、</a:t>
            </a:r>
            <a:r>
              <a:rPr lang="en-US" altLang="zh-CN"/>
              <a:t>ASRServer</a:t>
            </a:r>
            <a:r>
              <a:rPr lang="zh-CN" altLang="en-US"/>
              <a:t>、</a:t>
            </a:r>
            <a:r>
              <a:rPr lang="en-US" altLang="zh-CN"/>
              <a:t>MCPServer</a:t>
            </a:r>
            <a:r>
              <a:rPr lang="zh-CN" altLang="en-US"/>
              <a:t>。</a:t>
            </a:r>
            <a:endParaRPr lang="zh-CN" altLang="en-US"/>
          </a:p>
          <a:p>
            <a:pPr indent="457200">
              <a:lnSpc>
                <a:spcPct val="120000"/>
              </a:lnSpc>
            </a:pPr>
            <a:r>
              <a:rPr lang="zh-CN" altLang="en-US"/>
              <a:t>然后在机器人上运行</a:t>
            </a:r>
            <a:r>
              <a:rPr lang="en-US" altLang="zh-CN"/>
              <a:t>w08/robot_client.py</a:t>
            </a:r>
            <a:r>
              <a:rPr lang="zh-CN" altLang="en-US"/>
              <a:t>以及</a:t>
            </a:r>
            <a:r>
              <a:rPr lang="en-US" altLang="zh-CN"/>
              <a:t>launch.py</a:t>
            </a:r>
            <a:r>
              <a:rPr lang="zh-CN" altLang="en-US"/>
              <a:t>，这个程序会启动多个客户端连接：</a:t>
            </a:r>
            <a:r>
              <a:rPr lang="en-US" altLang="zh-CN"/>
              <a:t>socketClient</a:t>
            </a:r>
            <a:r>
              <a:rPr lang="zh-CN" altLang="en-US"/>
              <a:t>、</a:t>
            </a:r>
            <a:r>
              <a:rPr lang="en-US" altLang="zh-CN"/>
              <a:t>AudioSendClient</a:t>
            </a:r>
            <a:r>
              <a:rPr lang="zh-CN" altLang="en-US"/>
              <a:t>、</a:t>
            </a:r>
            <a:r>
              <a:rPr lang="en-US" altLang="zh-CN"/>
              <a:t>AudioReceiveClient</a:t>
            </a:r>
            <a:r>
              <a:rPr lang="zh-CN" altLang="en-US"/>
              <a:t>、</a:t>
            </a:r>
            <a:r>
              <a:rPr lang="en-US" altLang="zh-CN"/>
              <a:t>TouchSensor</a:t>
            </a:r>
            <a:r>
              <a:rPr lang="zh-CN" altLang="en-US"/>
              <a:t>、</a:t>
            </a:r>
            <a:r>
              <a:rPr lang="en-US" altLang="zh-CN"/>
              <a:t>ActionController</a:t>
            </a:r>
            <a:r>
              <a:rPr lang="zh-CN" altLang="en-US"/>
              <a:t>。</a:t>
            </a:r>
            <a:endParaRPr lang="zh-CN" altLang="en-US"/>
          </a:p>
          <a:p>
            <a:pPr indent="457200">
              <a:lnSpc>
                <a:spcPct val="120000"/>
              </a:lnSpc>
            </a:pP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整体架构</a:t>
            </a:r>
            <a:endParaRPr lang="zh-CN" altLang="en-US" sz="2400" b="1" dirty="0"/>
          </a:p>
        </p:txBody>
      </p:sp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2051050" y="1016000"/>
            <a:ext cx="7853680" cy="51695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Socket Server&amp;Client</a:t>
            </a:r>
            <a:endParaRPr lang="en-US" altLang="zh-CN" sz="2400" b="1" dirty="0"/>
          </a:p>
        </p:txBody>
      </p:sp>
      <p:pic>
        <p:nvPicPr>
          <p:cNvPr id="7" name="图片 6"/>
          <p:cNvPicPr/>
          <p:nvPr/>
        </p:nvPicPr>
        <p:blipFill>
          <a:blip r:embed="rId1"/>
          <a:stretch>
            <a:fillRect/>
          </a:stretch>
        </p:blipFill>
        <p:spPr>
          <a:xfrm>
            <a:off x="259080" y="1547495"/>
            <a:ext cx="5803900" cy="3166110"/>
          </a:xfrm>
          <a:prstGeom prst="rect">
            <a:avLst/>
          </a:prstGeom>
        </p:spPr>
      </p:pic>
      <p:pic>
        <p:nvPicPr>
          <p:cNvPr id="8" name="图片 7"/>
          <p:cNvPicPr/>
          <p:nvPr/>
        </p:nvPicPr>
        <p:blipFill>
          <a:blip r:embed="rId2"/>
          <a:stretch>
            <a:fillRect/>
          </a:stretch>
        </p:blipFill>
        <p:spPr>
          <a:xfrm>
            <a:off x="6175375" y="1547495"/>
            <a:ext cx="5739765" cy="38576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Socket-asrServer</a:t>
            </a:r>
            <a:endParaRPr lang="en-US" altLang="zh-CN" sz="2400" b="1" dirty="0"/>
          </a:p>
        </p:txBody>
      </p:sp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682625" y="1967865"/>
            <a:ext cx="5133340" cy="3088005"/>
          </a:xfrm>
          <a:prstGeom prst="rect">
            <a:avLst/>
          </a:prstGeom>
        </p:spPr>
      </p:pic>
      <p:pic>
        <p:nvPicPr>
          <p:cNvPr id="4" name="图片 3"/>
          <p:cNvPicPr/>
          <p:nvPr/>
        </p:nvPicPr>
        <p:blipFill>
          <a:blip r:embed="rId2"/>
          <a:stretch>
            <a:fillRect/>
          </a:stretch>
        </p:blipFill>
        <p:spPr>
          <a:xfrm>
            <a:off x="5959475" y="1888490"/>
            <a:ext cx="6009640" cy="3332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520" y="294640"/>
            <a:ext cx="4944110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Socket-</a:t>
            </a:r>
            <a:r>
              <a:rPr lang="en-US" altLang="zh-CN" sz="2400" b="1" dirty="0"/>
              <a:t>ttsClient</a:t>
            </a:r>
            <a:endParaRPr lang="en-US" altLang="zh-CN" sz="2400" b="1" dirty="0"/>
          </a:p>
        </p:txBody>
      </p:sp>
      <p:pic>
        <p:nvPicPr>
          <p:cNvPr id="5" name="图片 4"/>
          <p:cNvPicPr/>
          <p:nvPr/>
        </p:nvPicPr>
        <p:blipFill>
          <a:blip r:embed="rId1"/>
          <a:stretch>
            <a:fillRect/>
          </a:stretch>
        </p:blipFill>
        <p:spPr>
          <a:xfrm>
            <a:off x="2167255" y="1991995"/>
            <a:ext cx="7501890" cy="28733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520" y="294640"/>
            <a:ext cx="4944110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yolo-RPC</a:t>
            </a:r>
            <a:endParaRPr lang="en-US" altLang="zh-CN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985520" y="1139190"/>
            <a:ext cx="57365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https://github.com/hukenovs/hagrid?tab=readme-ov-file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7175" y="1738630"/>
            <a:ext cx="7211695" cy="225742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6355" y="4338955"/>
            <a:ext cx="4088765" cy="220599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25" y="4691380"/>
            <a:ext cx="2903220" cy="150114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4385" y="4398645"/>
            <a:ext cx="2437130" cy="21463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520" y="294640"/>
            <a:ext cx="4944110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yolo-RPC</a:t>
            </a:r>
            <a:endParaRPr lang="en-US" altLang="zh-CN" sz="2400" b="1" dirty="0"/>
          </a:p>
        </p:txBody>
      </p:sp>
      <p:pic>
        <p:nvPicPr>
          <p:cNvPr id="8" name="图片 7"/>
          <p:cNvPicPr/>
          <p:nvPr/>
        </p:nvPicPr>
        <p:blipFill>
          <a:blip r:embed="rId1"/>
          <a:stretch>
            <a:fillRect/>
          </a:stretch>
        </p:blipFill>
        <p:spPr>
          <a:xfrm>
            <a:off x="2261235" y="1732915"/>
            <a:ext cx="7266305" cy="35350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520" y="294640"/>
            <a:ext cx="4944110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mcp-action</a:t>
            </a:r>
            <a:endParaRPr lang="en-US" altLang="zh-CN" sz="2400" b="1" dirty="0"/>
          </a:p>
        </p:txBody>
      </p:sp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1923415" y="2165985"/>
            <a:ext cx="8493760" cy="23672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练习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1199515" y="1060450"/>
            <a:ext cx="9382760" cy="18726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altLang="zh-CN" sz="2400"/>
              <a:t>1. </a:t>
            </a:r>
            <a:r>
              <a:rPr lang="zh-CN" altLang="en-US" sz="2400"/>
              <a:t>使用已学模块，实现一个综合</a:t>
            </a:r>
            <a:r>
              <a:rPr lang="zh-CN" altLang="en-US" sz="2400"/>
              <a:t>功能。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2. </a:t>
            </a:r>
            <a:r>
              <a:rPr lang="zh-CN" altLang="en-US" sz="2400"/>
              <a:t>录制完整的机器人演示视频。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3.</a:t>
            </a:r>
            <a:r>
              <a:rPr lang="zh-CN" altLang="en-US" sz="2400"/>
              <a:t>制作</a:t>
            </a:r>
            <a:r>
              <a:rPr lang="en-US" altLang="zh-CN" sz="2400"/>
              <a:t>ppt</a:t>
            </a:r>
            <a:r>
              <a:rPr lang="zh-CN" altLang="en-US" sz="2400"/>
              <a:t>，在最后一节课简单讲解各个功能设计。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4.</a:t>
            </a:r>
            <a:r>
              <a:rPr lang="zh-CN" altLang="en-US" sz="2400"/>
              <a:t>将代码、</a:t>
            </a:r>
            <a:r>
              <a:rPr lang="en-US" altLang="zh-CN" sz="2400"/>
              <a:t>ppt</a:t>
            </a:r>
            <a:r>
              <a:rPr lang="zh-CN" altLang="en-US" sz="2400"/>
              <a:t>、演示</a:t>
            </a:r>
            <a:r>
              <a:rPr lang="zh-CN" altLang="en-US" sz="2400"/>
              <a:t>视频推送到</a:t>
            </a:r>
            <a:r>
              <a:rPr lang="en-US" altLang="zh-CN" sz="2400"/>
              <a:t>github</a:t>
            </a:r>
            <a:r>
              <a:rPr lang="zh-CN" altLang="en-US" sz="2400"/>
              <a:t>。</a:t>
            </a:r>
            <a:endParaRPr lang="zh-CN" alt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041964" y="2338038"/>
            <a:ext cx="1457608" cy="132207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altLang="zh-CN" sz="8000" dirty="0">
                <a:solidFill>
                  <a:srgbClr val="E89E00"/>
                </a:solidFill>
                <a:ea typeface="Arial Unicode MS" panose="020B0604020202020204" pitchFamily="34" charset="-122"/>
                <a:cs typeface="Arial Unicode MS" panose="020B0604020202020204" pitchFamily="34" charset="-122"/>
              </a:rPr>
              <a:t>8</a:t>
            </a:r>
            <a:endParaRPr lang="en-US" altLang="zh-CN" sz="8000" dirty="0">
              <a:solidFill>
                <a:srgbClr val="E89E00"/>
              </a:solidFill>
              <a:ea typeface="Arial Unicode MS" panose="020B0604020202020204" pitchFamily="34" charset="-122"/>
              <a:cs typeface="Arial Unicode MS" panose="020B0604020202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5186014" y="3076017"/>
            <a:ext cx="4887877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第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8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课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	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完</a:t>
            </a:r>
            <a:endParaRPr lang="en-US" altLang="zh-CN" sz="3600" b="1" dirty="0" smtClean="0">
              <a:solidFill>
                <a:prstClr val="black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186012" y="2337353"/>
            <a:ext cx="6761573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dirty="0" smtClean="0">
                <a:solidFill>
                  <a:srgbClr val="4472C4"/>
                </a:solidFill>
              </a:rPr>
              <a:t>大模型与机器人</a:t>
            </a:r>
            <a:r>
              <a:rPr lang="zh-CN" altLang="en-US" sz="3200" dirty="0" smtClean="0">
                <a:solidFill>
                  <a:srgbClr val="4472C4"/>
                </a:solidFill>
              </a:rPr>
              <a:t>整合</a:t>
            </a:r>
            <a:endParaRPr lang="zh-CN" altLang="en-US" sz="3200" dirty="0" smtClean="0">
              <a:solidFill>
                <a:srgbClr val="4472C4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2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3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4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tailEnd type="none"/>
        </a:ln>
      </a:spPr>
      <a:bodyPr/>
      <a:lstStyle/>
      <a:style>
        <a:lnRef idx="3">
          <a:schemeClr val="accent4"/>
        </a:lnRef>
        <a:fillRef idx="0">
          <a:schemeClr val="accent4"/>
        </a:fillRef>
        <a:effectRef idx="2">
          <a:schemeClr val="accent4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4472C4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485</Words>
  <Application>WPS 演示</Application>
  <PresentationFormat>宽屏</PresentationFormat>
  <Paragraphs>40</Paragraphs>
  <Slides>11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华文新魏</vt:lpstr>
      <vt:lpstr>黑体</vt:lpstr>
      <vt:lpstr>微软雅黑</vt:lpstr>
      <vt:lpstr>华文行楷</vt:lpstr>
      <vt:lpstr>Arial Unicode MS</vt:lpstr>
      <vt:lpstr>Calibri</vt:lpstr>
      <vt:lpstr>Arial Unicode MS</vt:lpstr>
      <vt:lpstr>Office 主题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上海仪酷智能科技有限公司</dc:creator>
  <cp:lastModifiedBy>╭⌒better进行时</cp:lastModifiedBy>
  <cp:revision>1027</cp:revision>
  <dcterms:created xsi:type="dcterms:W3CDTF">2017-07-25T03:07:00Z</dcterms:created>
  <dcterms:modified xsi:type="dcterms:W3CDTF">2025-12-01T23:51:44Z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8841B4F7B610481D8E35DE8E2DF00779_13</vt:lpwstr>
  </property>
  <property fmtid="{D5CDD505-2E9C-101B-9397-08002B2CF9AE}" pid="3" name="KSOProductBuildVer">
    <vt:lpwstr>2052-12.1.0.23542</vt:lpwstr>
  </property>
</Properties>
</file>