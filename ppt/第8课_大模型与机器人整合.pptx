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3"/>
  </p:sldMasterIdLst>
  <p:notesMasterIdLst>
    <p:notesMasterId r:id="rId6"/>
  </p:notesMasterIdLst>
  <p:handoutMasterIdLst>
    <p:handoutMasterId r:id="rId15"/>
  </p:handoutMasterIdLst>
  <p:sldIdLst>
    <p:sldId id="463" r:id="rId4"/>
    <p:sldId id="364" r:id="rId5"/>
    <p:sldId id="451" r:id="rId7"/>
    <p:sldId id="464" r:id="rId8"/>
    <p:sldId id="465" r:id="rId9"/>
    <p:sldId id="467" r:id="rId10"/>
    <p:sldId id="468" r:id="rId11"/>
    <p:sldId id="469" r:id="rId12"/>
    <p:sldId id="356" r:id="rId13"/>
    <p:sldId id="320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28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马奇" initials="马奇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89E00"/>
    <a:srgbClr val="FF9900"/>
    <a:srgbClr val="FFCCCC"/>
    <a:srgbClr val="D8BBA1"/>
    <a:srgbClr val="E2C718"/>
    <a:srgbClr val="D61621"/>
    <a:srgbClr val="FFD002"/>
    <a:srgbClr val="FF6666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8" autoAdjust="0"/>
    <p:restoredTop sz="79859" autoAdjust="0"/>
  </p:normalViewPr>
  <p:slideViewPr>
    <p:cSldViewPr snapToGrid="0" showGuides="1">
      <p:cViewPr varScale="1">
        <p:scale>
          <a:sx n="83" d="100"/>
          <a:sy n="83" d="100"/>
        </p:scale>
        <p:origin x="438" y="84"/>
      </p:cViewPr>
      <p:guideLst>
        <p:guide pos="3840"/>
        <p:guide orient="horz" pos="22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commentAuthors" Target="commentAuthors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35978-AA0F-4019-89CE-7C0DBBEECEE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629C50-E8D2-44C1-A6BB-3798535718E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 7"/>
          <p:cNvSpPr/>
          <p:nvPr userDrawn="1"/>
        </p:nvSpPr>
        <p:spPr>
          <a:xfrm rot="5400000">
            <a:off x="4050259" y="-4050255"/>
            <a:ext cx="1802935" cy="990345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9" name="任意多边形 8"/>
          <p:cNvSpPr/>
          <p:nvPr userDrawn="1"/>
        </p:nvSpPr>
        <p:spPr>
          <a:xfrm flipH="1">
            <a:off x="10111813" y="1412240"/>
            <a:ext cx="2080184" cy="544576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2385073" y="-2385070"/>
            <a:ext cx="1061693" cy="583184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483399" y="-1483401"/>
            <a:ext cx="660321" cy="362712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2" name="任意多边形 11"/>
          <p:cNvSpPr/>
          <p:nvPr userDrawn="1"/>
        </p:nvSpPr>
        <p:spPr>
          <a:xfrm flipH="1">
            <a:off x="10993120" y="3719437"/>
            <a:ext cx="1198876" cy="3138563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73790" y="-94255"/>
            <a:ext cx="2995243" cy="1264792"/>
            <a:chOff x="8303568" y="2694"/>
            <a:chExt cx="3888434" cy="1641957"/>
          </a:xfrm>
        </p:grpSpPr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1156" y="221822"/>
              <a:ext cx="2909748" cy="1422829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8303571" y="2694"/>
              <a:ext cx="3888431" cy="6069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800" dirty="0"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sz="3200" dirty="0">
                <a:solidFill>
                  <a:srgbClr val="0070C0"/>
                </a:solidFill>
                <a:latin typeface="+mj-lt"/>
                <a:ea typeface="华文新魏" panose="02010800040101010101" pitchFamily="2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303568" y="274888"/>
              <a:ext cx="3888431" cy="9797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3200" dirty="0">
                  <a:solidFill>
                    <a:srgbClr val="0070C0"/>
                  </a:solidFill>
                  <a:ea typeface="华文新魏" panose="02010800040101010101" pitchFamily="2" charset="-122"/>
                </a:rPr>
                <a:t>VI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R </a:t>
              </a:r>
              <a:r>
                <a:rPr lang="en-US" altLang="zh-CN" sz="3200" dirty="0">
                  <a:ea typeface="华文新魏" panose="02010800040101010101" pitchFamily="2" charset="-122"/>
                </a:rPr>
                <a:t>      </a:t>
              </a:r>
              <a:r>
                <a:rPr lang="en-US" altLang="zh-CN" sz="3200" dirty="0">
                  <a:solidFill>
                    <a:schemeClr val="bg1">
                      <a:lumMod val="65000"/>
                    </a:schemeClr>
                  </a:solidFill>
                  <a:ea typeface="华文新魏" panose="02010800040101010101" pitchFamily="2" charset="-122"/>
                </a:rPr>
                <a:t>tics</a:t>
              </a:r>
              <a:endParaRPr lang="en-US" altLang="zh-CN" sz="3200" dirty="0">
                <a:solidFill>
                  <a:schemeClr val="bg1">
                    <a:lumMod val="65000"/>
                  </a:schemeClr>
                </a:solidFill>
                <a:ea typeface="华文新魏" panose="02010800040101010101" pitchFamily="2" charset="-122"/>
              </a:endParaRPr>
            </a:p>
          </p:txBody>
        </p:sp>
      </p:grpSp>
      <p:sp>
        <p:nvSpPr>
          <p:cNvPr id="16" name="任意多边形 15"/>
          <p:cNvSpPr/>
          <p:nvPr userDrawn="1"/>
        </p:nvSpPr>
        <p:spPr>
          <a:xfrm rot="5400000" flipH="1">
            <a:off x="140597" y="5298178"/>
            <a:ext cx="1419223" cy="170041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7" name="任意多边形 16"/>
          <p:cNvSpPr/>
          <p:nvPr userDrawn="1"/>
        </p:nvSpPr>
        <p:spPr>
          <a:xfrm rot="5400000" flipH="1">
            <a:off x="86469" y="5898692"/>
            <a:ext cx="872838" cy="104577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新年快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151"/>
            <a:ext cx="2395959" cy="156412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任意多边形 13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D61621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sp>
        <p:nvSpPr>
          <p:cNvPr id="15" name="任意多边形 14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2C71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/>
          </a:p>
        </p:txBody>
      </p:sp>
      <p:pic>
        <p:nvPicPr>
          <p:cNvPr id="21" name="图片 20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51064" y="748598"/>
            <a:ext cx="1221533" cy="45097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/>
            </a:p>
          </p:txBody>
        </p:sp>
      </p:grpSp>
      <p:pic>
        <p:nvPicPr>
          <p:cNvPr id="11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直角三角形 13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 23"/>
          <p:cNvSpPr/>
          <p:nvPr userDrawn="1"/>
        </p:nvSpPr>
        <p:spPr>
          <a:xfrm rot="10800000" flipH="1">
            <a:off x="-3" y="-2"/>
            <a:ext cx="4563538" cy="2514602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8" name="任意多边形 7"/>
          <p:cNvSpPr/>
          <p:nvPr userDrawn="1"/>
        </p:nvSpPr>
        <p:spPr>
          <a:xfrm rot="5400000">
            <a:off x="3805768" y="-3805763"/>
            <a:ext cx="1168396" cy="877993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 rot="5400000">
            <a:off x="1697568" y="-1697564"/>
            <a:ext cx="1168399" cy="4563535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11" name="任意多边形 10"/>
          <p:cNvSpPr/>
          <p:nvPr userDrawn="1"/>
        </p:nvSpPr>
        <p:spPr>
          <a:xfrm rot="5400000">
            <a:off x="1127283" y="-1127283"/>
            <a:ext cx="827303" cy="3081870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lnTo>
                  <a:pt x="6907593" y="1776503"/>
                </a:lnTo>
                <a:lnTo>
                  <a:pt x="0" y="1776503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9239095" y="76203"/>
            <a:ext cx="3666413" cy="1775426"/>
            <a:chOff x="9196760" y="0"/>
            <a:chExt cx="3666413" cy="1775426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62065" y="307923"/>
              <a:ext cx="3001108" cy="1467503"/>
            </a:xfrm>
            <a:prstGeom prst="rect">
              <a:avLst/>
            </a:prstGeom>
          </p:spPr>
        </p:pic>
        <p:sp>
          <p:nvSpPr>
            <p:cNvPr id="14" name="文本框 13"/>
            <p:cNvSpPr txBox="1"/>
            <p:nvPr/>
          </p:nvSpPr>
          <p:spPr>
            <a:xfrm>
              <a:off x="9196760" y="0"/>
              <a:ext cx="29952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上海交通大学工程训练中心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  <a:p>
              <a:pPr algn="ctr"/>
              <a:r>
                <a:rPr lang="zh-CN" altLang="en-US" dirty="0" smtClean="0">
                  <a:solidFill>
                    <a:prstClr val="black"/>
                  </a:solidFill>
                  <a:latin typeface="华文新魏" panose="02010800040101010101" pitchFamily="2" charset="-122"/>
                  <a:ea typeface="华文新魏" panose="02010800040101010101" pitchFamily="2" charset="-122"/>
                </a:rPr>
                <a:t>上海仪酷智能科技有限公司</a:t>
              </a:r>
              <a:endParaRPr lang="en-US" altLang="zh-CN" dirty="0" smtClean="0">
                <a:solidFill>
                  <a:prstClr val="black"/>
                </a:solidFill>
                <a:latin typeface="华文新魏" panose="02010800040101010101" pitchFamily="2" charset="-122"/>
                <a:ea typeface="华文新魏" panose="02010800040101010101" pitchFamily="2" charset="-122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0533" y="660321"/>
              <a:ext cx="762708" cy="762708"/>
            </a:xfrm>
            <a:prstGeom prst="rect">
              <a:avLst/>
            </a:prstGeom>
          </p:spPr>
        </p:pic>
      </p:grpSp>
      <p:grpSp>
        <p:nvGrpSpPr>
          <p:cNvPr id="62" name="组合 61"/>
          <p:cNvGrpSpPr/>
          <p:nvPr userDrawn="1"/>
        </p:nvGrpSpPr>
        <p:grpSpPr>
          <a:xfrm rot="10800000">
            <a:off x="8779935" y="4741014"/>
            <a:ext cx="3412065" cy="2116984"/>
            <a:chOff x="2810930" y="2822526"/>
            <a:chExt cx="8779937" cy="2526726"/>
          </a:xfrm>
        </p:grpSpPr>
        <p:sp>
          <p:nvSpPr>
            <p:cNvPr id="58" name="任意多边形 57"/>
            <p:cNvSpPr/>
            <p:nvPr userDrawn="1"/>
          </p:nvSpPr>
          <p:spPr>
            <a:xfrm rot="10800000" flipH="1">
              <a:off x="2810930" y="2834650"/>
              <a:ext cx="4563537" cy="2514602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E89E0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59" name="任意多边形 58"/>
            <p:cNvSpPr/>
            <p:nvPr userDrawn="1"/>
          </p:nvSpPr>
          <p:spPr>
            <a:xfrm rot="5400000">
              <a:off x="6616701" y="-983237"/>
              <a:ext cx="1168396" cy="8779937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rgbClr val="157DA8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0" name="任意多边形 59"/>
            <p:cNvSpPr/>
            <p:nvPr userDrawn="1"/>
          </p:nvSpPr>
          <p:spPr>
            <a:xfrm rot="5400000">
              <a:off x="4508501" y="1124962"/>
              <a:ext cx="1168399" cy="4563535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  <p:sp>
          <p:nvSpPr>
            <p:cNvPr id="61" name="任意多边形 60"/>
            <p:cNvSpPr/>
            <p:nvPr userDrawn="1"/>
          </p:nvSpPr>
          <p:spPr>
            <a:xfrm rot="5400000">
              <a:off x="3938216" y="1695243"/>
              <a:ext cx="827303" cy="3081870"/>
            </a:xfrm>
            <a:custGeom>
              <a:avLst/>
              <a:gdLst>
                <a:gd name="connsiteX0" fmla="*/ 0 w 6907593"/>
                <a:gd name="connsiteY0" fmla="*/ 0 h 1776503"/>
                <a:gd name="connsiteX1" fmla="*/ 6907593 w 6907593"/>
                <a:gd name="connsiteY1" fmla="*/ 1776503 h 1776503"/>
                <a:gd name="connsiteX2" fmla="*/ 0 w 6907593"/>
                <a:gd name="connsiteY2" fmla="*/ 1776503 h 1776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907593" h="1776503">
                  <a:moveTo>
                    <a:pt x="0" y="0"/>
                  </a:moveTo>
                  <a:lnTo>
                    <a:pt x="6907593" y="1776503"/>
                  </a:lnTo>
                  <a:lnTo>
                    <a:pt x="0" y="1776503"/>
                  </a:lnTo>
                  <a:close/>
                </a:path>
              </a:pathLst>
            </a:cu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05">
                <a:solidFill>
                  <a:prstClr val="white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H_Others_1"/>
          <p:cNvSpPr/>
          <p:nvPr userDrawn="1">
            <p:custDataLst>
              <p:tags r:id="rId2"/>
            </p:custDataLst>
          </p:nvPr>
        </p:nvSpPr>
        <p:spPr>
          <a:xfrm>
            <a:off x="10312400" y="449"/>
            <a:ext cx="1879600" cy="6857551"/>
          </a:xfrm>
          <a:prstGeom prst="rect">
            <a:avLst/>
          </a:pr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90" dirty="0">
              <a:solidFill>
                <a:prstClr val="white"/>
              </a:solidFill>
              <a:latin typeface="黑体" panose="02010609060101010101" pitchFamily="49" charset="-122"/>
              <a:ea typeface="黑体" panose="02010609060101010101" pitchFamily="49" charset="-122"/>
              <a:sym typeface="Arial" panose="020B0604020202020204" pitchFamily="34" charset="0"/>
            </a:endParaRPr>
          </a:p>
        </p:txBody>
      </p:sp>
      <p:sp>
        <p:nvSpPr>
          <p:cNvPr id="4" name="MH_Others_2"/>
          <p:cNvSpPr/>
          <p:nvPr userDrawn="1">
            <p:custDataLst>
              <p:tags r:id="rId3"/>
            </p:custDataLst>
          </p:nvPr>
        </p:nvSpPr>
        <p:spPr>
          <a:xfrm>
            <a:off x="10011847" y="1"/>
            <a:ext cx="132066" cy="6861462"/>
          </a:xfrm>
          <a:prstGeom prst="rect">
            <a:avLst/>
          </a:pr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>
              <a:solidFill>
                <a:prstClr val="white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1"/>
          <p:cNvSpPr/>
          <p:nvPr userDrawn="1"/>
        </p:nvSpPr>
        <p:spPr>
          <a:xfrm>
            <a:off x="0" y="4438650"/>
            <a:ext cx="12188991" cy="2426627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  <a:gd name="connsiteX0-15" fmla="*/ 0 w 6907593"/>
              <a:gd name="connsiteY0-16" fmla="*/ 0 h 1776503"/>
              <a:gd name="connsiteX1-17" fmla="*/ 6907593 w 6907593"/>
              <a:gd name="connsiteY1-18" fmla="*/ 1776503 h 1776503"/>
              <a:gd name="connsiteX2-19" fmla="*/ 0 w 6907593"/>
              <a:gd name="connsiteY2-20" fmla="*/ 1776503 h 1776503"/>
              <a:gd name="connsiteX3-21" fmla="*/ 0 w 6907593"/>
              <a:gd name="connsiteY3-22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2091413" y="1639688"/>
                  <a:pt x="4374752" y="158722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157DA8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sp>
        <p:nvSpPr>
          <p:cNvPr id="3" name="任意多边形 2"/>
          <p:cNvSpPr/>
          <p:nvPr userDrawn="1"/>
        </p:nvSpPr>
        <p:spPr>
          <a:xfrm flipH="1">
            <a:off x="6229348" y="5057775"/>
            <a:ext cx="5969693" cy="1807736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rgbClr val="E89E0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  <p:cxnSp>
        <p:nvCxnSpPr>
          <p:cNvPr id="6" name="直接连接符 5"/>
          <p:cNvCxnSpPr/>
          <p:nvPr userDrawn="1"/>
        </p:nvCxnSpPr>
        <p:spPr>
          <a:xfrm flipV="1">
            <a:off x="5013503" y="2190063"/>
            <a:ext cx="0" cy="1997354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042969" y="2258053"/>
            <a:ext cx="1476644" cy="1476644"/>
            <a:chOff x="304800" y="673100"/>
            <a:chExt cx="4000500" cy="4000500"/>
          </a:xfrm>
          <a:effectLst>
            <a:outerShdw blurRad="444500" dist="254000" dir="8100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同心圆 8"/>
            <p:cNvSpPr/>
            <p:nvPr/>
          </p:nvSpPr>
          <p:spPr>
            <a:xfrm>
              <a:off x="304800" y="673100"/>
              <a:ext cx="4000500" cy="4000500"/>
            </a:xfrm>
            <a:prstGeom prst="donut">
              <a:avLst>
                <a:gd name="adj" fmla="val 4879"/>
              </a:avLst>
            </a:prstGeom>
            <a:gradFill>
              <a:gsLst>
                <a:gs pos="0">
                  <a:schemeClr val="bg1"/>
                </a:gs>
                <a:gs pos="55000">
                  <a:schemeClr val="bg1">
                    <a:lumMod val="95000"/>
                  </a:schemeClr>
                </a:gs>
                <a:gs pos="100000">
                  <a:schemeClr val="bg1">
                    <a:lumMod val="65000"/>
                  </a:schemeClr>
                </a:gs>
              </a:gsLst>
              <a:lin ang="81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  <p:sp>
          <p:nvSpPr>
            <p:cNvPr id="10" name="椭圆 9"/>
            <p:cNvSpPr/>
            <p:nvPr userDrawn="1"/>
          </p:nvSpPr>
          <p:spPr>
            <a:xfrm>
              <a:off x="392112" y="760412"/>
              <a:ext cx="3825874" cy="3825874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5100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  <a:lin ang="189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80808"/>
                </a:solidFill>
                <a:latin typeface="宋体" panose="02010600030101010101" pitchFamily="2" charset="-122"/>
              </a:endParaRPr>
            </a:p>
          </p:txBody>
        </p:sp>
      </p:grpSp>
      <p:sp>
        <p:nvSpPr>
          <p:cNvPr id="11" name="任意多边形 10"/>
          <p:cNvSpPr/>
          <p:nvPr userDrawn="1"/>
        </p:nvSpPr>
        <p:spPr>
          <a:xfrm rot="10800000" flipH="1">
            <a:off x="1" y="-4"/>
            <a:ext cx="2657474" cy="1752604"/>
          </a:xfrm>
          <a:custGeom>
            <a:avLst/>
            <a:gdLst>
              <a:gd name="connsiteX0" fmla="*/ 0 w 6907593"/>
              <a:gd name="connsiteY0" fmla="*/ 0 h 1776503"/>
              <a:gd name="connsiteX1" fmla="*/ 6907593 w 6907593"/>
              <a:gd name="connsiteY1" fmla="*/ 1776503 h 1776503"/>
              <a:gd name="connsiteX2" fmla="*/ 0 w 6907593"/>
              <a:gd name="connsiteY2" fmla="*/ 1776503 h 1776503"/>
              <a:gd name="connsiteX0-1" fmla="*/ 0 w 6907593"/>
              <a:gd name="connsiteY0-2" fmla="*/ 0 h 1776503"/>
              <a:gd name="connsiteX1-3" fmla="*/ 6907593 w 6907593"/>
              <a:gd name="connsiteY1-4" fmla="*/ 1776503 h 1776503"/>
              <a:gd name="connsiteX2-5" fmla="*/ 0 w 6907593"/>
              <a:gd name="connsiteY2-6" fmla="*/ 1776503 h 1776503"/>
              <a:gd name="connsiteX3" fmla="*/ 0 w 6907593"/>
              <a:gd name="connsiteY3" fmla="*/ 0 h 1776503"/>
              <a:gd name="connsiteX0-7" fmla="*/ 0 w 6907593"/>
              <a:gd name="connsiteY0-8" fmla="*/ 0 h 1776503"/>
              <a:gd name="connsiteX1-9" fmla="*/ 6907593 w 6907593"/>
              <a:gd name="connsiteY1-10" fmla="*/ 1776503 h 1776503"/>
              <a:gd name="connsiteX2-11" fmla="*/ 0 w 6907593"/>
              <a:gd name="connsiteY2-12" fmla="*/ 1776503 h 1776503"/>
              <a:gd name="connsiteX3-13" fmla="*/ 0 w 6907593"/>
              <a:gd name="connsiteY3-14" fmla="*/ 0 h 177650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13" y="connsiteY3-14"/>
              </a:cxn>
            </a:cxnLst>
            <a:rect l="l" t="t" r="r" b="b"/>
            <a:pathLst>
              <a:path w="6907593" h="1776503">
                <a:moveTo>
                  <a:pt x="0" y="0"/>
                </a:moveTo>
                <a:cubicBezTo>
                  <a:pt x="1979235" y="1345282"/>
                  <a:pt x="4428718" y="1766287"/>
                  <a:pt x="6907593" y="1776503"/>
                </a:cubicBezTo>
                <a:lnTo>
                  <a:pt x="0" y="177650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05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综合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5" name="矩形 4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pic>
        <p:nvPicPr>
          <p:cNvPr id="7" name="Picture 8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3455" y="349038"/>
            <a:ext cx="1569142" cy="399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直角三角形 7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9" name="直角三角形 8"/>
          <p:cNvSpPr/>
          <p:nvPr userDrawn="1"/>
        </p:nvSpPr>
        <p:spPr>
          <a:xfrm>
            <a:off x="0" y="6417733"/>
            <a:ext cx="12107336" cy="4402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4472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4472C4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讲</a:t>
            </a:r>
            <a:endParaRPr lang="zh-CN" altLang="en-US" sz="9600" dirty="0">
              <a:solidFill>
                <a:srgbClr val="4472C4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5" name="直角三角形 14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0">
                <a:srgbClr val="5CC1EA">
                  <a:shade val="30000"/>
                  <a:satMod val="115000"/>
                  <a:alpha val="31000"/>
                </a:srgbClr>
              </a:gs>
              <a:gs pos="50000">
                <a:srgbClr val="5CC1EA">
                  <a:shade val="67500"/>
                  <a:satMod val="115000"/>
                </a:srgbClr>
              </a:gs>
              <a:gs pos="100000">
                <a:srgbClr val="5CC1EA">
                  <a:shade val="100000"/>
                  <a:satMod val="115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rgbClr val="E89E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rgbClr val="E89E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14" name="直角三角形 13"/>
          <p:cNvSpPr/>
          <p:nvPr userDrawn="1"/>
        </p:nvSpPr>
        <p:spPr>
          <a:xfrm>
            <a:off x="0" y="6477000"/>
            <a:ext cx="12107336" cy="381000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srgbClr val="E89E00"/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例</a:t>
            </a:r>
            <a:endParaRPr lang="zh-CN" altLang="en-US" sz="9600" dirty="0">
              <a:solidFill>
                <a:srgbClr val="E89E00"/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1" name="直角三角形 10"/>
          <p:cNvSpPr/>
          <p:nvPr userDrawn="1"/>
        </p:nvSpPr>
        <p:spPr>
          <a:xfrm rot="10800000">
            <a:off x="84664" y="3977"/>
            <a:ext cx="12107336" cy="345367"/>
          </a:xfrm>
          <a:prstGeom prst="rtTriangl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0">
                <a:schemeClr val="accent4">
                  <a:lumMod val="0"/>
                  <a:lumOff val="100000"/>
                </a:schemeClr>
              </a:gs>
              <a:gs pos="39000">
                <a:schemeClr val="accent4">
                  <a:lumMod val="10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1007435" y="833864"/>
            <a:ext cx="1046516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335360" y="277337"/>
            <a:ext cx="576064" cy="559375"/>
            <a:chOff x="298460" y="987574"/>
            <a:chExt cx="288032" cy="279687"/>
          </a:xfrm>
        </p:grpSpPr>
        <p:sp>
          <p:nvSpPr>
            <p:cNvPr id="9" name="矩形 8"/>
            <p:cNvSpPr/>
            <p:nvPr/>
          </p:nvSpPr>
          <p:spPr>
            <a:xfrm>
              <a:off x="298460" y="987574"/>
              <a:ext cx="216024" cy="216024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406472" y="1087241"/>
              <a:ext cx="180020" cy="18002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">
                <a:solidFill>
                  <a:prstClr val="white"/>
                </a:solidFill>
              </a:endParaRPr>
            </a:p>
          </p:txBody>
        </p:sp>
      </p:grpSp>
      <p:sp>
        <p:nvSpPr>
          <p:cNvPr id="3" name="直角三角形 2"/>
          <p:cNvSpPr/>
          <p:nvPr userDrawn="1"/>
        </p:nvSpPr>
        <p:spPr>
          <a:xfrm rot="10800000">
            <a:off x="84662" y="-2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903498" y="-28448"/>
            <a:ext cx="15782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600" dirty="0" smtClean="0">
                <a:solidFill>
                  <a:prstClr val="white">
                    <a:lumMod val="50000"/>
                  </a:prst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练</a:t>
            </a:r>
            <a:endParaRPr lang="zh-CN" altLang="en-US" sz="9600" dirty="0">
              <a:solidFill>
                <a:prstClr val="white">
                  <a:lumMod val="50000"/>
                </a:prst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12" name="直角三角形 11"/>
          <p:cNvSpPr/>
          <p:nvPr userDrawn="1"/>
        </p:nvSpPr>
        <p:spPr>
          <a:xfrm>
            <a:off x="0" y="6508960"/>
            <a:ext cx="12107337" cy="349040"/>
          </a:xfrm>
          <a:prstGeom prst="rtTriangle">
            <a:avLst/>
          </a:prstGeom>
          <a:gradFill flip="none" rotWithShape="1">
            <a:gsLst>
              <a:gs pos="100000">
                <a:schemeClr val="bg1"/>
              </a:gs>
              <a:gs pos="29000">
                <a:schemeClr val="bg1">
                  <a:lumMod val="50000"/>
                </a:schemeClr>
              </a:gs>
              <a:gs pos="0">
                <a:schemeClr val="bg1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0" Type="http://schemas.openxmlformats.org/officeDocument/2006/relationships/theme" Target="../theme/theme2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/>
          <p:nvPr/>
        </p:nvSpPr>
        <p:spPr>
          <a:xfrm>
            <a:off x="2117725" y="2665730"/>
            <a:ext cx="7816850" cy="11068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大模型与机器人</a:t>
            </a:r>
            <a:r>
              <a:rPr lang="zh-CN" altLang="en-US" sz="6600" dirty="0" smtClean="0">
                <a:ln w="0"/>
                <a:solidFill>
                  <a:srgbClr val="157DA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整合</a:t>
            </a:r>
            <a:endParaRPr lang="zh-CN" altLang="en-US" sz="6600" dirty="0" smtClean="0">
              <a:ln w="0"/>
              <a:solidFill>
                <a:srgbClr val="157DA8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265920" y="86360"/>
            <a:ext cx="29876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上海交通大学学生创新</a:t>
            </a:r>
            <a:r>
              <a:rPr lang="zh-CN" altLang="en-US"/>
              <a:t>中心</a:t>
            </a:r>
            <a:endParaRPr lang="zh-CN" altLang="en-US"/>
          </a:p>
          <a:p>
            <a:r>
              <a:rPr lang="zh-CN" altLang="en-US"/>
              <a:t>上海仪酷智能科技</a:t>
            </a:r>
            <a:r>
              <a:rPr lang="zh-CN" altLang="en-US"/>
              <a:t>有限公司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整体架构</a:t>
            </a:r>
            <a:endParaRPr lang="zh-CN" altLang="en-US" sz="2400" b="1" dirty="0"/>
          </a:p>
        </p:txBody>
      </p:sp>
      <p:pic>
        <p:nvPicPr>
          <p:cNvPr id="7" name="图片 6"/>
          <p:cNvPicPr/>
          <p:nvPr/>
        </p:nvPicPr>
        <p:blipFill>
          <a:blip r:embed="rId1"/>
          <a:stretch>
            <a:fillRect/>
          </a:stretch>
        </p:blipFill>
        <p:spPr>
          <a:xfrm>
            <a:off x="2027555" y="934720"/>
            <a:ext cx="8462010" cy="55708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Socket Server&amp;Client</a:t>
            </a:r>
            <a:endParaRPr lang="en-US" altLang="zh-CN" sz="2400" b="1" dirty="0"/>
          </a:p>
        </p:txBody>
      </p:sp>
      <p:pic>
        <p:nvPicPr>
          <p:cNvPr id="7" name="图片 6"/>
          <p:cNvPicPr/>
          <p:nvPr/>
        </p:nvPicPr>
        <p:blipFill>
          <a:blip r:embed="rId1"/>
          <a:stretch>
            <a:fillRect/>
          </a:stretch>
        </p:blipFill>
        <p:spPr>
          <a:xfrm>
            <a:off x="259080" y="1547495"/>
            <a:ext cx="5803900" cy="3166110"/>
          </a:xfrm>
          <a:prstGeom prst="rect">
            <a:avLst/>
          </a:prstGeom>
        </p:spPr>
      </p:pic>
      <p:pic>
        <p:nvPicPr>
          <p:cNvPr id="8" name="图片 7"/>
          <p:cNvPicPr/>
          <p:nvPr/>
        </p:nvPicPr>
        <p:blipFill>
          <a:blip r:embed="rId2"/>
          <a:stretch>
            <a:fillRect/>
          </a:stretch>
        </p:blipFill>
        <p:spPr>
          <a:xfrm>
            <a:off x="6175375" y="1547495"/>
            <a:ext cx="5739765" cy="38576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Socket-asrServer</a:t>
            </a:r>
            <a:endParaRPr lang="en-US" altLang="zh-CN" sz="2400" b="1" dirty="0"/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682625" y="1967865"/>
            <a:ext cx="5133340" cy="3088005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2"/>
          <a:stretch>
            <a:fillRect/>
          </a:stretch>
        </p:blipFill>
        <p:spPr>
          <a:xfrm>
            <a:off x="5959475" y="1888490"/>
            <a:ext cx="6009640" cy="3332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494411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Socket-</a:t>
            </a:r>
            <a:r>
              <a:rPr lang="en-US" altLang="zh-CN" sz="2400" b="1" dirty="0"/>
              <a:t>ttsClient</a:t>
            </a:r>
            <a:endParaRPr lang="en-US" altLang="zh-CN" sz="2400" b="1" dirty="0"/>
          </a:p>
        </p:txBody>
      </p:sp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2167255" y="1991995"/>
            <a:ext cx="7501890" cy="28733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494411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yolo-RPC</a:t>
            </a:r>
            <a:endParaRPr lang="en-US" altLang="zh-CN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985520" y="1139190"/>
            <a:ext cx="57365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https://github.com/hukenovs/hagrid?tab=readme-ov-file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7175" y="1738630"/>
            <a:ext cx="7211695" cy="22574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6355" y="4338955"/>
            <a:ext cx="4088765" cy="22059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25" y="4691380"/>
            <a:ext cx="2903220" cy="150114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385" y="4398645"/>
            <a:ext cx="2437130" cy="2146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494411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yolo-RPC</a:t>
            </a:r>
            <a:endParaRPr lang="en-US" altLang="zh-CN" sz="2400" b="1" dirty="0"/>
          </a:p>
        </p:txBody>
      </p:sp>
      <p:pic>
        <p:nvPicPr>
          <p:cNvPr id="8" name="图片 7"/>
          <p:cNvPicPr/>
          <p:nvPr/>
        </p:nvPicPr>
        <p:blipFill>
          <a:blip r:embed="rId1"/>
          <a:stretch>
            <a:fillRect/>
          </a:stretch>
        </p:blipFill>
        <p:spPr>
          <a:xfrm>
            <a:off x="2261235" y="1732915"/>
            <a:ext cx="7266305" cy="35350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520" y="294640"/>
            <a:ext cx="4944110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/>
              <a:t>mcp-action</a:t>
            </a:r>
            <a:endParaRPr lang="en-US" altLang="zh-CN" sz="2400" b="1" dirty="0"/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1923415" y="2165985"/>
            <a:ext cx="8493760" cy="23672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985489" y="294717"/>
            <a:ext cx="5659151" cy="4603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400" b="1" dirty="0"/>
              <a:t>练习</a:t>
            </a:r>
            <a:endParaRPr lang="zh-CN" altLang="en-US" sz="2400" b="1" dirty="0"/>
          </a:p>
        </p:txBody>
      </p:sp>
      <p:sp>
        <p:nvSpPr>
          <p:cNvPr id="6" name="文本框 5"/>
          <p:cNvSpPr txBox="1"/>
          <p:nvPr/>
        </p:nvSpPr>
        <p:spPr>
          <a:xfrm>
            <a:off x="1199515" y="1060450"/>
            <a:ext cx="9382760" cy="1872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30000"/>
              </a:lnSpc>
            </a:pPr>
            <a:r>
              <a:rPr lang="en-US" altLang="zh-CN" sz="2400"/>
              <a:t>1. </a:t>
            </a:r>
            <a:r>
              <a:rPr lang="zh-CN" altLang="en-US" sz="2400"/>
              <a:t>使用已学模块，实现一个综合</a:t>
            </a:r>
            <a:r>
              <a:rPr lang="zh-CN" altLang="en-US" sz="2400"/>
              <a:t>功能。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2. </a:t>
            </a:r>
            <a:r>
              <a:rPr lang="zh-CN" altLang="en-US" sz="2400"/>
              <a:t>录制完整的机器人演示视频。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3.</a:t>
            </a:r>
            <a:r>
              <a:rPr lang="zh-CN" altLang="en-US" sz="2400"/>
              <a:t>制作</a:t>
            </a:r>
            <a:r>
              <a:rPr lang="en-US" altLang="zh-CN" sz="2400"/>
              <a:t>ppt</a:t>
            </a:r>
            <a:r>
              <a:rPr lang="zh-CN" altLang="en-US" sz="2400"/>
              <a:t>，在最后一节课简单讲解各个功能设计。</a:t>
            </a:r>
            <a:endParaRPr lang="zh-CN" altLang="en-US" sz="2400"/>
          </a:p>
          <a:p>
            <a:pPr>
              <a:lnSpc>
                <a:spcPct val="130000"/>
              </a:lnSpc>
            </a:pPr>
            <a:r>
              <a:rPr lang="en-US" altLang="zh-CN" sz="2400"/>
              <a:t>4.</a:t>
            </a:r>
            <a:r>
              <a:rPr lang="zh-CN" altLang="en-US" sz="2400"/>
              <a:t>将代码、</a:t>
            </a:r>
            <a:r>
              <a:rPr lang="en-US" altLang="zh-CN" sz="2400"/>
              <a:t>ppt</a:t>
            </a:r>
            <a:r>
              <a:rPr lang="zh-CN" altLang="en-US" sz="2400"/>
              <a:t>、演示</a:t>
            </a:r>
            <a:r>
              <a:rPr lang="zh-CN" altLang="en-US" sz="2400"/>
              <a:t>视频推送到</a:t>
            </a:r>
            <a:r>
              <a:rPr lang="en-US" altLang="zh-CN" sz="2400"/>
              <a:t>github</a:t>
            </a:r>
            <a:r>
              <a:rPr lang="zh-CN" altLang="en-US" sz="2400"/>
              <a:t>。</a:t>
            </a:r>
            <a:endParaRPr lang="zh-CN" altLang="en-US" sz="2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041964" y="2338038"/>
            <a:ext cx="1457608" cy="132207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en-US" altLang="zh-CN" sz="8000" dirty="0">
                <a:solidFill>
                  <a:srgbClr val="E89E00"/>
                </a:solidFill>
                <a:ea typeface="Arial Unicode MS" panose="020B0604020202020204" pitchFamily="34" charset="-122"/>
                <a:cs typeface="Arial Unicode MS" panose="020B0604020202020204" pitchFamily="34" charset="-122"/>
              </a:rPr>
              <a:t>8</a:t>
            </a:r>
            <a:endParaRPr lang="en-US" altLang="zh-CN" sz="8000" dirty="0">
              <a:solidFill>
                <a:srgbClr val="E89E00"/>
              </a:solidFill>
              <a:ea typeface="Arial Unicode MS" panose="020B0604020202020204" pitchFamily="34" charset="-122"/>
              <a:cs typeface="Arial Unicode MS" panose="020B0604020202020204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186014" y="3076017"/>
            <a:ext cx="4887877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第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8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课</a:t>
            </a:r>
            <a:r>
              <a:rPr lang="en-US" altLang="zh-CN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	</a:t>
            </a:r>
            <a:r>
              <a:rPr lang="zh-CN" altLang="en-US" sz="3600" b="1" dirty="0" smtClean="0">
                <a:solidFill>
                  <a:prstClr val="black"/>
                </a:solidFill>
                <a:latin typeface="宋体" panose="02010600030101010101" pitchFamily="2" charset="-122"/>
              </a:rPr>
              <a:t>完</a:t>
            </a:r>
            <a:endParaRPr lang="en-US" altLang="zh-CN" sz="3600" b="1" dirty="0" smtClean="0">
              <a:solidFill>
                <a:prstClr val="black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186012" y="2337353"/>
            <a:ext cx="6761573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3200" dirty="0" smtClean="0">
                <a:solidFill>
                  <a:srgbClr val="4472C4"/>
                </a:solidFill>
              </a:rPr>
              <a:t>大模型与机器人</a:t>
            </a:r>
            <a:r>
              <a:rPr lang="zh-CN" altLang="en-US" sz="3200" dirty="0" smtClean="0">
                <a:solidFill>
                  <a:srgbClr val="4472C4"/>
                </a:solidFill>
              </a:rPr>
              <a:t>整合</a:t>
            </a:r>
            <a:endParaRPr lang="zh-CN" altLang="en-US" sz="3200" dirty="0" smtClean="0">
              <a:solidFill>
                <a:srgbClr val="4472C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2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3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ags/tag4.xml><?xml version="1.0" encoding="utf-8"?>
<p:tagLst xmlns:p="http://schemas.openxmlformats.org/presentationml/2006/main">
  <p:tag name="MH" val="20160830110410"/>
  <p:tag name="MH_LIBRARY" val="CONTENTS"/>
  <p:tag name="MH_TYPE" val="OTHERS"/>
  <p:tag name="ID" val="54713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tailEnd type="none"/>
        </a:ln>
      </a:spPr>
      <a:bodyPr/>
      <a:lstStyle/>
      <a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4472C4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269</Words>
  <Application>WPS 演示</Application>
  <PresentationFormat>宽屏</PresentationFormat>
  <Paragraphs>34</Paragraphs>
  <Slides>10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华文新魏</vt:lpstr>
      <vt:lpstr>黑体</vt:lpstr>
      <vt:lpstr>微软雅黑</vt:lpstr>
      <vt:lpstr>华文行楷</vt:lpstr>
      <vt:lpstr>Arial Unicode MS</vt:lpstr>
      <vt:lpstr>Calibri</vt:lpstr>
      <vt:lpstr>Arial Unicode MS</vt:lpstr>
      <vt:lpstr>Office 主题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上海仪酷智能科技有限公司</dc:creator>
  <cp:lastModifiedBy>╭⌒better进行时</cp:lastModifiedBy>
  <cp:revision>1025</cp:revision>
  <dcterms:created xsi:type="dcterms:W3CDTF">2017-07-25T03:07:00Z</dcterms:created>
  <dcterms:modified xsi:type="dcterms:W3CDTF">2025-11-21T15:15:09Z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8841B4F7B610481D8E35DE8E2DF00779_13</vt:lpwstr>
  </property>
  <property fmtid="{D5CDD505-2E9C-101B-9397-08002B2CF9AE}" pid="3" name="KSOProductBuildVer">
    <vt:lpwstr>2052-12.1.0.23542</vt:lpwstr>
  </property>
</Properties>
</file>