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5"/>
  </p:notesMasterIdLst>
  <p:handoutMasterIdLst>
    <p:handoutMasterId r:id="rId22"/>
  </p:handoutMasterIdLst>
  <p:sldIdLst>
    <p:sldId id="322" r:id="rId4"/>
    <p:sldId id="364" r:id="rId6"/>
    <p:sldId id="451" r:id="rId7"/>
    <p:sldId id="450" r:id="rId8"/>
    <p:sldId id="452" r:id="rId9"/>
    <p:sldId id="445" r:id="rId10"/>
    <p:sldId id="453" r:id="rId11"/>
    <p:sldId id="454" r:id="rId12"/>
    <p:sldId id="446" r:id="rId13"/>
    <p:sldId id="455" r:id="rId14"/>
    <p:sldId id="459" r:id="rId15"/>
    <p:sldId id="460" r:id="rId16"/>
    <p:sldId id="457" r:id="rId17"/>
    <p:sldId id="456" r:id="rId18"/>
    <p:sldId id="461" r:id="rId19"/>
    <p:sldId id="356" r:id="rId20"/>
    <p:sldId id="320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21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40"/>
        <p:guide orient="horz" pos="22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commentAuthors" Target="commentAuthors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heme" Target="../theme/theme2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894616" y="2431690"/>
            <a:ext cx="7804514" cy="1106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机器人</a:t>
            </a:r>
            <a:r>
              <a:rPr lang="en-US" altLang="zh-CN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AI</a:t>
            </a:r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模块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</a:t>
            </a:r>
            <a:r>
              <a:rPr lang="zh-CN" altLang="en-US" sz="2400" b="1" dirty="0"/>
              <a:t>目标</a:t>
            </a:r>
            <a:r>
              <a:rPr lang="zh-CN" altLang="en-US" sz="2400" b="1" dirty="0"/>
              <a:t>检测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985520" y="9994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https://github.com/ultralytics/ultralytics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1630" y="2355850"/>
            <a:ext cx="8439150" cy="380873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85520" y="1370965"/>
            <a:ext cx="88595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安装：</a:t>
            </a:r>
            <a:endParaRPr lang="zh-CN" altLang="en-US"/>
          </a:p>
          <a:p>
            <a:pPr marL="3200400" lvl="7" indent="457200"/>
            <a:r>
              <a:rPr lang="en-US" altLang="zh-CN" b="1"/>
              <a:t>pip install ultralytics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</a:t>
            </a:r>
            <a:r>
              <a:rPr lang="zh-CN" altLang="en-US" sz="2400" b="1" dirty="0"/>
              <a:t>目标</a:t>
            </a:r>
            <a:r>
              <a:rPr lang="zh-CN" altLang="en-US" sz="2400" b="1" dirty="0"/>
              <a:t>检测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985520" y="928370"/>
            <a:ext cx="69049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https://docs.ultralytics.com/zh/datasets/detect/coco/#applications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190" y="1367790"/>
            <a:ext cx="9150985" cy="5201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</a:t>
            </a:r>
            <a:r>
              <a:rPr lang="zh-CN" altLang="en-US" sz="2400" b="1" dirty="0"/>
              <a:t>目标</a:t>
            </a:r>
            <a:r>
              <a:rPr lang="zh-CN" altLang="en-US" sz="2400" b="1" dirty="0"/>
              <a:t>检测</a:t>
            </a:r>
            <a:endParaRPr lang="zh-CN" altLang="en-US" sz="2400" b="1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265" y="2365375"/>
            <a:ext cx="5716905" cy="15328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1209040"/>
            <a:ext cx="5620385" cy="50641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YOLO-</a:t>
            </a:r>
            <a:r>
              <a:rPr lang="zh-CN" altLang="en-US" sz="2400" b="1" dirty="0"/>
              <a:t>获取机器人视频流检测</a:t>
            </a:r>
            <a:endParaRPr lang="zh-CN" altLang="en-US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3800" y="1346835"/>
            <a:ext cx="5473700" cy="52133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30" y="1445895"/>
            <a:ext cx="5474970" cy="281622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41960" y="10775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PC</a:t>
            </a:r>
            <a:r>
              <a:rPr lang="zh-CN" altLang="en-US" b="1"/>
              <a:t>端</a:t>
            </a:r>
            <a:endParaRPr lang="zh-CN" altLang="en-US" b="1"/>
          </a:p>
        </p:txBody>
      </p:sp>
      <p:sp>
        <p:nvSpPr>
          <p:cNvPr id="8" name="文本框 7"/>
          <p:cNvSpPr txBox="1"/>
          <p:nvPr/>
        </p:nvSpPr>
        <p:spPr>
          <a:xfrm>
            <a:off x="6273165" y="95948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机器人端</a:t>
            </a:r>
            <a:endParaRPr lang="zh-CN" altLang="en-US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LLM</a:t>
            </a:r>
            <a:r>
              <a:rPr lang="zh-CN" altLang="en-US" sz="2400" b="1" dirty="0"/>
              <a:t>大语言模型</a:t>
            </a:r>
            <a:endParaRPr lang="zh-CN" altLang="en-US" sz="2400" b="1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6045" y="2134870"/>
            <a:ext cx="9458960" cy="2171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LLM</a:t>
            </a:r>
            <a:r>
              <a:rPr lang="zh-CN" altLang="en-US" sz="2400" b="1" dirty="0"/>
              <a:t>大语言模型</a:t>
            </a:r>
            <a:r>
              <a:rPr lang="en-US" altLang="zh-CN" sz="2400" b="1" dirty="0"/>
              <a:t>-</a:t>
            </a:r>
            <a:r>
              <a:rPr lang="en-US" altLang="zh-CN" sz="2400" b="1" dirty="0"/>
              <a:t>Qwen</a:t>
            </a:r>
            <a:endParaRPr lang="en-US" altLang="zh-CN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653415" y="1091565"/>
            <a:ext cx="103993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https://www.aliyun.com/product/tongyi?spm=5176.29597918.J_4VYgf18xNlTAyFFbOuOQe.d_menu_0.2b8e7b08Gy9WHG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145" y="2250440"/>
            <a:ext cx="4864100" cy="222885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02915"/>
            <a:ext cx="6017895" cy="27692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LLM</a:t>
            </a:r>
            <a:r>
              <a:rPr lang="zh-CN" altLang="en-US" sz="2400" b="1" dirty="0"/>
              <a:t>大语言模型</a:t>
            </a:r>
            <a:r>
              <a:rPr lang="en-US" altLang="zh-CN" sz="2400" b="1" dirty="0"/>
              <a:t>-</a:t>
            </a:r>
            <a:r>
              <a:rPr lang="en-US" altLang="zh-CN" sz="2400" b="1" dirty="0"/>
              <a:t>Qwen</a:t>
            </a:r>
            <a:endParaRPr lang="en-US" altLang="zh-CN" sz="2400" b="1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7670" y="1122680"/>
            <a:ext cx="7341870" cy="525335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00075" y="1814830"/>
            <a:ext cx="3233420" cy="161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20000"/>
              </a:lnSpc>
            </a:pPr>
            <a:r>
              <a:rPr lang="en-US" altLang="zh-CN" b="1"/>
              <a:t>base_url</a:t>
            </a:r>
            <a:r>
              <a:rPr lang="en-US" altLang="zh-CN"/>
              <a:t>:</a:t>
            </a:r>
            <a:r>
              <a:rPr lang="zh-CN" altLang="en-US"/>
              <a:t>模型服务</a:t>
            </a:r>
            <a:r>
              <a:rPr lang="zh-CN" altLang="en-US"/>
              <a:t>地址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en-US" altLang="zh-CN" b="1"/>
              <a:t>messages:</a:t>
            </a:r>
            <a:r>
              <a:rPr lang="zh-CN" altLang="en-US"/>
              <a:t>角色设定和历史</a:t>
            </a:r>
            <a:r>
              <a:rPr lang="zh-CN" altLang="en-US"/>
              <a:t>对话</a:t>
            </a:r>
            <a:endParaRPr lang="zh-CN" altLang="en-US"/>
          </a:p>
          <a:p>
            <a:pPr>
              <a:lnSpc>
                <a:spcPct val="120000"/>
              </a:lnSpc>
            </a:pPr>
            <a:r>
              <a:rPr lang="en-US" altLang="zh-CN" b="1"/>
              <a:t>enable_thinking:</a:t>
            </a:r>
            <a:r>
              <a:rPr lang="zh-CN" altLang="en-US"/>
              <a:t>是否</a:t>
            </a:r>
            <a:r>
              <a:rPr lang="zh-CN" altLang="en-US"/>
              <a:t>思考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650" y="2083435"/>
            <a:ext cx="3737610" cy="284988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936625" y="130873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基本对话流程</a:t>
            </a:r>
            <a:endParaRPr lang="zh-CN" altLang="en-US" b="1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560" y="1916430"/>
            <a:ext cx="3485515" cy="318389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829175" y="1308735"/>
            <a:ext cx="2578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早期函数（工具）调用</a:t>
            </a:r>
            <a:endParaRPr lang="zh-CN" altLang="en-US" b="1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9135" y="1916430"/>
            <a:ext cx="3434080" cy="319532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8319135" y="1308735"/>
            <a:ext cx="16668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MCP</a:t>
            </a:r>
            <a:endParaRPr lang="en-US" altLang="zh-CN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pic>
        <p:nvPicPr>
          <p:cNvPr id="6" name="图片 5" descr="image-2025111715570682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9430" y="2607310"/>
            <a:ext cx="6530975" cy="264668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70" y="2607310"/>
            <a:ext cx="4572635" cy="233997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856615" y="972185"/>
            <a:ext cx="78682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https://modelcontextprotocol.io/docs/getting-started/intro</a:t>
            </a:r>
            <a:endParaRPr lang="en-US" altLang="zh-CN"/>
          </a:p>
        </p:txBody>
      </p:sp>
      <p:sp>
        <p:nvSpPr>
          <p:cNvPr id="11" name="文本框 10"/>
          <p:cNvSpPr txBox="1"/>
          <p:nvPr/>
        </p:nvSpPr>
        <p:spPr>
          <a:xfrm>
            <a:off x="462915" y="1704340"/>
            <a:ext cx="8656320" cy="538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/>
            <a:r>
              <a:rPr lang="en-US" altLang="zh-CN" b="1"/>
              <a:t>MCP</a:t>
            </a:r>
            <a:r>
              <a:rPr lang="zh-CN" altLang="en-US" b="1"/>
              <a:t>是</a:t>
            </a:r>
            <a:r>
              <a:rPr lang="en-US" altLang="zh-CN" b="1"/>
              <a:t>AI</a:t>
            </a:r>
            <a:r>
              <a:rPr lang="zh-CN" altLang="en-US" b="1"/>
              <a:t>应用的接口，能将各种外部系统连接到</a:t>
            </a:r>
            <a:r>
              <a:rPr lang="en-US" altLang="zh-CN" b="1"/>
              <a:t>AI</a:t>
            </a:r>
            <a:r>
              <a:rPr lang="zh-CN" altLang="en-US" b="1"/>
              <a:t>应用中。</a:t>
            </a:r>
            <a:endParaRPr lang="zh-CN" altLang="en-US"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645" y="2834005"/>
            <a:ext cx="5450205" cy="287972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839470" y="1610360"/>
            <a:ext cx="30029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安装：</a:t>
            </a:r>
            <a:r>
              <a:rPr lang="en-US" altLang="zh-CN" b="1"/>
              <a:t> pip install "mcp[cli]"</a:t>
            </a:r>
            <a:endParaRPr lang="en-US" altLang="zh-CN" b="1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78660"/>
            <a:ext cx="5777230" cy="25730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sp>
        <p:nvSpPr>
          <p:cNvPr id="7" name="文本框 6"/>
          <p:cNvSpPr txBox="1"/>
          <p:nvPr/>
        </p:nvSpPr>
        <p:spPr>
          <a:xfrm>
            <a:off x="861060" y="1078865"/>
            <a:ext cx="30734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定义</a:t>
            </a:r>
            <a:r>
              <a:rPr lang="en-US" altLang="zh-CN"/>
              <a:t>MCP </a:t>
            </a:r>
            <a:r>
              <a:rPr lang="en-US" altLang="zh-CN"/>
              <a:t>Server</a:t>
            </a:r>
            <a:endParaRPr lang="en-US" altLang="zh-CN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290" y="1632585"/>
            <a:ext cx="3462655" cy="45339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175" y="1543685"/>
            <a:ext cx="4036695" cy="506857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5872480" y="1078865"/>
            <a:ext cx="30734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定义</a:t>
            </a:r>
            <a:r>
              <a:rPr lang="en-US" altLang="zh-CN"/>
              <a:t>MCP Client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85" y="1722120"/>
            <a:ext cx="11089005" cy="39001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 Server</a:t>
            </a:r>
            <a:r>
              <a:rPr lang="zh-CN" altLang="en-US" sz="2400" b="1" dirty="0"/>
              <a:t>与</a:t>
            </a:r>
            <a:r>
              <a:rPr lang="en-US" altLang="zh-CN" sz="2400" b="1" dirty="0"/>
              <a:t>Client</a:t>
            </a:r>
            <a:endParaRPr lang="en-US" altLang="zh-CN" sz="2400" b="1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19855" y="941070"/>
            <a:ext cx="4211320" cy="548449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MCP</a:t>
            </a:r>
            <a:r>
              <a:rPr lang="zh-CN" altLang="en-US" sz="2400" b="1" dirty="0"/>
              <a:t>工具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883920" y="1339215"/>
            <a:ext cx="20561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https://smithery.ai/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20" y="1765300"/>
            <a:ext cx="1836420" cy="4953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945255" y="1062355"/>
            <a:ext cx="36220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https://github.com/punkpeye/awesome-mcp-servers</a:t>
            </a:r>
            <a:endParaRPr lang="en-US" altLang="zh-CN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3025" y="1765300"/>
            <a:ext cx="6089015" cy="148780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520" y="3519805"/>
            <a:ext cx="1546860" cy="41910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963295" y="3060700"/>
            <a:ext cx="1858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https://mcp.so/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3883025" y="3614420"/>
            <a:ext cx="53911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https://bailian.console.aliyun.com/?spm=5176.29597918.J_SEsSjsNv72yRuRFS2VknO.2.357b7b08WDt1J0&amp;tab=mcp#/mcp-market</a:t>
            </a:r>
            <a:endParaRPr lang="en-US" altLang="zh-CN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3175" y="4613910"/>
            <a:ext cx="5326380" cy="18059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060450"/>
            <a:ext cx="9382760" cy="1872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运行本节课程代码。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提出三个任何与本节内容相关的问题，并自行回答。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将代码和问题回答推送到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6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6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dirty="0" smtClean="0">
                <a:solidFill>
                  <a:srgbClr val="4472C4"/>
                </a:solidFill>
              </a:rPr>
              <a:t>机器人</a:t>
            </a:r>
            <a:r>
              <a:rPr lang="en-US" altLang="zh-CN" sz="3200" dirty="0" smtClean="0">
                <a:solidFill>
                  <a:srgbClr val="4472C4"/>
                </a:solidFill>
              </a:rPr>
              <a:t>AI</a:t>
            </a:r>
            <a:r>
              <a:rPr lang="zh-CN" altLang="en-US" sz="3200" dirty="0" smtClean="0">
                <a:solidFill>
                  <a:srgbClr val="4472C4"/>
                </a:solidFill>
              </a:rPr>
              <a:t>模块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909</Words>
  <Application>WPS 演示</Application>
  <PresentationFormat>宽屏</PresentationFormat>
  <Paragraphs>83</Paragraphs>
  <Slides>17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30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Arial Unicode MS</vt:lpstr>
      <vt:lpstr>Calibri</vt:lpstr>
      <vt:lpstr>Arial Unicode MS</vt:lpstr>
      <vt:lpstr>Calibri Light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1016</cp:revision>
  <dcterms:created xsi:type="dcterms:W3CDTF">2017-07-25T03:07:00Z</dcterms:created>
  <dcterms:modified xsi:type="dcterms:W3CDTF">2025-11-17T16:32:41Z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