
<file path=[Content_Types].xml><?xml version="1.0" encoding="utf-8"?>
<Types xmlns="http://schemas.openxmlformats.org/package/2006/content-types">
  <Default Extension="jpeg" ContentType="image/jpeg"/>
  <Default Extension="JPG" ContentType="image/.jpg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3"/>
  </p:sldMasterIdLst>
  <p:notesMasterIdLst>
    <p:notesMasterId r:id="rId6"/>
  </p:notesMasterIdLst>
  <p:handoutMasterIdLst>
    <p:handoutMasterId r:id="rId22"/>
  </p:handoutMasterIdLst>
  <p:sldIdLst>
    <p:sldId id="463" r:id="rId4"/>
    <p:sldId id="364" r:id="rId5"/>
    <p:sldId id="451" r:id="rId7"/>
    <p:sldId id="450" r:id="rId8"/>
    <p:sldId id="452" r:id="rId9"/>
    <p:sldId id="445" r:id="rId10"/>
    <p:sldId id="453" r:id="rId11"/>
    <p:sldId id="454" r:id="rId12"/>
    <p:sldId id="446" r:id="rId13"/>
    <p:sldId id="455" r:id="rId14"/>
    <p:sldId id="459" r:id="rId15"/>
    <p:sldId id="460" r:id="rId16"/>
    <p:sldId id="457" r:id="rId17"/>
    <p:sldId id="456" r:id="rId18"/>
    <p:sldId id="461" r:id="rId19"/>
    <p:sldId id="356" r:id="rId20"/>
    <p:sldId id="320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21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马奇" initials="马奇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E89E00"/>
    <a:srgbClr val="FF9900"/>
    <a:srgbClr val="FFCCCC"/>
    <a:srgbClr val="D8BBA1"/>
    <a:srgbClr val="E2C718"/>
    <a:srgbClr val="D61621"/>
    <a:srgbClr val="FFD002"/>
    <a:srgbClr val="FF6666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18" autoAdjust="0"/>
    <p:restoredTop sz="79859" autoAdjust="0"/>
  </p:normalViewPr>
  <p:slideViewPr>
    <p:cSldViewPr snapToGrid="0" showGuides="1">
      <p:cViewPr varScale="1">
        <p:scale>
          <a:sx n="83" d="100"/>
          <a:sy n="83" d="100"/>
        </p:scale>
        <p:origin x="438" y="84"/>
      </p:cViewPr>
      <p:guideLst>
        <p:guide pos="3840"/>
        <p:guide orient="horz" pos="221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6" Type="http://schemas.openxmlformats.org/officeDocument/2006/relationships/commentAuthors" Target="commentAuthors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235978-AA0F-4019-89CE-7C0DBBEECEE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 userDrawn="1"/>
        </p:nvSpPr>
        <p:spPr>
          <a:xfrm rot="5400000">
            <a:off x="4050259" y="-4050255"/>
            <a:ext cx="1802935" cy="9903456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rgbClr val="157DA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sp>
        <p:nvSpPr>
          <p:cNvPr id="9" name="任意多边形 8"/>
          <p:cNvSpPr/>
          <p:nvPr userDrawn="1"/>
        </p:nvSpPr>
        <p:spPr>
          <a:xfrm flipH="1">
            <a:off x="10111813" y="1412240"/>
            <a:ext cx="2080184" cy="5445760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rgbClr val="E89E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sp>
        <p:nvSpPr>
          <p:cNvPr id="10" name="任意多边形 9"/>
          <p:cNvSpPr/>
          <p:nvPr userDrawn="1"/>
        </p:nvSpPr>
        <p:spPr>
          <a:xfrm rot="5400000">
            <a:off x="2385073" y="-2385070"/>
            <a:ext cx="1061693" cy="5831840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sp>
        <p:nvSpPr>
          <p:cNvPr id="11" name="任意多边形 10"/>
          <p:cNvSpPr/>
          <p:nvPr userDrawn="1"/>
        </p:nvSpPr>
        <p:spPr>
          <a:xfrm rot="5400000">
            <a:off x="1483399" y="-1483401"/>
            <a:ext cx="660321" cy="3627120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sp>
        <p:nvSpPr>
          <p:cNvPr id="12" name="任意多边形 11"/>
          <p:cNvSpPr/>
          <p:nvPr userDrawn="1"/>
        </p:nvSpPr>
        <p:spPr>
          <a:xfrm flipH="1">
            <a:off x="10993120" y="3719437"/>
            <a:ext cx="1198876" cy="3138563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9273790" y="-94255"/>
            <a:ext cx="2995243" cy="1264792"/>
            <a:chOff x="8303568" y="2694"/>
            <a:chExt cx="3888434" cy="1641957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81156" y="221822"/>
              <a:ext cx="2909748" cy="1422829"/>
            </a:xfrm>
            <a:prstGeom prst="rect">
              <a:avLst/>
            </a:prstGeom>
          </p:spPr>
        </p:pic>
        <p:sp>
          <p:nvSpPr>
            <p:cNvPr id="14" name="文本框 13"/>
            <p:cNvSpPr txBox="1"/>
            <p:nvPr/>
          </p:nvSpPr>
          <p:spPr>
            <a:xfrm>
              <a:off x="8303571" y="2694"/>
              <a:ext cx="3888431" cy="6069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8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上海仪酷智能科技有限公司</a:t>
              </a:r>
              <a:endParaRPr lang="en-US" altLang="zh-CN" sz="3200" dirty="0">
                <a:solidFill>
                  <a:srgbClr val="0070C0"/>
                </a:solidFill>
                <a:latin typeface="+mj-lt"/>
                <a:ea typeface="华文新魏" panose="02010800040101010101" pitchFamily="2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8303568" y="274888"/>
              <a:ext cx="3888431" cy="9797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3200" dirty="0">
                  <a:solidFill>
                    <a:srgbClr val="0070C0"/>
                  </a:solidFill>
                  <a:ea typeface="华文新魏" panose="02010800040101010101" pitchFamily="2" charset="-122"/>
                </a:rPr>
                <a:t>VI</a:t>
              </a:r>
              <a:r>
                <a:rPr lang="en-US" altLang="zh-CN" sz="3200" dirty="0">
                  <a:solidFill>
                    <a:schemeClr val="bg1">
                      <a:lumMod val="65000"/>
                    </a:schemeClr>
                  </a:solidFill>
                  <a:ea typeface="华文新魏" panose="02010800040101010101" pitchFamily="2" charset="-122"/>
                </a:rPr>
                <a:t>R </a:t>
              </a:r>
              <a:r>
                <a:rPr lang="en-US" altLang="zh-CN" sz="3200" dirty="0">
                  <a:ea typeface="华文新魏" panose="02010800040101010101" pitchFamily="2" charset="-122"/>
                </a:rPr>
                <a:t>      </a:t>
              </a:r>
              <a:r>
                <a:rPr lang="en-US" altLang="zh-CN" sz="3200" dirty="0">
                  <a:solidFill>
                    <a:schemeClr val="bg1">
                      <a:lumMod val="65000"/>
                    </a:schemeClr>
                  </a:solidFill>
                  <a:ea typeface="华文新魏" panose="02010800040101010101" pitchFamily="2" charset="-122"/>
                </a:rPr>
                <a:t>tics</a:t>
              </a:r>
              <a:endParaRPr lang="en-US" altLang="zh-CN" sz="3200" dirty="0">
                <a:solidFill>
                  <a:schemeClr val="bg1">
                    <a:lumMod val="65000"/>
                  </a:schemeClr>
                </a:solidFill>
                <a:ea typeface="华文新魏" panose="02010800040101010101" pitchFamily="2" charset="-122"/>
              </a:endParaRPr>
            </a:p>
          </p:txBody>
        </p:sp>
      </p:grpSp>
      <p:sp>
        <p:nvSpPr>
          <p:cNvPr id="16" name="任意多边形 15"/>
          <p:cNvSpPr/>
          <p:nvPr userDrawn="1"/>
        </p:nvSpPr>
        <p:spPr>
          <a:xfrm rot="5400000" flipH="1">
            <a:off x="140597" y="5298178"/>
            <a:ext cx="1419223" cy="1700416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sp>
        <p:nvSpPr>
          <p:cNvPr id="17" name="任意多边形 16"/>
          <p:cNvSpPr/>
          <p:nvPr userDrawn="1"/>
        </p:nvSpPr>
        <p:spPr>
          <a:xfrm rot="5400000" flipH="1">
            <a:off x="86469" y="5898692"/>
            <a:ext cx="872838" cy="1045776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H_Others_1"/>
          <p:cNvSpPr/>
          <p:nvPr userDrawn="1">
            <p:custDataLst>
              <p:tags r:id="rId2"/>
            </p:custDataLst>
          </p:nvPr>
        </p:nvSpPr>
        <p:spPr>
          <a:xfrm>
            <a:off x="10312400" y="449"/>
            <a:ext cx="1879600" cy="6857551"/>
          </a:xfrm>
          <a:prstGeom prst="rect">
            <a:avLst/>
          </a:prstGeom>
          <a:solidFill>
            <a:srgbClr val="E89E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59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sym typeface="Arial" panose="020B0604020202020204" pitchFamily="34" charset="0"/>
            </a:endParaRPr>
          </a:p>
        </p:txBody>
      </p:sp>
      <p:sp>
        <p:nvSpPr>
          <p:cNvPr id="4" name="MH_Others_2"/>
          <p:cNvSpPr/>
          <p:nvPr userDrawn="1">
            <p:custDataLst>
              <p:tags r:id="rId3"/>
            </p:custDataLst>
          </p:nvPr>
        </p:nvSpPr>
        <p:spPr>
          <a:xfrm>
            <a:off x="10011847" y="1"/>
            <a:ext cx="132066" cy="6861462"/>
          </a:xfrm>
          <a:prstGeom prst="rect">
            <a:avLst/>
          </a:prstGeom>
          <a:solidFill>
            <a:srgbClr val="157DA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首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 userDrawn="1"/>
        </p:nvSpPr>
        <p:spPr>
          <a:xfrm>
            <a:off x="0" y="4438650"/>
            <a:ext cx="12188991" cy="2426627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  <a:gd name="connsiteX0-1" fmla="*/ 0 w 6907593"/>
              <a:gd name="connsiteY0-2" fmla="*/ 0 h 1776503"/>
              <a:gd name="connsiteX1-3" fmla="*/ 6907593 w 6907593"/>
              <a:gd name="connsiteY1-4" fmla="*/ 1776503 h 1776503"/>
              <a:gd name="connsiteX2-5" fmla="*/ 0 w 6907593"/>
              <a:gd name="connsiteY2-6" fmla="*/ 1776503 h 1776503"/>
              <a:gd name="connsiteX3" fmla="*/ 0 w 6907593"/>
              <a:gd name="connsiteY3" fmla="*/ 0 h 1776503"/>
              <a:gd name="connsiteX0-7" fmla="*/ 0 w 6907593"/>
              <a:gd name="connsiteY0-8" fmla="*/ 0 h 1776503"/>
              <a:gd name="connsiteX1-9" fmla="*/ 6907593 w 6907593"/>
              <a:gd name="connsiteY1-10" fmla="*/ 1776503 h 1776503"/>
              <a:gd name="connsiteX2-11" fmla="*/ 0 w 6907593"/>
              <a:gd name="connsiteY2-12" fmla="*/ 1776503 h 1776503"/>
              <a:gd name="connsiteX3-13" fmla="*/ 0 w 6907593"/>
              <a:gd name="connsiteY3-14" fmla="*/ 0 h 1776503"/>
              <a:gd name="connsiteX0-15" fmla="*/ 0 w 6907593"/>
              <a:gd name="connsiteY0-16" fmla="*/ 0 h 1776503"/>
              <a:gd name="connsiteX1-17" fmla="*/ 6907593 w 6907593"/>
              <a:gd name="connsiteY1-18" fmla="*/ 1776503 h 1776503"/>
              <a:gd name="connsiteX2-19" fmla="*/ 0 w 6907593"/>
              <a:gd name="connsiteY2-20" fmla="*/ 1776503 h 1776503"/>
              <a:gd name="connsiteX3-21" fmla="*/ 0 w 6907593"/>
              <a:gd name="connsiteY3-22" fmla="*/ 0 h 17765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cubicBezTo>
                  <a:pt x="2091413" y="1639688"/>
                  <a:pt x="4374752" y="1587227"/>
                  <a:pt x="6907593" y="1776503"/>
                </a:cubicBezTo>
                <a:lnTo>
                  <a:pt x="0" y="1776503"/>
                </a:lnTo>
                <a:lnTo>
                  <a:pt x="0" y="0"/>
                </a:lnTo>
                <a:close/>
              </a:path>
            </a:pathLst>
          </a:custGeom>
          <a:solidFill>
            <a:srgbClr val="157DA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sp>
        <p:nvSpPr>
          <p:cNvPr id="3" name="任意多边形 2"/>
          <p:cNvSpPr/>
          <p:nvPr userDrawn="1"/>
        </p:nvSpPr>
        <p:spPr>
          <a:xfrm flipH="1">
            <a:off x="6229348" y="5057775"/>
            <a:ext cx="5969693" cy="1807736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  <a:gd name="connsiteX0-1" fmla="*/ 0 w 6907593"/>
              <a:gd name="connsiteY0-2" fmla="*/ 0 h 1776503"/>
              <a:gd name="connsiteX1-3" fmla="*/ 6907593 w 6907593"/>
              <a:gd name="connsiteY1-4" fmla="*/ 1776503 h 1776503"/>
              <a:gd name="connsiteX2-5" fmla="*/ 0 w 6907593"/>
              <a:gd name="connsiteY2-6" fmla="*/ 1776503 h 1776503"/>
              <a:gd name="connsiteX3" fmla="*/ 0 w 6907593"/>
              <a:gd name="connsiteY3" fmla="*/ 0 h 1776503"/>
              <a:gd name="connsiteX0-7" fmla="*/ 0 w 6907593"/>
              <a:gd name="connsiteY0-8" fmla="*/ 0 h 1776503"/>
              <a:gd name="connsiteX1-9" fmla="*/ 6907593 w 6907593"/>
              <a:gd name="connsiteY1-10" fmla="*/ 1776503 h 1776503"/>
              <a:gd name="connsiteX2-11" fmla="*/ 0 w 6907593"/>
              <a:gd name="connsiteY2-12" fmla="*/ 1776503 h 1776503"/>
              <a:gd name="connsiteX3-13" fmla="*/ 0 w 6907593"/>
              <a:gd name="connsiteY3-14" fmla="*/ 0 h 17765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cubicBezTo>
                  <a:pt x="1979235" y="1345282"/>
                  <a:pt x="4428718" y="1766287"/>
                  <a:pt x="6907593" y="1776503"/>
                </a:cubicBezTo>
                <a:lnTo>
                  <a:pt x="0" y="1776503"/>
                </a:lnTo>
                <a:lnTo>
                  <a:pt x="0" y="0"/>
                </a:lnTo>
                <a:close/>
              </a:path>
            </a:pathLst>
          </a:custGeom>
          <a:solidFill>
            <a:srgbClr val="E89E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cxnSp>
        <p:nvCxnSpPr>
          <p:cNvPr id="6" name="直接连接符 5"/>
          <p:cNvCxnSpPr/>
          <p:nvPr userDrawn="1"/>
        </p:nvCxnSpPr>
        <p:spPr>
          <a:xfrm flipV="1">
            <a:off x="5013503" y="2190063"/>
            <a:ext cx="0" cy="1997354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3042969" y="2258053"/>
            <a:ext cx="1476644" cy="1476644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9" name="同心圆 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80808"/>
                </a:solidFill>
                <a:latin typeface="+mj-ea"/>
                <a:ea typeface="+mj-ea"/>
              </a:endParaRPr>
            </a:p>
          </p:txBody>
        </p:sp>
        <p:sp>
          <p:nvSpPr>
            <p:cNvPr id="10" name="椭圆 9"/>
            <p:cNvSpPr/>
            <p:nvPr userDrawn="1"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80808"/>
                </a:solidFill>
                <a:latin typeface="+mj-ea"/>
                <a:ea typeface="+mj-ea"/>
              </a:endParaRPr>
            </a:p>
          </p:txBody>
        </p:sp>
      </p:grpSp>
      <p:pic>
        <p:nvPicPr>
          <p:cNvPr id="12" name="Picture 8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3455" y="349038"/>
            <a:ext cx="1569142" cy="399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任意多边形 10"/>
          <p:cNvSpPr/>
          <p:nvPr userDrawn="1"/>
        </p:nvSpPr>
        <p:spPr>
          <a:xfrm rot="10800000" flipH="1">
            <a:off x="1" y="-4"/>
            <a:ext cx="2657474" cy="1752604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  <a:gd name="connsiteX0-1" fmla="*/ 0 w 6907593"/>
              <a:gd name="connsiteY0-2" fmla="*/ 0 h 1776503"/>
              <a:gd name="connsiteX1-3" fmla="*/ 6907593 w 6907593"/>
              <a:gd name="connsiteY1-4" fmla="*/ 1776503 h 1776503"/>
              <a:gd name="connsiteX2-5" fmla="*/ 0 w 6907593"/>
              <a:gd name="connsiteY2-6" fmla="*/ 1776503 h 1776503"/>
              <a:gd name="connsiteX3" fmla="*/ 0 w 6907593"/>
              <a:gd name="connsiteY3" fmla="*/ 0 h 1776503"/>
              <a:gd name="connsiteX0-7" fmla="*/ 0 w 6907593"/>
              <a:gd name="connsiteY0-8" fmla="*/ 0 h 1776503"/>
              <a:gd name="connsiteX1-9" fmla="*/ 6907593 w 6907593"/>
              <a:gd name="connsiteY1-10" fmla="*/ 1776503 h 1776503"/>
              <a:gd name="connsiteX2-11" fmla="*/ 0 w 6907593"/>
              <a:gd name="connsiteY2-12" fmla="*/ 1776503 h 1776503"/>
              <a:gd name="connsiteX3-13" fmla="*/ 0 w 6907593"/>
              <a:gd name="connsiteY3-14" fmla="*/ 0 h 17765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cubicBezTo>
                  <a:pt x="1979235" y="1345282"/>
                  <a:pt x="4428718" y="1766287"/>
                  <a:pt x="6907593" y="1776503"/>
                </a:cubicBezTo>
                <a:lnTo>
                  <a:pt x="0" y="1776503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新年快乐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32151"/>
            <a:ext cx="2395959" cy="1564128"/>
          </a:xfrm>
          <a:prstGeom prst="rect">
            <a:avLst/>
          </a:prstGeom>
        </p:spPr>
      </p:pic>
      <p:pic>
        <p:nvPicPr>
          <p:cNvPr id="13" name="Picture 8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03455" y="349038"/>
            <a:ext cx="1569142" cy="399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任意多边形 13"/>
          <p:cNvSpPr/>
          <p:nvPr userDrawn="1"/>
        </p:nvSpPr>
        <p:spPr>
          <a:xfrm>
            <a:off x="0" y="4438650"/>
            <a:ext cx="12188991" cy="2426627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  <a:gd name="connsiteX0-1" fmla="*/ 0 w 6907593"/>
              <a:gd name="connsiteY0-2" fmla="*/ 0 h 1776503"/>
              <a:gd name="connsiteX1-3" fmla="*/ 6907593 w 6907593"/>
              <a:gd name="connsiteY1-4" fmla="*/ 1776503 h 1776503"/>
              <a:gd name="connsiteX2-5" fmla="*/ 0 w 6907593"/>
              <a:gd name="connsiteY2-6" fmla="*/ 1776503 h 1776503"/>
              <a:gd name="connsiteX3" fmla="*/ 0 w 6907593"/>
              <a:gd name="connsiteY3" fmla="*/ 0 h 1776503"/>
              <a:gd name="connsiteX0-7" fmla="*/ 0 w 6907593"/>
              <a:gd name="connsiteY0-8" fmla="*/ 0 h 1776503"/>
              <a:gd name="connsiteX1-9" fmla="*/ 6907593 w 6907593"/>
              <a:gd name="connsiteY1-10" fmla="*/ 1776503 h 1776503"/>
              <a:gd name="connsiteX2-11" fmla="*/ 0 w 6907593"/>
              <a:gd name="connsiteY2-12" fmla="*/ 1776503 h 1776503"/>
              <a:gd name="connsiteX3-13" fmla="*/ 0 w 6907593"/>
              <a:gd name="connsiteY3-14" fmla="*/ 0 h 1776503"/>
              <a:gd name="connsiteX0-15" fmla="*/ 0 w 6907593"/>
              <a:gd name="connsiteY0-16" fmla="*/ 0 h 1776503"/>
              <a:gd name="connsiteX1-17" fmla="*/ 6907593 w 6907593"/>
              <a:gd name="connsiteY1-18" fmla="*/ 1776503 h 1776503"/>
              <a:gd name="connsiteX2-19" fmla="*/ 0 w 6907593"/>
              <a:gd name="connsiteY2-20" fmla="*/ 1776503 h 1776503"/>
              <a:gd name="connsiteX3-21" fmla="*/ 0 w 6907593"/>
              <a:gd name="connsiteY3-22" fmla="*/ 0 h 17765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cubicBezTo>
                  <a:pt x="2091413" y="1639688"/>
                  <a:pt x="4374752" y="1587227"/>
                  <a:pt x="6907593" y="1776503"/>
                </a:cubicBezTo>
                <a:lnTo>
                  <a:pt x="0" y="1776503"/>
                </a:lnTo>
                <a:lnTo>
                  <a:pt x="0" y="0"/>
                </a:lnTo>
                <a:close/>
              </a:path>
            </a:pathLst>
          </a:custGeom>
          <a:solidFill>
            <a:srgbClr val="D61621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sp>
        <p:nvSpPr>
          <p:cNvPr id="15" name="任意多边形 14"/>
          <p:cNvSpPr/>
          <p:nvPr userDrawn="1"/>
        </p:nvSpPr>
        <p:spPr>
          <a:xfrm flipH="1">
            <a:off x="6229348" y="5057775"/>
            <a:ext cx="5969693" cy="1807736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  <a:gd name="connsiteX0-1" fmla="*/ 0 w 6907593"/>
              <a:gd name="connsiteY0-2" fmla="*/ 0 h 1776503"/>
              <a:gd name="connsiteX1-3" fmla="*/ 6907593 w 6907593"/>
              <a:gd name="connsiteY1-4" fmla="*/ 1776503 h 1776503"/>
              <a:gd name="connsiteX2-5" fmla="*/ 0 w 6907593"/>
              <a:gd name="connsiteY2-6" fmla="*/ 1776503 h 1776503"/>
              <a:gd name="connsiteX3" fmla="*/ 0 w 6907593"/>
              <a:gd name="connsiteY3" fmla="*/ 0 h 1776503"/>
              <a:gd name="connsiteX0-7" fmla="*/ 0 w 6907593"/>
              <a:gd name="connsiteY0-8" fmla="*/ 0 h 1776503"/>
              <a:gd name="connsiteX1-9" fmla="*/ 6907593 w 6907593"/>
              <a:gd name="connsiteY1-10" fmla="*/ 1776503 h 1776503"/>
              <a:gd name="connsiteX2-11" fmla="*/ 0 w 6907593"/>
              <a:gd name="connsiteY2-12" fmla="*/ 1776503 h 1776503"/>
              <a:gd name="connsiteX3-13" fmla="*/ 0 w 6907593"/>
              <a:gd name="connsiteY3-14" fmla="*/ 0 h 17765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cubicBezTo>
                  <a:pt x="1979235" y="1345282"/>
                  <a:pt x="4428718" y="1766287"/>
                  <a:pt x="6907593" y="1776503"/>
                </a:cubicBezTo>
                <a:lnTo>
                  <a:pt x="0" y="1776503"/>
                </a:lnTo>
                <a:lnTo>
                  <a:pt x="0" y="0"/>
                </a:lnTo>
                <a:close/>
              </a:path>
            </a:pathLst>
          </a:custGeom>
          <a:solidFill>
            <a:srgbClr val="E2C71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pic>
        <p:nvPicPr>
          <p:cNvPr id="21" name="图片 20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51064" y="748598"/>
            <a:ext cx="1221533" cy="45097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435" y="833864"/>
            <a:ext cx="10465162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335360" y="277337"/>
            <a:ext cx="576064" cy="559375"/>
            <a:chOff x="298460" y="987574"/>
            <a:chExt cx="288032" cy="279687"/>
          </a:xfrm>
        </p:grpSpPr>
        <p:sp>
          <p:nvSpPr>
            <p:cNvPr id="9" name="矩形 8"/>
            <p:cNvSpPr/>
            <p:nvPr/>
          </p:nvSpPr>
          <p:spPr>
            <a:xfrm>
              <a:off x="298460" y="987574"/>
              <a:ext cx="216024" cy="21602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/>
            </a:p>
          </p:txBody>
        </p:sp>
        <p:sp>
          <p:nvSpPr>
            <p:cNvPr id="10" name="矩形 9"/>
            <p:cNvSpPr/>
            <p:nvPr/>
          </p:nvSpPr>
          <p:spPr>
            <a:xfrm>
              <a:off x="406472" y="1087241"/>
              <a:ext cx="180020" cy="180020"/>
            </a:xfrm>
            <a:prstGeom prst="rect">
              <a:avLst/>
            </a:prstGeom>
            <a:solidFill>
              <a:srgbClr val="E89E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/>
            </a:p>
          </p:txBody>
        </p:sp>
      </p:grpSp>
      <p:pic>
        <p:nvPicPr>
          <p:cNvPr id="11" name="Picture 8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3455" y="349038"/>
            <a:ext cx="1569142" cy="399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直角三角形 2"/>
          <p:cNvSpPr/>
          <p:nvPr userDrawn="1"/>
        </p:nvSpPr>
        <p:spPr>
          <a:xfrm rot="10800000">
            <a:off x="84662" y="-2"/>
            <a:ext cx="12107337" cy="349040"/>
          </a:xfrm>
          <a:prstGeom prst="rtTriangle">
            <a:avLst/>
          </a:prstGeom>
          <a:gradFill flip="none" rotWithShape="1">
            <a:gsLst>
              <a:gs pos="0">
                <a:srgbClr val="5CC1EA">
                  <a:shade val="30000"/>
                  <a:satMod val="115000"/>
                  <a:alpha val="31000"/>
                </a:srgbClr>
              </a:gs>
              <a:gs pos="50000">
                <a:srgbClr val="5CC1EA">
                  <a:shade val="67500"/>
                  <a:satMod val="115000"/>
                </a:srgbClr>
              </a:gs>
              <a:gs pos="100000">
                <a:srgbClr val="5CC1EA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直角三角形 13"/>
          <p:cNvSpPr/>
          <p:nvPr userDrawn="1"/>
        </p:nvSpPr>
        <p:spPr>
          <a:xfrm>
            <a:off x="0" y="6417733"/>
            <a:ext cx="12107336" cy="440267"/>
          </a:xfrm>
          <a:prstGeom prst="rtTriangle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0">
                <a:schemeClr val="accent4">
                  <a:lumMod val="0"/>
                  <a:lumOff val="100000"/>
                </a:schemeClr>
              </a:gs>
              <a:gs pos="39000">
                <a:schemeClr val="accent4">
                  <a:lumMod val="10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任意多边形 23"/>
          <p:cNvSpPr/>
          <p:nvPr userDrawn="1"/>
        </p:nvSpPr>
        <p:spPr>
          <a:xfrm rot="10800000" flipH="1">
            <a:off x="-3" y="-2"/>
            <a:ext cx="4563538" cy="2514602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rgbClr val="E89E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>
              <a:solidFill>
                <a:prstClr val="white"/>
              </a:solidFill>
            </a:endParaRPr>
          </a:p>
        </p:txBody>
      </p:sp>
      <p:sp>
        <p:nvSpPr>
          <p:cNvPr id="8" name="任意多边形 7"/>
          <p:cNvSpPr/>
          <p:nvPr userDrawn="1"/>
        </p:nvSpPr>
        <p:spPr>
          <a:xfrm rot="5400000">
            <a:off x="3805768" y="-3805763"/>
            <a:ext cx="1168396" cy="8779937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rgbClr val="157DA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>
              <a:solidFill>
                <a:prstClr val="white"/>
              </a:solidFill>
            </a:endParaRPr>
          </a:p>
        </p:txBody>
      </p:sp>
      <p:sp>
        <p:nvSpPr>
          <p:cNvPr id="10" name="任意多边形 9"/>
          <p:cNvSpPr/>
          <p:nvPr userDrawn="1"/>
        </p:nvSpPr>
        <p:spPr>
          <a:xfrm rot="5400000">
            <a:off x="1697568" y="-1697564"/>
            <a:ext cx="1168399" cy="4563535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>
              <a:solidFill>
                <a:prstClr val="white"/>
              </a:solidFill>
            </a:endParaRPr>
          </a:p>
        </p:txBody>
      </p:sp>
      <p:sp>
        <p:nvSpPr>
          <p:cNvPr id="11" name="任意多边形 10"/>
          <p:cNvSpPr/>
          <p:nvPr userDrawn="1"/>
        </p:nvSpPr>
        <p:spPr>
          <a:xfrm rot="5400000">
            <a:off x="1127283" y="-1127283"/>
            <a:ext cx="827303" cy="3081870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>
              <a:solidFill>
                <a:prstClr val="white"/>
              </a:solidFill>
            </a:endParaRPr>
          </a:p>
        </p:txBody>
      </p:sp>
      <p:grpSp>
        <p:nvGrpSpPr>
          <p:cNvPr id="3" name="组合 2"/>
          <p:cNvGrpSpPr/>
          <p:nvPr userDrawn="1"/>
        </p:nvGrpSpPr>
        <p:grpSpPr>
          <a:xfrm>
            <a:off x="9239095" y="76203"/>
            <a:ext cx="3666413" cy="1775426"/>
            <a:chOff x="9196760" y="0"/>
            <a:chExt cx="3666413" cy="1775426"/>
          </a:xfrm>
        </p:grpSpPr>
        <p:pic>
          <p:nvPicPr>
            <p:cNvPr id="13" name="图片 12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2065" y="307923"/>
              <a:ext cx="3001108" cy="1467503"/>
            </a:xfrm>
            <a:prstGeom prst="rect">
              <a:avLst/>
            </a:prstGeom>
          </p:spPr>
        </p:pic>
        <p:sp>
          <p:nvSpPr>
            <p:cNvPr id="14" name="文本框 13"/>
            <p:cNvSpPr txBox="1"/>
            <p:nvPr/>
          </p:nvSpPr>
          <p:spPr>
            <a:xfrm>
              <a:off x="9196760" y="0"/>
              <a:ext cx="299524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 smtClean="0">
                  <a:solidFill>
                    <a:prstClr val="black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上海交通大学工程训练中心</a:t>
              </a:r>
              <a:endParaRPr lang="en-US" altLang="zh-CN" dirty="0" smtClean="0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algn="ctr"/>
              <a:r>
                <a:rPr lang="zh-CN" altLang="en-US" dirty="0" smtClean="0">
                  <a:solidFill>
                    <a:prstClr val="black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上海仪酷智能科技有限公司</a:t>
              </a:r>
              <a:endParaRPr lang="en-US" altLang="zh-CN" dirty="0" smtClean="0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pic>
          <p:nvPicPr>
            <p:cNvPr id="2" name="图片 1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70533" y="660321"/>
              <a:ext cx="762708" cy="762708"/>
            </a:xfrm>
            <a:prstGeom prst="rect">
              <a:avLst/>
            </a:prstGeom>
          </p:spPr>
        </p:pic>
      </p:grpSp>
      <p:grpSp>
        <p:nvGrpSpPr>
          <p:cNvPr id="62" name="组合 61"/>
          <p:cNvGrpSpPr/>
          <p:nvPr userDrawn="1"/>
        </p:nvGrpSpPr>
        <p:grpSpPr>
          <a:xfrm rot="10800000">
            <a:off x="8779935" y="4741014"/>
            <a:ext cx="3412065" cy="2116984"/>
            <a:chOff x="2810930" y="2822526"/>
            <a:chExt cx="8779937" cy="2526726"/>
          </a:xfrm>
        </p:grpSpPr>
        <p:sp>
          <p:nvSpPr>
            <p:cNvPr id="58" name="任意多边形 57"/>
            <p:cNvSpPr/>
            <p:nvPr userDrawn="1"/>
          </p:nvSpPr>
          <p:spPr>
            <a:xfrm rot="10800000" flipH="1">
              <a:off x="2810930" y="2834650"/>
              <a:ext cx="4563537" cy="2514602"/>
            </a:xfrm>
            <a:custGeom>
              <a:avLst/>
              <a:gdLst>
                <a:gd name="connsiteX0" fmla="*/ 0 w 6907593"/>
                <a:gd name="connsiteY0" fmla="*/ 0 h 1776503"/>
                <a:gd name="connsiteX1" fmla="*/ 6907593 w 6907593"/>
                <a:gd name="connsiteY1" fmla="*/ 1776503 h 1776503"/>
                <a:gd name="connsiteX2" fmla="*/ 0 w 6907593"/>
                <a:gd name="connsiteY2" fmla="*/ 1776503 h 1776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07593" h="1776503">
                  <a:moveTo>
                    <a:pt x="0" y="0"/>
                  </a:moveTo>
                  <a:lnTo>
                    <a:pt x="6907593" y="1776503"/>
                  </a:lnTo>
                  <a:lnTo>
                    <a:pt x="0" y="1776503"/>
                  </a:lnTo>
                  <a:close/>
                </a:path>
              </a:pathLst>
            </a:custGeom>
            <a:solidFill>
              <a:srgbClr val="E89E00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>
                <a:solidFill>
                  <a:prstClr val="white"/>
                </a:solidFill>
              </a:endParaRPr>
            </a:p>
          </p:txBody>
        </p:sp>
        <p:sp>
          <p:nvSpPr>
            <p:cNvPr id="59" name="任意多边形 58"/>
            <p:cNvSpPr/>
            <p:nvPr userDrawn="1"/>
          </p:nvSpPr>
          <p:spPr>
            <a:xfrm rot="5400000">
              <a:off x="6616701" y="-983237"/>
              <a:ext cx="1168396" cy="8779937"/>
            </a:xfrm>
            <a:custGeom>
              <a:avLst/>
              <a:gdLst>
                <a:gd name="connsiteX0" fmla="*/ 0 w 6907593"/>
                <a:gd name="connsiteY0" fmla="*/ 0 h 1776503"/>
                <a:gd name="connsiteX1" fmla="*/ 6907593 w 6907593"/>
                <a:gd name="connsiteY1" fmla="*/ 1776503 h 1776503"/>
                <a:gd name="connsiteX2" fmla="*/ 0 w 6907593"/>
                <a:gd name="connsiteY2" fmla="*/ 1776503 h 1776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07593" h="1776503">
                  <a:moveTo>
                    <a:pt x="0" y="0"/>
                  </a:moveTo>
                  <a:lnTo>
                    <a:pt x="6907593" y="1776503"/>
                  </a:lnTo>
                  <a:lnTo>
                    <a:pt x="0" y="1776503"/>
                  </a:lnTo>
                  <a:close/>
                </a:path>
              </a:pathLst>
            </a:custGeom>
            <a:solidFill>
              <a:srgbClr val="157DA8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>
                <a:solidFill>
                  <a:prstClr val="white"/>
                </a:solidFill>
              </a:endParaRPr>
            </a:p>
          </p:txBody>
        </p:sp>
        <p:sp>
          <p:nvSpPr>
            <p:cNvPr id="60" name="任意多边形 59"/>
            <p:cNvSpPr/>
            <p:nvPr userDrawn="1"/>
          </p:nvSpPr>
          <p:spPr>
            <a:xfrm rot="5400000">
              <a:off x="4508501" y="1124962"/>
              <a:ext cx="1168399" cy="4563535"/>
            </a:xfrm>
            <a:custGeom>
              <a:avLst/>
              <a:gdLst>
                <a:gd name="connsiteX0" fmla="*/ 0 w 6907593"/>
                <a:gd name="connsiteY0" fmla="*/ 0 h 1776503"/>
                <a:gd name="connsiteX1" fmla="*/ 6907593 w 6907593"/>
                <a:gd name="connsiteY1" fmla="*/ 1776503 h 1776503"/>
                <a:gd name="connsiteX2" fmla="*/ 0 w 6907593"/>
                <a:gd name="connsiteY2" fmla="*/ 1776503 h 1776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07593" h="1776503">
                  <a:moveTo>
                    <a:pt x="0" y="0"/>
                  </a:moveTo>
                  <a:lnTo>
                    <a:pt x="6907593" y="1776503"/>
                  </a:lnTo>
                  <a:lnTo>
                    <a:pt x="0" y="17765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>
                <a:solidFill>
                  <a:prstClr val="white"/>
                </a:solidFill>
              </a:endParaRPr>
            </a:p>
          </p:txBody>
        </p:sp>
        <p:sp>
          <p:nvSpPr>
            <p:cNvPr id="61" name="任意多边形 60"/>
            <p:cNvSpPr/>
            <p:nvPr userDrawn="1"/>
          </p:nvSpPr>
          <p:spPr>
            <a:xfrm rot="5400000">
              <a:off x="3938216" y="1695243"/>
              <a:ext cx="827303" cy="3081870"/>
            </a:xfrm>
            <a:custGeom>
              <a:avLst/>
              <a:gdLst>
                <a:gd name="connsiteX0" fmla="*/ 0 w 6907593"/>
                <a:gd name="connsiteY0" fmla="*/ 0 h 1776503"/>
                <a:gd name="connsiteX1" fmla="*/ 6907593 w 6907593"/>
                <a:gd name="connsiteY1" fmla="*/ 1776503 h 1776503"/>
                <a:gd name="connsiteX2" fmla="*/ 0 w 6907593"/>
                <a:gd name="connsiteY2" fmla="*/ 1776503 h 1776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07593" h="1776503">
                  <a:moveTo>
                    <a:pt x="0" y="0"/>
                  </a:moveTo>
                  <a:lnTo>
                    <a:pt x="6907593" y="1776503"/>
                  </a:lnTo>
                  <a:lnTo>
                    <a:pt x="0" y="1776503"/>
                  </a:lnTo>
                  <a:close/>
                </a:path>
              </a:pathLst>
            </a:custGeom>
            <a:solidFill>
              <a:schemeClr val="bg1">
                <a:lumMod val="5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>
                <a:solidFill>
                  <a:prstClr val="white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H_Others_1"/>
          <p:cNvSpPr/>
          <p:nvPr userDrawn="1">
            <p:custDataLst>
              <p:tags r:id="rId2"/>
            </p:custDataLst>
          </p:nvPr>
        </p:nvSpPr>
        <p:spPr>
          <a:xfrm>
            <a:off x="10312400" y="449"/>
            <a:ext cx="1879600" cy="6857551"/>
          </a:xfrm>
          <a:prstGeom prst="rect">
            <a:avLst/>
          </a:prstGeom>
          <a:solidFill>
            <a:srgbClr val="E89E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590" dirty="0">
              <a:solidFill>
                <a:prstClr val="white"/>
              </a:solidFill>
              <a:latin typeface="黑体" panose="02010609060101010101" pitchFamily="49" charset="-122"/>
              <a:ea typeface="黑体" panose="02010609060101010101" pitchFamily="49" charset="-122"/>
              <a:sym typeface="Arial" panose="020B0604020202020204" pitchFamily="34" charset="0"/>
            </a:endParaRPr>
          </a:p>
        </p:txBody>
      </p:sp>
      <p:sp>
        <p:nvSpPr>
          <p:cNvPr id="4" name="MH_Others_2"/>
          <p:cNvSpPr/>
          <p:nvPr userDrawn="1">
            <p:custDataLst>
              <p:tags r:id="rId3"/>
            </p:custDataLst>
          </p:nvPr>
        </p:nvSpPr>
        <p:spPr>
          <a:xfrm>
            <a:off x="10011847" y="1"/>
            <a:ext cx="132066" cy="6861462"/>
          </a:xfrm>
          <a:prstGeom prst="rect">
            <a:avLst/>
          </a:prstGeom>
          <a:solidFill>
            <a:srgbClr val="157DA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首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 userDrawn="1"/>
        </p:nvSpPr>
        <p:spPr>
          <a:xfrm>
            <a:off x="0" y="4438650"/>
            <a:ext cx="12188991" cy="2426627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  <a:gd name="connsiteX0-1" fmla="*/ 0 w 6907593"/>
              <a:gd name="connsiteY0-2" fmla="*/ 0 h 1776503"/>
              <a:gd name="connsiteX1-3" fmla="*/ 6907593 w 6907593"/>
              <a:gd name="connsiteY1-4" fmla="*/ 1776503 h 1776503"/>
              <a:gd name="connsiteX2-5" fmla="*/ 0 w 6907593"/>
              <a:gd name="connsiteY2-6" fmla="*/ 1776503 h 1776503"/>
              <a:gd name="connsiteX3" fmla="*/ 0 w 6907593"/>
              <a:gd name="connsiteY3" fmla="*/ 0 h 1776503"/>
              <a:gd name="connsiteX0-7" fmla="*/ 0 w 6907593"/>
              <a:gd name="connsiteY0-8" fmla="*/ 0 h 1776503"/>
              <a:gd name="connsiteX1-9" fmla="*/ 6907593 w 6907593"/>
              <a:gd name="connsiteY1-10" fmla="*/ 1776503 h 1776503"/>
              <a:gd name="connsiteX2-11" fmla="*/ 0 w 6907593"/>
              <a:gd name="connsiteY2-12" fmla="*/ 1776503 h 1776503"/>
              <a:gd name="connsiteX3-13" fmla="*/ 0 w 6907593"/>
              <a:gd name="connsiteY3-14" fmla="*/ 0 h 1776503"/>
              <a:gd name="connsiteX0-15" fmla="*/ 0 w 6907593"/>
              <a:gd name="connsiteY0-16" fmla="*/ 0 h 1776503"/>
              <a:gd name="connsiteX1-17" fmla="*/ 6907593 w 6907593"/>
              <a:gd name="connsiteY1-18" fmla="*/ 1776503 h 1776503"/>
              <a:gd name="connsiteX2-19" fmla="*/ 0 w 6907593"/>
              <a:gd name="connsiteY2-20" fmla="*/ 1776503 h 1776503"/>
              <a:gd name="connsiteX3-21" fmla="*/ 0 w 6907593"/>
              <a:gd name="connsiteY3-22" fmla="*/ 0 h 17765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cubicBezTo>
                  <a:pt x="2091413" y="1639688"/>
                  <a:pt x="4374752" y="1587227"/>
                  <a:pt x="6907593" y="1776503"/>
                </a:cubicBezTo>
                <a:lnTo>
                  <a:pt x="0" y="1776503"/>
                </a:lnTo>
                <a:lnTo>
                  <a:pt x="0" y="0"/>
                </a:lnTo>
                <a:close/>
              </a:path>
            </a:pathLst>
          </a:custGeom>
          <a:solidFill>
            <a:srgbClr val="157DA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>
              <a:solidFill>
                <a:prstClr val="white"/>
              </a:solidFill>
            </a:endParaRPr>
          </a:p>
        </p:txBody>
      </p:sp>
      <p:sp>
        <p:nvSpPr>
          <p:cNvPr id="3" name="任意多边形 2"/>
          <p:cNvSpPr/>
          <p:nvPr userDrawn="1"/>
        </p:nvSpPr>
        <p:spPr>
          <a:xfrm flipH="1">
            <a:off x="6229348" y="5057775"/>
            <a:ext cx="5969693" cy="1807736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  <a:gd name="connsiteX0-1" fmla="*/ 0 w 6907593"/>
              <a:gd name="connsiteY0-2" fmla="*/ 0 h 1776503"/>
              <a:gd name="connsiteX1-3" fmla="*/ 6907593 w 6907593"/>
              <a:gd name="connsiteY1-4" fmla="*/ 1776503 h 1776503"/>
              <a:gd name="connsiteX2-5" fmla="*/ 0 w 6907593"/>
              <a:gd name="connsiteY2-6" fmla="*/ 1776503 h 1776503"/>
              <a:gd name="connsiteX3" fmla="*/ 0 w 6907593"/>
              <a:gd name="connsiteY3" fmla="*/ 0 h 1776503"/>
              <a:gd name="connsiteX0-7" fmla="*/ 0 w 6907593"/>
              <a:gd name="connsiteY0-8" fmla="*/ 0 h 1776503"/>
              <a:gd name="connsiteX1-9" fmla="*/ 6907593 w 6907593"/>
              <a:gd name="connsiteY1-10" fmla="*/ 1776503 h 1776503"/>
              <a:gd name="connsiteX2-11" fmla="*/ 0 w 6907593"/>
              <a:gd name="connsiteY2-12" fmla="*/ 1776503 h 1776503"/>
              <a:gd name="connsiteX3-13" fmla="*/ 0 w 6907593"/>
              <a:gd name="connsiteY3-14" fmla="*/ 0 h 17765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cubicBezTo>
                  <a:pt x="1979235" y="1345282"/>
                  <a:pt x="4428718" y="1766287"/>
                  <a:pt x="6907593" y="1776503"/>
                </a:cubicBezTo>
                <a:lnTo>
                  <a:pt x="0" y="1776503"/>
                </a:lnTo>
                <a:lnTo>
                  <a:pt x="0" y="0"/>
                </a:lnTo>
                <a:close/>
              </a:path>
            </a:pathLst>
          </a:custGeom>
          <a:solidFill>
            <a:srgbClr val="E89E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 userDrawn="1"/>
        </p:nvCxnSpPr>
        <p:spPr>
          <a:xfrm flipV="1">
            <a:off x="5013503" y="2190063"/>
            <a:ext cx="0" cy="1997354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3042969" y="2258053"/>
            <a:ext cx="1476644" cy="1476644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9" name="同心圆 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80808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" name="椭圆 9"/>
            <p:cNvSpPr/>
            <p:nvPr userDrawn="1"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80808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11" name="任意多边形 10"/>
          <p:cNvSpPr/>
          <p:nvPr userDrawn="1"/>
        </p:nvSpPr>
        <p:spPr>
          <a:xfrm rot="10800000" flipH="1">
            <a:off x="1" y="-4"/>
            <a:ext cx="2657474" cy="1752604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  <a:gd name="connsiteX0-1" fmla="*/ 0 w 6907593"/>
              <a:gd name="connsiteY0-2" fmla="*/ 0 h 1776503"/>
              <a:gd name="connsiteX1-3" fmla="*/ 6907593 w 6907593"/>
              <a:gd name="connsiteY1-4" fmla="*/ 1776503 h 1776503"/>
              <a:gd name="connsiteX2-5" fmla="*/ 0 w 6907593"/>
              <a:gd name="connsiteY2-6" fmla="*/ 1776503 h 1776503"/>
              <a:gd name="connsiteX3" fmla="*/ 0 w 6907593"/>
              <a:gd name="connsiteY3" fmla="*/ 0 h 1776503"/>
              <a:gd name="connsiteX0-7" fmla="*/ 0 w 6907593"/>
              <a:gd name="connsiteY0-8" fmla="*/ 0 h 1776503"/>
              <a:gd name="connsiteX1-9" fmla="*/ 6907593 w 6907593"/>
              <a:gd name="connsiteY1-10" fmla="*/ 1776503 h 1776503"/>
              <a:gd name="connsiteX2-11" fmla="*/ 0 w 6907593"/>
              <a:gd name="connsiteY2-12" fmla="*/ 1776503 h 1776503"/>
              <a:gd name="connsiteX3-13" fmla="*/ 0 w 6907593"/>
              <a:gd name="connsiteY3-14" fmla="*/ 0 h 17765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cubicBezTo>
                  <a:pt x="1979235" y="1345282"/>
                  <a:pt x="4428718" y="1766287"/>
                  <a:pt x="6907593" y="1776503"/>
                </a:cubicBezTo>
                <a:lnTo>
                  <a:pt x="0" y="1776503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>
              <a:solidFill>
                <a:prstClr val="whit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综合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1007435" y="833864"/>
            <a:ext cx="10465162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 userDrawn="1"/>
        </p:nvGrpSpPr>
        <p:grpSpPr>
          <a:xfrm>
            <a:off x="335360" y="277337"/>
            <a:ext cx="576064" cy="559375"/>
            <a:chOff x="298460" y="987574"/>
            <a:chExt cx="288032" cy="279687"/>
          </a:xfrm>
        </p:grpSpPr>
        <p:sp>
          <p:nvSpPr>
            <p:cNvPr id="5" name="矩形 4"/>
            <p:cNvSpPr/>
            <p:nvPr/>
          </p:nvSpPr>
          <p:spPr>
            <a:xfrm>
              <a:off x="298460" y="987574"/>
              <a:ext cx="216024" cy="21602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prstClr val="white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406472" y="1087241"/>
              <a:ext cx="180020" cy="180020"/>
            </a:xfrm>
            <a:prstGeom prst="rect">
              <a:avLst/>
            </a:prstGeom>
            <a:solidFill>
              <a:srgbClr val="E89E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prstClr val="white"/>
                </a:solidFill>
              </a:endParaRPr>
            </a:p>
          </p:txBody>
        </p:sp>
      </p:grpSp>
      <p:pic>
        <p:nvPicPr>
          <p:cNvPr id="7" name="Picture 8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3455" y="349038"/>
            <a:ext cx="1569142" cy="399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直角三角形 7"/>
          <p:cNvSpPr/>
          <p:nvPr userDrawn="1"/>
        </p:nvSpPr>
        <p:spPr>
          <a:xfrm rot="10800000">
            <a:off x="84662" y="-2"/>
            <a:ext cx="12107337" cy="349040"/>
          </a:xfrm>
          <a:prstGeom prst="rtTriangle">
            <a:avLst/>
          </a:prstGeom>
          <a:gradFill flip="none" rotWithShape="1">
            <a:gsLst>
              <a:gs pos="0">
                <a:srgbClr val="5CC1EA">
                  <a:shade val="30000"/>
                  <a:satMod val="115000"/>
                  <a:alpha val="31000"/>
                </a:srgbClr>
              </a:gs>
              <a:gs pos="50000">
                <a:srgbClr val="5CC1EA">
                  <a:shade val="67500"/>
                  <a:satMod val="115000"/>
                </a:srgbClr>
              </a:gs>
              <a:gs pos="100000">
                <a:srgbClr val="5CC1EA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9" name="直角三角形 8"/>
          <p:cNvSpPr/>
          <p:nvPr userDrawn="1"/>
        </p:nvSpPr>
        <p:spPr>
          <a:xfrm>
            <a:off x="0" y="6417733"/>
            <a:ext cx="12107336" cy="440267"/>
          </a:xfrm>
          <a:prstGeom prst="rtTriangle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0">
                <a:schemeClr val="accent4">
                  <a:lumMod val="0"/>
                  <a:lumOff val="100000"/>
                </a:schemeClr>
              </a:gs>
              <a:gs pos="39000">
                <a:schemeClr val="accent4">
                  <a:lumMod val="10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435" y="833864"/>
            <a:ext cx="1046516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335360" y="277337"/>
            <a:ext cx="576064" cy="559375"/>
            <a:chOff x="298460" y="987574"/>
            <a:chExt cx="288032" cy="279687"/>
          </a:xfrm>
        </p:grpSpPr>
        <p:sp>
          <p:nvSpPr>
            <p:cNvPr id="9" name="矩形 8"/>
            <p:cNvSpPr/>
            <p:nvPr/>
          </p:nvSpPr>
          <p:spPr>
            <a:xfrm>
              <a:off x="298460" y="987574"/>
              <a:ext cx="216024" cy="21602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prstClr val="white"/>
                </a:solidFill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406472" y="1087241"/>
              <a:ext cx="180020" cy="180020"/>
            </a:xfrm>
            <a:prstGeom prst="rect">
              <a:avLst/>
            </a:prstGeom>
            <a:solidFill>
              <a:srgbClr val="4472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prstClr val="white"/>
                </a:solidFill>
              </a:endParaRPr>
            </a:p>
          </p:txBody>
        </p:sp>
      </p:grpSp>
      <p:sp>
        <p:nvSpPr>
          <p:cNvPr id="3" name="直角三角形 2"/>
          <p:cNvSpPr/>
          <p:nvPr userDrawn="1"/>
        </p:nvSpPr>
        <p:spPr>
          <a:xfrm rot="10800000">
            <a:off x="84662" y="-2"/>
            <a:ext cx="12107337" cy="349040"/>
          </a:xfrm>
          <a:prstGeom prst="rtTriangle">
            <a:avLst/>
          </a:prstGeom>
          <a:gradFill flip="none" rotWithShape="1">
            <a:gsLst>
              <a:gs pos="0">
                <a:srgbClr val="5CC1EA">
                  <a:shade val="30000"/>
                  <a:satMod val="115000"/>
                  <a:alpha val="31000"/>
                </a:srgbClr>
              </a:gs>
              <a:gs pos="50000">
                <a:srgbClr val="5CC1EA">
                  <a:shade val="67500"/>
                  <a:satMod val="115000"/>
                </a:srgbClr>
              </a:gs>
              <a:gs pos="100000">
                <a:srgbClr val="5CC1EA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903498" y="-28448"/>
            <a:ext cx="157824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600" dirty="0" smtClean="0">
                <a:solidFill>
                  <a:srgbClr val="4472C4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讲</a:t>
            </a:r>
            <a:endParaRPr lang="zh-CN" altLang="en-US" sz="9600" dirty="0">
              <a:solidFill>
                <a:srgbClr val="4472C4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5" name="直角三角形 14"/>
          <p:cNvSpPr/>
          <p:nvPr userDrawn="1"/>
        </p:nvSpPr>
        <p:spPr>
          <a:xfrm>
            <a:off x="0" y="6508960"/>
            <a:ext cx="12107337" cy="349040"/>
          </a:xfrm>
          <a:prstGeom prst="rtTriangle">
            <a:avLst/>
          </a:prstGeom>
          <a:gradFill flip="none" rotWithShape="1">
            <a:gsLst>
              <a:gs pos="0">
                <a:srgbClr val="5CC1EA">
                  <a:shade val="30000"/>
                  <a:satMod val="115000"/>
                  <a:alpha val="31000"/>
                </a:srgbClr>
              </a:gs>
              <a:gs pos="50000">
                <a:srgbClr val="5CC1EA">
                  <a:shade val="67500"/>
                  <a:satMod val="115000"/>
                </a:srgbClr>
              </a:gs>
              <a:gs pos="100000">
                <a:srgbClr val="5CC1EA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435" y="833864"/>
            <a:ext cx="1046516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335360" y="277337"/>
            <a:ext cx="576064" cy="559375"/>
            <a:chOff x="298460" y="987574"/>
            <a:chExt cx="288032" cy="279687"/>
          </a:xfrm>
        </p:grpSpPr>
        <p:sp>
          <p:nvSpPr>
            <p:cNvPr id="9" name="矩形 8"/>
            <p:cNvSpPr/>
            <p:nvPr/>
          </p:nvSpPr>
          <p:spPr>
            <a:xfrm>
              <a:off x="298460" y="987574"/>
              <a:ext cx="216024" cy="216024"/>
            </a:xfrm>
            <a:prstGeom prst="rect">
              <a:avLst/>
            </a:prstGeom>
            <a:noFill/>
            <a:ln w="38100">
              <a:solidFill>
                <a:srgbClr val="E89E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prstClr val="white"/>
                </a:solidFill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406472" y="1087241"/>
              <a:ext cx="180020" cy="180020"/>
            </a:xfrm>
            <a:prstGeom prst="rect">
              <a:avLst/>
            </a:prstGeom>
            <a:solidFill>
              <a:srgbClr val="E89E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prstClr val="white"/>
                </a:solidFill>
              </a:endParaRPr>
            </a:p>
          </p:txBody>
        </p:sp>
      </p:grpSp>
      <p:sp>
        <p:nvSpPr>
          <p:cNvPr id="14" name="直角三角形 13"/>
          <p:cNvSpPr/>
          <p:nvPr userDrawn="1"/>
        </p:nvSpPr>
        <p:spPr>
          <a:xfrm>
            <a:off x="0" y="6477000"/>
            <a:ext cx="12107336" cy="381000"/>
          </a:xfrm>
          <a:prstGeom prst="rtTriangle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0">
                <a:schemeClr val="accent4">
                  <a:lumMod val="0"/>
                  <a:lumOff val="100000"/>
                </a:schemeClr>
              </a:gs>
              <a:gs pos="39000">
                <a:schemeClr val="accent4">
                  <a:lumMod val="10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903498" y="-28448"/>
            <a:ext cx="157824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600" dirty="0" smtClean="0">
                <a:solidFill>
                  <a:srgbClr val="E89E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例</a:t>
            </a:r>
            <a:endParaRPr lang="zh-CN" altLang="en-US" sz="9600" dirty="0">
              <a:solidFill>
                <a:srgbClr val="E89E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1" name="直角三角形 10"/>
          <p:cNvSpPr/>
          <p:nvPr userDrawn="1"/>
        </p:nvSpPr>
        <p:spPr>
          <a:xfrm rot="10800000">
            <a:off x="84664" y="3977"/>
            <a:ext cx="12107336" cy="345367"/>
          </a:xfrm>
          <a:prstGeom prst="rtTriangle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0">
                <a:schemeClr val="accent4">
                  <a:lumMod val="0"/>
                  <a:lumOff val="100000"/>
                </a:schemeClr>
              </a:gs>
              <a:gs pos="39000">
                <a:schemeClr val="accent4">
                  <a:lumMod val="10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435" y="833864"/>
            <a:ext cx="1046516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335360" y="277337"/>
            <a:ext cx="576064" cy="559375"/>
            <a:chOff x="298460" y="987574"/>
            <a:chExt cx="288032" cy="279687"/>
          </a:xfrm>
        </p:grpSpPr>
        <p:sp>
          <p:nvSpPr>
            <p:cNvPr id="9" name="矩形 8"/>
            <p:cNvSpPr/>
            <p:nvPr/>
          </p:nvSpPr>
          <p:spPr>
            <a:xfrm>
              <a:off x="298460" y="987574"/>
              <a:ext cx="216024" cy="216024"/>
            </a:xfrm>
            <a:prstGeom prst="rect">
              <a:avLst/>
            </a:prstGeom>
            <a:noFill/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prstClr val="white"/>
                </a:solidFill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406472" y="1087241"/>
              <a:ext cx="180020" cy="18002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prstClr val="white"/>
                </a:solidFill>
              </a:endParaRPr>
            </a:p>
          </p:txBody>
        </p:sp>
      </p:grpSp>
      <p:sp>
        <p:nvSpPr>
          <p:cNvPr id="3" name="直角三角形 2"/>
          <p:cNvSpPr/>
          <p:nvPr userDrawn="1"/>
        </p:nvSpPr>
        <p:spPr>
          <a:xfrm rot="10800000">
            <a:off x="84662" y="-2"/>
            <a:ext cx="12107337" cy="349040"/>
          </a:xfrm>
          <a:prstGeom prst="rtTriangle">
            <a:avLst/>
          </a:prstGeom>
          <a:gradFill flip="none" rotWithShape="1">
            <a:gsLst>
              <a:gs pos="100000">
                <a:schemeClr val="bg1"/>
              </a:gs>
              <a:gs pos="29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903498" y="-28448"/>
            <a:ext cx="157824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600" dirty="0" smtClean="0">
                <a:solidFill>
                  <a:prstClr val="white">
                    <a:lumMod val="50000"/>
                  </a:prst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练</a:t>
            </a:r>
            <a:endParaRPr lang="zh-CN" altLang="en-US" sz="9600" dirty="0">
              <a:solidFill>
                <a:prstClr val="white">
                  <a:lumMod val="50000"/>
                </a:prstClr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2" name="直角三角形 11"/>
          <p:cNvSpPr/>
          <p:nvPr userDrawn="1"/>
        </p:nvSpPr>
        <p:spPr>
          <a:xfrm>
            <a:off x="0" y="6508960"/>
            <a:ext cx="12107337" cy="349040"/>
          </a:xfrm>
          <a:prstGeom prst="rtTriangle">
            <a:avLst/>
          </a:prstGeom>
          <a:gradFill flip="none" rotWithShape="1">
            <a:gsLst>
              <a:gs pos="100000">
                <a:schemeClr val="bg1"/>
              </a:gs>
              <a:gs pos="29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0" Type="http://schemas.openxmlformats.org/officeDocument/2006/relationships/theme" Target="../theme/theme2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2610485" y="2600960"/>
            <a:ext cx="6971665" cy="110680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6600" dirty="0" smtClean="0">
                <a:ln w="0"/>
                <a:solidFill>
                  <a:srgbClr val="157DA8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机器人</a:t>
            </a:r>
            <a:r>
              <a:rPr lang="en-US" altLang="zh-CN" sz="6600" dirty="0" smtClean="0">
                <a:ln w="0"/>
                <a:solidFill>
                  <a:srgbClr val="157DA8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AI</a:t>
            </a:r>
            <a:r>
              <a:rPr lang="zh-CN" altLang="en-US" sz="6600" dirty="0" smtClean="0">
                <a:ln w="0"/>
                <a:solidFill>
                  <a:srgbClr val="157DA8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模块</a:t>
            </a:r>
            <a:endParaRPr lang="zh-CN" altLang="en-US" sz="6600" dirty="0" smtClean="0">
              <a:ln w="0"/>
              <a:solidFill>
                <a:srgbClr val="157DA8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265920" y="86360"/>
            <a:ext cx="29876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上海交通大学学生创新</a:t>
            </a:r>
            <a:r>
              <a:rPr lang="zh-CN" altLang="en-US"/>
              <a:t>中心</a:t>
            </a:r>
            <a:endParaRPr lang="zh-CN" altLang="en-US"/>
          </a:p>
          <a:p>
            <a:r>
              <a:rPr lang="zh-CN" altLang="en-US"/>
              <a:t>上海仪酷智能科技</a:t>
            </a:r>
            <a:r>
              <a:rPr lang="zh-CN" altLang="en-US"/>
              <a:t>有限公司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/>
              <a:t>YOLO</a:t>
            </a:r>
            <a:r>
              <a:rPr lang="zh-CN" altLang="en-US" sz="2400" b="1" dirty="0"/>
              <a:t>目标</a:t>
            </a:r>
            <a:r>
              <a:rPr lang="zh-CN" altLang="en-US" sz="2400" b="1" dirty="0"/>
              <a:t>检测</a:t>
            </a:r>
            <a:endParaRPr lang="zh-CN" altLang="en-US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985520" y="9994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https://github.com/ultralytics/ultralytics</a:t>
            </a: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1630" y="2355850"/>
            <a:ext cx="8439150" cy="380873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85520" y="1370965"/>
            <a:ext cx="88595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安装：</a:t>
            </a:r>
            <a:endParaRPr lang="zh-CN" altLang="en-US"/>
          </a:p>
          <a:p>
            <a:pPr marL="3200400" lvl="7" indent="457200"/>
            <a:r>
              <a:rPr lang="en-US" altLang="zh-CN" b="1"/>
              <a:t>pip install ultralytics</a:t>
            </a:r>
            <a:endParaRPr lang="en-US" altLang="zh-CN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/>
              <a:t>YOLO</a:t>
            </a:r>
            <a:r>
              <a:rPr lang="zh-CN" altLang="en-US" sz="2400" b="1" dirty="0"/>
              <a:t>目标</a:t>
            </a:r>
            <a:r>
              <a:rPr lang="zh-CN" altLang="en-US" sz="2400" b="1" dirty="0"/>
              <a:t>检测</a:t>
            </a:r>
            <a:endParaRPr lang="zh-CN" altLang="en-US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985520" y="928370"/>
            <a:ext cx="69049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https://docs.ultralytics.com/zh/datasets/detect/coco/#applications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0190" y="1367790"/>
            <a:ext cx="9150985" cy="52019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/>
              <a:t>YOLO</a:t>
            </a:r>
            <a:r>
              <a:rPr lang="zh-CN" altLang="en-US" sz="2400" b="1" dirty="0"/>
              <a:t>目标</a:t>
            </a:r>
            <a:r>
              <a:rPr lang="zh-CN" altLang="en-US" sz="2400" b="1" dirty="0"/>
              <a:t>检测</a:t>
            </a:r>
            <a:endParaRPr lang="zh-CN" altLang="en-US" sz="2400" b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265" y="2365375"/>
            <a:ext cx="5716905" cy="153289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300" y="1209040"/>
            <a:ext cx="5620385" cy="50641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/>
              <a:t>YOLO-</a:t>
            </a:r>
            <a:r>
              <a:rPr lang="zh-CN" altLang="en-US" sz="2400" b="1" dirty="0"/>
              <a:t>获取机器人视频流检测</a:t>
            </a:r>
            <a:endParaRPr lang="zh-CN" altLang="en-US" sz="24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3800" y="1346835"/>
            <a:ext cx="5473700" cy="52133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730" y="1445895"/>
            <a:ext cx="5474970" cy="28162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41960" y="10775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PC</a:t>
            </a:r>
            <a:r>
              <a:rPr lang="zh-CN" altLang="en-US" b="1"/>
              <a:t>端</a:t>
            </a:r>
            <a:endParaRPr lang="zh-CN" altLang="en-US" b="1"/>
          </a:p>
        </p:txBody>
      </p:sp>
      <p:sp>
        <p:nvSpPr>
          <p:cNvPr id="8" name="文本框 7"/>
          <p:cNvSpPr txBox="1"/>
          <p:nvPr/>
        </p:nvSpPr>
        <p:spPr>
          <a:xfrm>
            <a:off x="6273165" y="9594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机器人端</a:t>
            </a:r>
            <a:endParaRPr lang="zh-CN" altLang="en-US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/>
              <a:t>LLM</a:t>
            </a:r>
            <a:r>
              <a:rPr lang="zh-CN" altLang="en-US" sz="2400" b="1" dirty="0"/>
              <a:t>大语言模型</a:t>
            </a:r>
            <a:endParaRPr lang="zh-CN" altLang="en-US" sz="2400" b="1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6045" y="2134870"/>
            <a:ext cx="9458960" cy="2171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/>
              <a:t>LLM</a:t>
            </a:r>
            <a:r>
              <a:rPr lang="zh-CN" altLang="en-US" sz="2400" b="1" dirty="0"/>
              <a:t>大语言模型</a:t>
            </a:r>
            <a:r>
              <a:rPr lang="en-US" altLang="zh-CN" sz="2400" b="1" dirty="0"/>
              <a:t>-</a:t>
            </a:r>
            <a:r>
              <a:rPr lang="en-US" altLang="zh-CN" sz="2400" b="1" dirty="0"/>
              <a:t>Qwen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653415" y="1091565"/>
            <a:ext cx="103993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https://www.aliyun.com/product/tongyi?spm=5176.29597918.J_4VYgf18xNlTAyFFbOuOQe.d_menu_0.2b8e7b08Gy9WHG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145" y="2250440"/>
            <a:ext cx="4864100" cy="22288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002915"/>
            <a:ext cx="6017895" cy="27692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/>
              <a:t>LLM</a:t>
            </a:r>
            <a:r>
              <a:rPr lang="zh-CN" altLang="en-US" sz="2400" b="1" dirty="0"/>
              <a:t>大语言模型</a:t>
            </a:r>
            <a:r>
              <a:rPr lang="en-US" altLang="zh-CN" sz="2400" b="1" dirty="0"/>
              <a:t>-</a:t>
            </a:r>
            <a:r>
              <a:rPr lang="en-US" altLang="zh-CN" sz="2400" b="1" dirty="0"/>
              <a:t>Qwen</a:t>
            </a:r>
            <a:endParaRPr lang="en-US" altLang="zh-CN" sz="2400" b="1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7670" y="1122680"/>
            <a:ext cx="7341870" cy="525335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00075" y="1814830"/>
            <a:ext cx="3233420" cy="1614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20000"/>
              </a:lnSpc>
            </a:pPr>
            <a:r>
              <a:rPr lang="en-US" altLang="zh-CN" b="1"/>
              <a:t>base_url</a:t>
            </a:r>
            <a:r>
              <a:rPr lang="en-US" altLang="zh-CN"/>
              <a:t>:</a:t>
            </a:r>
            <a:r>
              <a:rPr lang="zh-CN" altLang="en-US"/>
              <a:t>模型服务</a:t>
            </a:r>
            <a:r>
              <a:rPr lang="zh-CN" altLang="en-US"/>
              <a:t>地址</a:t>
            </a:r>
            <a:endParaRPr lang="zh-CN" altLang="en-US"/>
          </a:p>
          <a:p>
            <a:pPr>
              <a:lnSpc>
                <a:spcPct val="120000"/>
              </a:lnSpc>
            </a:pPr>
            <a:r>
              <a:rPr lang="en-US" altLang="zh-CN" b="1"/>
              <a:t>messages:</a:t>
            </a:r>
            <a:r>
              <a:rPr lang="zh-CN" altLang="en-US"/>
              <a:t>角色设定和历史</a:t>
            </a:r>
            <a:r>
              <a:rPr lang="zh-CN" altLang="en-US"/>
              <a:t>对话</a:t>
            </a:r>
            <a:endParaRPr lang="zh-CN" altLang="en-US"/>
          </a:p>
          <a:p>
            <a:pPr>
              <a:lnSpc>
                <a:spcPct val="120000"/>
              </a:lnSpc>
            </a:pPr>
            <a:r>
              <a:rPr lang="en-US" altLang="zh-CN" b="1"/>
              <a:t>enable_thinking:</a:t>
            </a:r>
            <a:r>
              <a:rPr lang="zh-CN" altLang="en-US"/>
              <a:t>是否</a:t>
            </a:r>
            <a:r>
              <a:rPr lang="zh-CN" altLang="en-US"/>
              <a:t>思考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/>
              <a:t>MCP Server</a:t>
            </a:r>
            <a:r>
              <a:rPr lang="zh-CN" altLang="en-US" sz="2400" b="1" dirty="0"/>
              <a:t>与</a:t>
            </a:r>
            <a:r>
              <a:rPr lang="en-US" altLang="zh-CN" sz="2400" b="1" dirty="0"/>
              <a:t>Client</a:t>
            </a:r>
            <a:endParaRPr lang="en-US" altLang="zh-CN" sz="24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650" y="2083435"/>
            <a:ext cx="3737610" cy="284988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36625" y="13087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基本对话流程</a:t>
            </a:r>
            <a:endParaRPr lang="zh-CN" altLang="en-US" b="1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3560" y="1916430"/>
            <a:ext cx="3485515" cy="318389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829175" y="1308735"/>
            <a:ext cx="25781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早期函数（工具）调用</a:t>
            </a:r>
            <a:endParaRPr lang="zh-CN" altLang="en-US" b="1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9135" y="1916430"/>
            <a:ext cx="3434080" cy="319532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319135" y="1308735"/>
            <a:ext cx="1666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MCP</a:t>
            </a:r>
            <a:endParaRPr lang="en-US" altLang="zh-CN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/>
              <a:t>MCP Server</a:t>
            </a:r>
            <a:r>
              <a:rPr lang="zh-CN" altLang="en-US" sz="2400" b="1" dirty="0"/>
              <a:t>与</a:t>
            </a:r>
            <a:r>
              <a:rPr lang="en-US" altLang="zh-CN" sz="2400" b="1" dirty="0"/>
              <a:t>Client</a:t>
            </a:r>
            <a:endParaRPr lang="en-US" altLang="zh-CN" sz="2400" b="1" dirty="0"/>
          </a:p>
        </p:txBody>
      </p:sp>
      <p:pic>
        <p:nvPicPr>
          <p:cNvPr id="6" name="图片 5" descr="image-202511171557068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9430" y="2607310"/>
            <a:ext cx="6530975" cy="26466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570" y="2607310"/>
            <a:ext cx="4572635" cy="233997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856615" y="972185"/>
            <a:ext cx="7868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https://modelcontextprotocol.io/docs/getting-started/intro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462915" y="1704340"/>
            <a:ext cx="8656320" cy="538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en-US" altLang="zh-CN" b="1"/>
              <a:t>MCP</a:t>
            </a:r>
            <a:r>
              <a:rPr lang="zh-CN" altLang="en-US" b="1"/>
              <a:t>是</a:t>
            </a:r>
            <a:r>
              <a:rPr lang="en-US" altLang="zh-CN" b="1"/>
              <a:t>AI</a:t>
            </a:r>
            <a:r>
              <a:rPr lang="zh-CN" altLang="en-US" b="1"/>
              <a:t>应用的接口，能将各种外部系统连接到</a:t>
            </a:r>
            <a:r>
              <a:rPr lang="en-US" altLang="zh-CN" b="1"/>
              <a:t>AI</a:t>
            </a:r>
            <a:r>
              <a:rPr lang="zh-CN" altLang="en-US" b="1"/>
              <a:t>应用中。</a:t>
            </a:r>
            <a:endParaRPr lang="zh-CN" altLang="en-US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/>
              <a:t>MCP Server</a:t>
            </a:r>
            <a:r>
              <a:rPr lang="zh-CN" altLang="en-US" sz="2400" b="1" dirty="0"/>
              <a:t>与</a:t>
            </a:r>
            <a:r>
              <a:rPr lang="en-US" altLang="zh-CN" sz="2400" b="1" dirty="0"/>
              <a:t>Client</a:t>
            </a:r>
            <a:endParaRPr lang="en-US" altLang="zh-CN" sz="24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645" y="2834005"/>
            <a:ext cx="5450205" cy="287972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39470" y="1610360"/>
            <a:ext cx="3002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安装：</a:t>
            </a:r>
            <a:r>
              <a:rPr lang="en-US" altLang="zh-CN" b="1"/>
              <a:t> pip install "mcp[cli]"</a:t>
            </a:r>
            <a:endParaRPr lang="en-US" altLang="zh-CN" b="1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978660"/>
            <a:ext cx="5777230" cy="25730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/>
              <a:t>MCP Server</a:t>
            </a:r>
            <a:r>
              <a:rPr lang="zh-CN" altLang="en-US" sz="2400" b="1" dirty="0"/>
              <a:t>与</a:t>
            </a:r>
            <a:r>
              <a:rPr lang="en-US" altLang="zh-CN" sz="2400" b="1" dirty="0"/>
              <a:t>Client</a:t>
            </a:r>
            <a:endParaRPr lang="en-US" altLang="zh-CN" sz="24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861060" y="1078865"/>
            <a:ext cx="30734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定义</a:t>
            </a:r>
            <a:r>
              <a:rPr lang="en-US" altLang="zh-CN"/>
              <a:t>MCP </a:t>
            </a:r>
            <a:r>
              <a:rPr lang="en-US" altLang="zh-CN"/>
              <a:t>Server</a:t>
            </a:r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290" y="1632585"/>
            <a:ext cx="3462655" cy="45339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175" y="1543685"/>
            <a:ext cx="4036695" cy="50685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5872480" y="1078865"/>
            <a:ext cx="30734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定义</a:t>
            </a:r>
            <a:r>
              <a:rPr lang="en-US" altLang="zh-CN"/>
              <a:t>MCP Client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/>
              <a:t>MCP Server</a:t>
            </a:r>
            <a:r>
              <a:rPr lang="zh-CN" altLang="en-US" sz="2400" b="1" dirty="0"/>
              <a:t>与</a:t>
            </a:r>
            <a:r>
              <a:rPr lang="en-US" altLang="zh-CN" sz="2400" b="1" dirty="0"/>
              <a:t>Client</a:t>
            </a:r>
            <a:endParaRPr lang="en-US" altLang="zh-CN" sz="2400" b="1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985" y="1722120"/>
            <a:ext cx="11089005" cy="39001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/>
              <a:t>MCP Server</a:t>
            </a:r>
            <a:r>
              <a:rPr lang="zh-CN" altLang="en-US" sz="2400" b="1" dirty="0"/>
              <a:t>与</a:t>
            </a:r>
            <a:r>
              <a:rPr lang="en-US" altLang="zh-CN" sz="2400" b="1" dirty="0"/>
              <a:t>Client</a:t>
            </a:r>
            <a:endParaRPr lang="en-US" altLang="zh-CN" sz="24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19855" y="941070"/>
            <a:ext cx="4211320" cy="54844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MCP</a:t>
            </a:r>
            <a:r>
              <a:rPr lang="zh-CN" altLang="en-US" sz="2400" b="1" dirty="0"/>
              <a:t>工具</a:t>
            </a:r>
            <a:endParaRPr lang="zh-CN" altLang="en-US" sz="24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883920" y="1339215"/>
            <a:ext cx="20561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https://smithery.ai/</a:t>
            </a: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520" y="1765300"/>
            <a:ext cx="1836420" cy="4953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945255" y="1062355"/>
            <a:ext cx="36220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https://github.com/punkpeye/awesome-mcp-servers</a:t>
            </a:r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3025" y="1765300"/>
            <a:ext cx="6089015" cy="148780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520" y="3519805"/>
            <a:ext cx="1546860" cy="4191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963295" y="3060700"/>
            <a:ext cx="18580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https://mcp.so/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3883025" y="3614420"/>
            <a:ext cx="539115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https://bailian.console.aliyun.com/?spm=5176.29597918.J_SEsSjsNv72yRuRFS2VknO.2.357b7b08WDt1J0&amp;tab=mcp#/mcp-market</a:t>
            </a:r>
            <a:endParaRPr lang="en-US" altLang="zh-CN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3175" y="4613910"/>
            <a:ext cx="5326380" cy="18059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练习</a:t>
            </a:r>
            <a:endParaRPr lang="zh-CN" altLang="en-US" sz="24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1199515" y="1060450"/>
            <a:ext cx="9382760" cy="1872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30000"/>
              </a:lnSpc>
            </a:pPr>
            <a:r>
              <a:rPr lang="en-US" altLang="zh-CN" sz="2400"/>
              <a:t>1. </a:t>
            </a:r>
            <a:r>
              <a:rPr lang="zh-CN" altLang="en-US" sz="2400"/>
              <a:t>运行本节课程代码。</a:t>
            </a:r>
            <a:endParaRPr lang="zh-CN" altLang="en-US" sz="2400"/>
          </a:p>
          <a:p>
            <a:pPr>
              <a:lnSpc>
                <a:spcPct val="130000"/>
              </a:lnSpc>
            </a:pPr>
            <a:r>
              <a:rPr lang="en-US" altLang="zh-CN" sz="2400"/>
              <a:t>2. </a:t>
            </a:r>
            <a:r>
              <a:rPr lang="zh-CN" altLang="en-US" sz="2400"/>
              <a:t>提出三个任何与本节内容相关的问题，并自行回答。</a:t>
            </a:r>
            <a:endParaRPr lang="zh-CN" altLang="en-US" sz="2400"/>
          </a:p>
          <a:p>
            <a:pPr>
              <a:lnSpc>
                <a:spcPct val="130000"/>
              </a:lnSpc>
            </a:pPr>
            <a:r>
              <a:rPr lang="en-US" altLang="zh-CN" sz="2400"/>
              <a:t>3.</a:t>
            </a:r>
            <a:r>
              <a:rPr lang="zh-CN" altLang="en-US" sz="2400"/>
              <a:t>将代码和问题回答推送到</a:t>
            </a:r>
            <a:r>
              <a:rPr lang="en-US" altLang="zh-CN" sz="2400"/>
              <a:t>github</a:t>
            </a:r>
            <a:r>
              <a:rPr lang="zh-CN" altLang="en-US" sz="2400"/>
              <a:t>。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041964" y="2338038"/>
            <a:ext cx="1457608" cy="132207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CN" sz="8000" dirty="0">
                <a:solidFill>
                  <a:srgbClr val="E89E00"/>
                </a:solidFill>
                <a:ea typeface="Arial Unicode MS" panose="020B0604020202020204" pitchFamily="34" charset="-122"/>
                <a:cs typeface="Arial Unicode MS" panose="020B0604020202020204" pitchFamily="34" charset="-122"/>
              </a:rPr>
              <a:t>6</a:t>
            </a:r>
            <a:endParaRPr lang="en-US" altLang="zh-CN" sz="8000" dirty="0">
              <a:solidFill>
                <a:srgbClr val="E89E00"/>
              </a:solidFill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186014" y="3076017"/>
            <a:ext cx="4887877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b="1" dirty="0" smtClean="0">
                <a:solidFill>
                  <a:prstClr val="black"/>
                </a:solidFill>
                <a:latin typeface="宋体" panose="02010600030101010101" pitchFamily="2" charset="-122"/>
              </a:rPr>
              <a:t>第</a:t>
            </a:r>
            <a:r>
              <a:rPr lang="en-US" altLang="zh-CN" sz="3600" b="1" dirty="0" smtClean="0">
                <a:solidFill>
                  <a:prstClr val="black"/>
                </a:solidFill>
                <a:latin typeface="宋体" panose="02010600030101010101" pitchFamily="2" charset="-122"/>
              </a:rPr>
              <a:t>6</a:t>
            </a:r>
            <a:r>
              <a:rPr lang="zh-CN" altLang="en-US" sz="3600" b="1" dirty="0" smtClean="0">
                <a:solidFill>
                  <a:prstClr val="black"/>
                </a:solidFill>
                <a:latin typeface="宋体" panose="02010600030101010101" pitchFamily="2" charset="-122"/>
              </a:rPr>
              <a:t>课</a:t>
            </a:r>
            <a:r>
              <a:rPr lang="en-US" altLang="zh-CN" sz="3600" b="1" dirty="0" smtClean="0">
                <a:solidFill>
                  <a:prstClr val="black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3600" b="1" dirty="0" smtClean="0">
                <a:solidFill>
                  <a:prstClr val="black"/>
                </a:solidFill>
                <a:latin typeface="宋体" panose="02010600030101010101" pitchFamily="2" charset="-122"/>
              </a:rPr>
              <a:t>完</a:t>
            </a:r>
            <a:endParaRPr lang="en-US" altLang="zh-CN" sz="3600" b="1" dirty="0" smtClean="0">
              <a:solidFill>
                <a:prstClr val="black"/>
              </a:solidFill>
              <a:latin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186012" y="2337353"/>
            <a:ext cx="6761573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solidFill>
                  <a:srgbClr val="4472C4"/>
                </a:solidFill>
              </a:rPr>
              <a:t>机器人</a:t>
            </a:r>
            <a:r>
              <a:rPr lang="en-US" altLang="zh-CN" sz="3200" dirty="0" smtClean="0">
                <a:solidFill>
                  <a:srgbClr val="4472C4"/>
                </a:solidFill>
              </a:rPr>
              <a:t>AI</a:t>
            </a:r>
            <a:r>
              <a:rPr lang="zh-CN" altLang="en-US" sz="3200" dirty="0" smtClean="0">
                <a:solidFill>
                  <a:srgbClr val="4472C4"/>
                </a:solidFill>
              </a:rPr>
              <a:t>模块</a:t>
            </a:r>
            <a:endParaRPr lang="zh-CN" altLang="en-US" sz="3200" dirty="0" smtClean="0">
              <a:solidFill>
                <a:srgbClr val="4472C4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MH" val="20160830110410"/>
  <p:tag name="MH_LIBRARY" val="CONTENTS"/>
  <p:tag name="MH_TYPE" val="OTHERS"/>
  <p:tag name="ID" val="547132"/>
</p:tagLst>
</file>

<file path=ppt/tags/tag2.xml><?xml version="1.0" encoding="utf-8"?>
<p:tagLst xmlns:p="http://schemas.openxmlformats.org/presentationml/2006/main">
  <p:tag name="MH" val="20160830110410"/>
  <p:tag name="MH_LIBRARY" val="CONTENTS"/>
  <p:tag name="MH_TYPE" val="OTHERS"/>
  <p:tag name="ID" val="547132"/>
</p:tagLst>
</file>

<file path=ppt/tags/tag3.xml><?xml version="1.0" encoding="utf-8"?>
<p:tagLst xmlns:p="http://schemas.openxmlformats.org/presentationml/2006/main">
  <p:tag name="MH" val="20160830110410"/>
  <p:tag name="MH_LIBRARY" val="CONTENTS"/>
  <p:tag name="MH_TYPE" val="OTHERS"/>
  <p:tag name="ID" val="547132"/>
</p:tagLst>
</file>

<file path=ppt/tags/tag4.xml><?xml version="1.0" encoding="utf-8"?>
<p:tagLst xmlns:p="http://schemas.openxmlformats.org/presentationml/2006/main">
  <p:tag name="MH" val="20160830110410"/>
  <p:tag name="MH_LIBRARY" val="CONTENTS"/>
  <p:tag name="MH_TYPE" val="OTHERS"/>
  <p:tag name="ID" val="547132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28575">
          <a:tailEnd type="none"/>
        </a:ln>
      </a:spPr>
      <a:bodyPr/>
      <a:lstStyle/>
      <a:style>
        <a:lnRef idx="3">
          <a:schemeClr val="accent4"/>
        </a:lnRef>
        <a:fillRef idx="0">
          <a:schemeClr val="accent4"/>
        </a:fillRef>
        <a:effectRef idx="2">
          <a:schemeClr val="accent4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8100">
          <a:solidFill>
            <a:srgbClr val="4472C4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933</Words>
  <Application>WPS 演示</Application>
  <PresentationFormat>宽屏</PresentationFormat>
  <Paragraphs>86</Paragraphs>
  <Slides>17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30" baseType="lpstr">
      <vt:lpstr>Arial</vt:lpstr>
      <vt:lpstr>宋体</vt:lpstr>
      <vt:lpstr>Wingdings</vt:lpstr>
      <vt:lpstr>华文新魏</vt:lpstr>
      <vt:lpstr>黑体</vt:lpstr>
      <vt:lpstr>微软雅黑</vt:lpstr>
      <vt:lpstr>华文行楷</vt:lpstr>
      <vt:lpstr>Arial Unicode MS</vt:lpstr>
      <vt:lpstr>Calibri</vt:lpstr>
      <vt:lpstr>Arial Unicode MS</vt:lpstr>
      <vt:lpstr>Calibri Light</vt:lpstr>
      <vt:lpstr>Office 主题</vt:lpstr>
      <vt:lpstr>2_Office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上海仪酷智能科技有限公司</dc:creator>
  <cp:lastModifiedBy>╭⌒better进行时</cp:lastModifiedBy>
  <cp:revision>1018</cp:revision>
  <dcterms:created xsi:type="dcterms:W3CDTF">2017-07-25T03:07:00Z</dcterms:created>
  <dcterms:modified xsi:type="dcterms:W3CDTF">2025-11-19T02:56:54Z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8841B4F7B610481D8E35DE8E2DF00779_13</vt:lpwstr>
  </property>
  <property fmtid="{D5CDD505-2E9C-101B-9397-08002B2CF9AE}" pid="3" name="KSOProductBuildVer">
    <vt:lpwstr>2052-12.1.0.23542</vt:lpwstr>
  </property>
</Properties>
</file>