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42"/>
  </p:handoutMasterIdLst>
  <p:sldIdLst>
    <p:sldId id="322" r:id="rId4"/>
    <p:sldId id="364" r:id="rId6"/>
    <p:sldId id="410" r:id="rId7"/>
    <p:sldId id="412" r:id="rId8"/>
    <p:sldId id="413" r:id="rId9"/>
    <p:sldId id="414" r:id="rId10"/>
    <p:sldId id="411" r:id="rId11"/>
    <p:sldId id="415" r:id="rId12"/>
    <p:sldId id="416" r:id="rId13"/>
    <p:sldId id="417" r:id="rId14"/>
    <p:sldId id="418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38" r:id="rId33"/>
    <p:sldId id="439" r:id="rId34"/>
    <p:sldId id="440" r:id="rId35"/>
    <p:sldId id="441" r:id="rId36"/>
    <p:sldId id="442" r:id="rId37"/>
    <p:sldId id="443" r:id="rId38"/>
    <p:sldId id="444" r:id="rId39"/>
    <p:sldId id="356" r:id="rId40"/>
    <p:sldId id="320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51" userDrawn="1">
          <p15:clr>
            <a:srgbClr val="A4A3A4"/>
          </p15:clr>
        </p15:guide>
        <p15:guide id="2" orient="horz" pos="22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奇" initials="马奇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89E00"/>
    <a:srgbClr val="FF9900"/>
    <a:srgbClr val="FFCCCC"/>
    <a:srgbClr val="D8BBA1"/>
    <a:srgbClr val="E2C718"/>
    <a:srgbClr val="D61621"/>
    <a:srgbClr val="FFD002"/>
    <a:srgbClr val="FF66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8" autoAdjust="0"/>
    <p:restoredTop sz="79859" autoAdjust="0"/>
  </p:normalViewPr>
  <p:slideViewPr>
    <p:cSldViewPr snapToGrid="0" showGuides="1">
      <p:cViewPr varScale="1">
        <p:scale>
          <a:sx n="83" d="100"/>
          <a:sy n="83" d="100"/>
        </p:scale>
        <p:origin x="438" y="84"/>
      </p:cViewPr>
      <p:guideLst>
        <p:guide pos="3851"/>
        <p:guide orient="horz" pos="22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35978-AA0F-4019-89CE-7C0DBBEECE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 rot="5400000">
            <a:off x="4050259" y="-4050255"/>
            <a:ext cx="1802935" cy="990345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9" name="任意多边形 8"/>
          <p:cNvSpPr/>
          <p:nvPr userDrawn="1"/>
        </p:nvSpPr>
        <p:spPr>
          <a:xfrm flipH="1">
            <a:off x="10111813" y="1412240"/>
            <a:ext cx="2080184" cy="544576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2385073" y="-2385070"/>
            <a:ext cx="1061693" cy="583184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483399" y="-1483401"/>
            <a:ext cx="660321" cy="362712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2" name="任意多边形 11"/>
          <p:cNvSpPr/>
          <p:nvPr userDrawn="1"/>
        </p:nvSpPr>
        <p:spPr>
          <a:xfrm flipH="1">
            <a:off x="10993120" y="3719437"/>
            <a:ext cx="1198876" cy="3138563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273790" y="-94255"/>
            <a:ext cx="2995243" cy="1264792"/>
            <a:chOff x="8303568" y="2694"/>
            <a:chExt cx="3888434" cy="164195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156" y="221822"/>
              <a:ext cx="2909748" cy="142282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8303571" y="2694"/>
              <a:ext cx="3888431" cy="606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sz="3200" dirty="0">
                <a:solidFill>
                  <a:srgbClr val="0070C0"/>
                </a:solidFill>
                <a:latin typeface="+mj-lt"/>
                <a:ea typeface="华文新魏" panose="0201080004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03568" y="274888"/>
              <a:ext cx="3888431" cy="979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0070C0"/>
                  </a:solidFill>
                  <a:ea typeface="华文新魏" panose="02010800040101010101" pitchFamily="2" charset="-122"/>
                </a:rPr>
                <a:t>VI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R </a:t>
              </a:r>
              <a:r>
                <a:rPr lang="en-US" altLang="zh-CN" sz="3200" dirty="0">
                  <a:ea typeface="华文新魏" panose="02010800040101010101" pitchFamily="2" charset="-122"/>
                </a:rPr>
                <a:t>      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tics</a:t>
              </a:r>
              <a:endParaRPr lang="en-US" altLang="zh-CN" sz="3200" dirty="0">
                <a:solidFill>
                  <a:schemeClr val="bg1">
                    <a:lumMod val="65000"/>
                  </a:schemeClr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6" name="任意多边形 15"/>
          <p:cNvSpPr/>
          <p:nvPr userDrawn="1"/>
        </p:nvSpPr>
        <p:spPr>
          <a:xfrm rot="5400000" flipH="1">
            <a:off x="140597" y="5298178"/>
            <a:ext cx="1419223" cy="170041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7" name="任意多边形 16"/>
          <p:cNvSpPr/>
          <p:nvPr userDrawn="1"/>
        </p:nvSpPr>
        <p:spPr>
          <a:xfrm rot="5400000" flipH="1">
            <a:off x="86469" y="5898692"/>
            <a:ext cx="872838" cy="104577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年快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151"/>
            <a:ext cx="2395959" cy="1564128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D6162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5" name="任意多边形 14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2C71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1064" y="748598"/>
            <a:ext cx="1221533" cy="450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pic>
        <p:nvPicPr>
          <p:cNvPr id="11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 userDrawn="1"/>
        </p:nvSpPr>
        <p:spPr>
          <a:xfrm rot="10800000" flipH="1">
            <a:off x="-3" y="-2"/>
            <a:ext cx="4563538" cy="2514602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8" name="任意多边形 7"/>
          <p:cNvSpPr/>
          <p:nvPr userDrawn="1"/>
        </p:nvSpPr>
        <p:spPr>
          <a:xfrm rot="5400000">
            <a:off x="3805768" y="-3805763"/>
            <a:ext cx="1168396" cy="877993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1697568" y="-1697564"/>
            <a:ext cx="1168399" cy="4563535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127283" y="-1127283"/>
            <a:ext cx="827303" cy="308187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239095" y="76203"/>
            <a:ext cx="3666413" cy="1775426"/>
            <a:chOff x="9196760" y="0"/>
            <a:chExt cx="3666413" cy="1775426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2065" y="307923"/>
              <a:ext cx="3001108" cy="146750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9196760" y="0"/>
              <a:ext cx="299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上海交通大学工程训练中心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0533" y="660321"/>
              <a:ext cx="762708" cy="762708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 userDrawn="1"/>
        </p:nvGrpSpPr>
        <p:grpSpPr>
          <a:xfrm rot="10800000">
            <a:off x="8779935" y="4741014"/>
            <a:ext cx="3412065" cy="2116984"/>
            <a:chOff x="2810930" y="2822526"/>
            <a:chExt cx="8779937" cy="2526726"/>
          </a:xfrm>
        </p:grpSpPr>
        <p:sp>
          <p:nvSpPr>
            <p:cNvPr id="58" name="任意多边形 57"/>
            <p:cNvSpPr/>
            <p:nvPr userDrawn="1"/>
          </p:nvSpPr>
          <p:spPr>
            <a:xfrm rot="10800000" flipH="1">
              <a:off x="2810930" y="2834650"/>
              <a:ext cx="4563537" cy="2514602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E89E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 userDrawn="1"/>
          </p:nvSpPr>
          <p:spPr>
            <a:xfrm rot="5400000">
              <a:off x="6616701" y="-983237"/>
              <a:ext cx="1168396" cy="8779937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157DA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 userDrawn="1"/>
          </p:nvSpPr>
          <p:spPr>
            <a:xfrm rot="5400000">
              <a:off x="4508501" y="1124962"/>
              <a:ext cx="1168399" cy="4563535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 userDrawn="1"/>
          </p:nvSpPr>
          <p:spPr>
            <a:xfrm rot="5400000">
              <a:off x="3938216" y="1695243"/>
              <a:ext cx="827303" cy="3081870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综合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5" name="矩形 4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直角三角形 7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4472C4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讲</a:t>
            </a:r>
            <a:endParaRPr lang="zh-CN" altLang="en-US" sz="9600" dirty="0">
              <a:solidFill>
                <a:srgbClr val="4472C4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rgbClr val="E89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4" name="直角三角形 13"/>
          <p:cNvSpPr/>
          <p:nvPr userDrawn="1"/>
        </p:nvSpPr>
        <p:spPr>
          <a:xfrm>
            <a:off x="0" y="6477000"/>
            <a:ext cx="12107336" cy="381000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E89E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endParaRPr lang="zh-CN" altLang="en-US" sz="9600" dirty="0">
              <a:solidFill>
                <a:srgbClr val="E89E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4664" y="3977"/>
            <a:ext cx="12107336" cy="3453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prstClr val="white">
                    <a:lumMod val="50000"/>
                  </a:prst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练</a:t>
            </a:r>
            <a:endParaRPr lang="zh-CN" altLang="en-US" sz="9600" dirty="0">
              <a:solidFill>
                <a:prstClr val="white">
                  <a:lumMod val="50000"/>
                </a:prst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hyperlink" Target="https://gradients.app/zh/converte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03201" y="2431690"/>
            <a:ext cx="7804514" cy="11068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Opencv</a:t>
            </a:r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与机器人</a:t>
            </a:r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视觉</a:t>
            </a:r>
            <a:endParaRPr lang="zh-CN" altLang="en-US" sz="6600" dirty="0" smtClean="0">
              <a:ln w="0"/>
              <a:solidFill>
                <a:srgbClr val="157DA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Opencv</a:t>
            </a:r>
            <a:r>
              <a:rPr lang="zh-CN" altLang="en-US" sz="2400" b="1" dirty="0"/>
              <a:t>简介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618615"/>
            <a:ext cx="10524490" cy="1736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en-US" altLang="zh-CN"/>
              <a:t>OpenCV (Open Source Computer Vision Library)</a:t>
            </a:r>
            <a:r>
              <a:rPr lang="zh-CN" altLang="en-US"/>
              <a:t>。一个开源的</a:t>
            </a:r>
            <a:r>
              <a:rPr lang="en-US" altLang="zh-CN"/>
              <a:t> </a:t>
            </a:r>
            <a:r>
              <a:rPr lang="zh-CN" altLang="en-US"/>
              <a:t>计算机视觉与图像处理库。由</a:t>
            </a:r>
            <a:r>
              <a:rPr lang="en-US" altLang="zh-CN"/>
              <a:t> Intel </a:t>
            </a:r>
            <a:r>
              <a:rPr lang="zh-CN" altLang="en-US"/>
              <a:t>发起，支持</a:t>
            </a:r>
            <a:r>
              <a:rPr lang="en-US" altLang="zh-CN"/>
              <a:t> C++</a:t>
            </a:r>
            <a:r>
              <a:rPr lang="zh-CN" altLang="en-US"/>
              <a:t>、</a:t>
            </a:r>
            <a:r>
              <a:rPr lang="en-US" altLang="zh-CN"/>
              <a:t>Python</a:t>
            </a:r>
            <a:r>
              <a:rPr lang="zh-CN" altLang="en-US"/>
              <a:t>、</a:t>
            </a:r>
            <a:r>
              <a:rPr lang="en-US" altLang="zh-CN"/>
              <a:t>Java</a:t>
            </a:r>
            <a:r>
              <a:rPr lang="zh-CN" altLang="en-US"/>
              <a:t>等多种语言。可以在</a:t>
            </a:r>
            <a:r>
              <a:rPr lang="en-US" altLang="zh-CN"/>
              <a:t>Windows</a:t>
            </a:r>
            <a:r>
              <a:rPr lang="zh-CN" altLang="en-US"/>
              <a:t>、</a:t>
            </a:r>
            <a:r>
              <a:rPr lang="en-US" altLang="zh-CN"/>
              <a:t>Linux</a:t>
            </a:r>
            <a:r>
              <a:rPr lang="zh-CN" altLang="en-US"/>
              <a:t>、</a:t>
            </a:r>
            <a:r>
              <a:rPr lang="en-US" altLang="zh-CN"/>
              <a:t>macOS</a:t>
            </a:r>
            <a:r>
              <a:rPr lang="zh-CN" altLang="en-US"/>
              <a:t>、</a:t>
            </a:r>
            <a:r>
              <a:rPr lang="en-US" altLang="zh-CN"/>
              <a:t>Android</a:t>
            </a:r>
            <a:r>
              <a:rPr lang="zh-CN" altLang="en-US"/>
              <a:t>、</a:t>
            </a:r>
            <a:r>
              <a:rPr lang="en-US" altLang="zh-CN"/>
              <a:t>iOS</a:t>
            </a:r>
            <a:r>
              <a:rPr lang="zh-CN" altLang="en-US"/>
              <a:t>等平台运行。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zh-CN" altLang="en-US"/>
              <a:t>安装：</a:t>
            </a:r>
            <a:r>
              <a:rPr lang="en-US" altLang="zh-CN"/>
              <a:t>	</a:t>
            </a:r>
            <a:endParaRPr lang="en-US" altLang="zh-CN"/>
          </a:p>
          <a:p>
            <a:pPr marL="3657600" lvl="8" indent="457200">
              <a:lnSpc>
                <a:spcPct val="130000"/>
              </a:lnSpc>
            </a:pPr>
            <a:r>
              <a:rPr lang="en-US" altLang="zh-CN" b="1"/>
              <a:t>pip install opencv-python</a:t>
            </a:r>
            <a:r>
              <a:rPr lang="en-US" altLang="zh-CN"/>
              <a:t>	</a:t>
            </a:r>
            <a:endParaRPr lang="zh-CN" altLang="en-US"/>
          </a:p>
          <a:p>
            <a:pPr>
              <a:lnSpc>
                <a:spcPct val="130000"/>
              </a:lnSpc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140" y="3619500"/>
            <a:ext cx="1574165" cy="1791335"/>
          </a:xfrm>
          <a:prstGeom prst="rect">
            <a:avLst/>
          </a:prstGeom>
        </p:spPr>
      </p:pic>
      <p:pic>
        <p:nvPicPr>
          <p:cNvPr id="5" name="图片 4" descr="opencv_module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5" y="3619500"/>
            <a:ext cx="5297170" cy="1856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读取图片</a:t>
            </a:r>
            <a:endParaRPr lang="zh-CN" altLang="en-US" sz="2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4730" y="1254125"/>
            <a:ext cx="5873750" cy="45027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1055" y="1584960"/>
            <a:ext cx="2720340" cy="622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b="1"/>
              <a:t>cv2.imread(img_path)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写入图片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21055" y="1584960"/>
            <a:ext cx="2720340" cy="622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b="1"/>
              <a:t>cv2.imwrite(name, img)</a:t>
            </a:r>
            <a:endParaRPr lang="zh-CN" altLang="en-US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5915" y="2207260"/>
            <a:ext cx="6624955" cy="1922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写入图片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21055" y="1584960"/>
            <a:ext cx="2720340" cy="622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b="1"/>
              <a:t>cv2.imwrite(name, img)</a:t>
            </a:r>
            <a:endParaRPr lang="zh-CN" altLang="en-US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5915" y="1673225"/>
            <a:ext cx="6624955" cy="19221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985" y="3731895"/>
            <a:ext cx="4122420" cy="2839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图像缩放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15595" y="1456055"/>
            <a:ext cx="4607560" cy="2141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b="1"/>
              <a:t>cv2.resize(</a:t>
            </a:r>
            <a:r>
              <a:rPr lang="en-US" altLang="zh-CN" b="1"/>
              <a:t>src, dsize, dst=None, fx=0, fy=0</a:t>
            </a:r>
            <a:r>
              <a:rPr lang="en-US" b="1"/>
              <a:t>)</a:t>
            </a:r>
            <a:endParaRPr lang="en-US" b="1"/>
          </a:p>
          <a:p>
            <a:pPr>
              <a:lnSpc>
                <a:spcPct val="130000"/>
              </a:lnSpc>
            </a:pPr>
            <a:r>
              <a:rPr lang="zh-CN" altLang="en-US"/>
              <a:t>参数：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/>
              <a:t>src</a:t>
            </a:r>
            <a:r>
              <a:rPr lang="zh-CN" altLang="en-US"/>
              <a:t>：图片</a:t>
            </a:r>
            <a:r>
              <a:rPr lang="en-US" altLang="zh-CN"/>
              <a:t>numpy</a:t>
            </a:r>
            <a:r>
              <a:rPr lang="zh-CN" altLang="en-US"/>
              <a:t>数组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/>
              <a:t>dst</a:t>
            </a:r>
            <a:r>
              <a:rPr lang="zh-CN" altLang="en-US"/>
              <a:t>：目标图像的大小，元组</a:t>
            </a:r>
            <a:r>
              <a:rPr lang="en-US" altLang="zh-CN"/>
              <a:t>(w, h)</a:t>
            </a:r>
            <a:endParaRPr lang="en-US" altLang="zh-CN"/>
          </a:p>
          <a:p>
            <a:pPr indent="457200">
              <a:lnSpc>
                <a:spcPct val="130000"/>
              </a:lnSpc>
            </a:pPr>
            <a:r>
              <a:rPr lang="en-US" altLang="zh-CN"/>
              <a:t>fx</a:t>
            </a:r>
            <a:r>
              <a:rPr lang="zh-CN" altLang="en-US"/>
              <a:t>：宽度缩放因子，</a:t>
            </a:r>
            <a:r>
              <a:rPr lang="en-US" altLang="zh-CN"/>
              <a:t>0.5</a:t>
            </a:r>
            <a:r>
              <a:rPr lang="zh-CN" altLang="en-US"/>
              <a:t>表示原来</a:t>
            </a:r>
            <a:r>
              <a:rPr lang="zh-CN" altLang="en-US"/>
              <a:t>一半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/>
              <a:t>fy</a:t>
            </a:r>
            <a:r>
              <a:rPr lang="zh-CN" altLang="en-US"/>
              <a:t>：高度缩放</a:t>
            </a:r>
            <a:r>
              <a:rPr lang="zh-CN" altLang="en-US"/>
              <a:t>因子</a:t>
            </a:r>
            <a:endParaRPr lang="zh-CN" altLang="en-US"/>
          </a:p>
          <a:p>
            <a:pPr indent="0">
              <a:lnSpc>
                <a:spcPct val="130000"/>
              </a:lnSpc>
            </a:pPr>
            <a:r>
              <a:rPr lang="zh-CN" altLang="en-US"/>
              <a:t>使用</a:t>
            </a:r>
            <a:r>
              <a:rPr lang="en-US" altLang="zh-CN"/>
              <a:t>fx</a:t>
            </a:r>
            <a:r>
              <a:rPr lang="zh-CN" altLang="en-US"/>
              <a:t>，</a:t>
            </a:r>
            <a:r>
              <a:rPr lang="en-US" altLang="zh-CN"/>
              <a:t>fy</a:t>
            </a:r>
            <a:r>
              <a:rPr lang="zh-CN" altLang="en-US"/>
              <a:t>时，</a:t>
            </a:r>
            <a:r>
              <a:rPr lang="en-US" altLang="zh-CN"/>
              <a:t>dst</a:t>
            </a:r>
            <a:r>
              <a:rPr lang="zh-CN" altLang="en-US"/>
              <a:t>可设置为</a:t>
            </a:r>
            <a:r>
              <a:rPr lang="en-US" altLang="zh-CN"/>
              <a:t>(0, 0)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2520" y="1986280"/>
            <a:ext cx="6527800" cy="2940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图像旋转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158240"/>
            <a:ext cx="10524490" cy="199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固定角度：</a:t>
            </a:r>
            <a:endParaRPr lang="en-US"/>
          </a:p>
          <a:p>
            <a:pPr indent="457200">
              <a:lnSpc>
                <a:spcPct val="130000"/>
              </a:lnSpc>
            </a:pPr>
            <a:r>
              <a:rPr lang="en-US"/>
              <a:t>cv2.rotate(img, </a:t>
            </a:r>
            <a:r>
              <a:rPr lang="en-US" altLang="zh-CN"/>
              <a:t>rotateCode</a:t>
            </a:r>
            <a:r>
              <a:rPr lang="en-US"/>
              <a:t>)</a:t>
            </a:r>
            <a:endParaRPr lang="en-US"/>
          </a:p>
          <a:p>
            <a:pPr>
              <a:lnSpc>
                <a:spcPct val="130000"/>
              </a:lnSpc>
            </a:pPr>
            <a:r>
              <a:rPr lang="zh-CN" altLang="en-US"/>
              <a:t>任意</a:t>
            </a:r>
            <a:r>
              <a:rPr lang="zh-CN" altLang="en-US"/>
              <a:t>角度：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/>
              <a:t>cv2.warpAffine(img, M, (w, h))</a:t>
            </a:r>
            <a:endParaRPr lang="en-US" altLang="zh-CN"/>
          </a:p>
          <a:p>
            <a:pPr indent="457200">
              <a:lnSpc>
                <a:spcPct val="130000"/>
              </a:lnSpc>
            </a:pPr>
            <a:r>
              <a:rPr lang="en-US" altLang="zh-CN"/>
              <a:t>M</a:t>
            </a:r>
            <a:r>
              <a:rPr lang="zh-CN" altLang="en-US"/>
              <a:t>为旋转矩阵，包含旋转和缩放</a:t>
            </a:r>
            <a:r>
              <a:rPr lang="zh-CN" altLang="en-US"/>
              <a:t>信息。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25" y="3570605"/>
            <a:ext cx="6300470" cy="22752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565" y="3429000"/>
            <a:ext cx="4890135" cy="2661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图像裁剪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26415" y="1075690"/>
            <a:ext cx="10524490" cy="944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en-US" altLang="zh-CN"/>
              <a:t>img[100:300, 200:400]</a:t>
            </a:r>
            <a:r>
              <a:rPr lang="zh-CN" altLang="en-US"/>
              <a:t>可以看成</a:t>
            </a:r>
            <a:r>
              <a:rPr lang="en-US" altLang="zh-CN"/>
              <a:t>img[row, coloumn]</a:t>
            </a:r>
            <a:r>
              <a:rPr lang="zh-CN" altLang="en-US"/>
              <a:t>，也就是取图片</a:t>
            </a:r>
            <a:r>
              <a:rPr lang="en-US" altLang="zh-CN"/>
              <a:t>100-300</a:t>
            </a:r>
            <a:r>
              <a:rPr lang="zh-CN" altLang="en-US"/>
              <a:t>之间的行，和</a:t>
            </a:r>
            <a:r>
              <a:rPr lang="en-US" altLang="zh-CN"/>
              <a:t>200-400</a:t>
            </a:r>
            <a:r>
              <a:rPr lang="zh-CN" altLang="en-US"/>
              <a:t>的列。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610" y="2828290"/>
            <a:ext cx="3839845" cy="16427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290" y="2200910"/>
            <a:ext cx="4955540" cy="3811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图像翻转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254760"/>
            <a:ext cx="3639820" cy="669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b="1"/>
              <a:t>cv2.flip(img, </a:t>
            </a:r>
            <a:r>
              <a:rPr lang="en-US" altLang="zh-CN" b="1"/>
              <a:t>flipCode)</a:t>
            </a:r>
            <a:endParaRPr lang="en-US" altLang="zh-CN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8200" y="2371090"/>
            <a:ext cx="4077335" cy="34137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35" y="2727325"/>
            <a:ext cx="5801995" cy="2891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颜色空间转换</a:t>
            </a:r>
            <a:endParaRPr lang="zh-CN" altLang="en-US" sz="2400" b="1" dirty="0"/>
          </a:p>
        </p:txBody>
      </p:sp>
      <p:pic>
        <p:nvPicPr>
          <p:cNvPr id="3" name="图片 2">
            <a:hlinkClick r:id="rId1" tooltip="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40" y="1993265"/>
            <a:ext cx="7726045" cy="37109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41400" y="1122680"/>
            <a:ext cx="8655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颜色调试网站：</a:t>
            </a:r>
            <a:r>
              <a:rPr lang="en-US" altLang="zh-CN"/>
              <a:t>https://gradients.app/zh/converter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>
                <a:sym typeface="+mn-ea"/>
              </a:rPr>
              <a:t>颜色空间转换</a:t>
            </a:r>
            <a:endParaRPr lang="zh-CN" altLang="en-US" sz="2400" b="1" dirty="0"/>
          </a:p>
          <a:p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149350"/>
            <a:ext cx="10524490" cy="944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在</a:t>
            </a:r>
            <a:r>
              <a:rPr lang="en-US" altLang="zh-CN"/>
              <a:t>OpenCV</a:t>
            </a:r>
            <a:r>
              <a:rPr lang="zh-CN" altLang="en-US"/>
              <a:t>中，图像默认是</a:t>
            </a:r>
            <a:r>
              <a:rPr lang="en-US" altLang="zh-CN"/>
              <a:t>BRG</a:t>
            </a:r>
            <a:r>
              <a:rPr lang="zh-CN" altLang="en-US"/>
              <a:t>格式（不是</a:t>
            </a:r>
            <a:r>
              <a:rPr lang="en-US" altLang="zh-CN"/>
              <a:t>RGB</a:t>
            </a:r>
            <a:r>
              <a:rPr lang="zh-CN" altLang="en-US"/>
              <a:t>），可以使用</a:t>
            </a:r>
            <a:r>
              <a:rPr lang="en-US" altLang="zh-CN" b="1"/>
              <a:t>cv2.cvtColor(img, code)</a:t>
            </a:r>
            <a:r>
              <a:rPr lang="zh-CN" altLang="en-US"/>
              <a:t>来进行颜色空间转换。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3800" y="2312035"/>
            <a:ext cx="7264400" cy="2878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>
                <a:sym typeface="+mn-ea"/>
              </a:rPr>
              <a:t>颜色空间转换</a:t>
            </a:r>
            <a:endParaRPr lang="zh-CN" altLang="en-US" sz="2400" b="1" dirty="0"/>
          </a:p>
          <a:p>
            <a:endParaRPr lang="en-US" altLang="zh-CN" sz="2400" b="1" dirty="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4355" y="1124585"/>
            <a:ext cx="10524490" cy="413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</a:pPr>
            <a:r>
              <a:rPr lang="en-US" altLang="zh-CN"/>
              <a:t>Gray</a:t>
            </a:r>
            <a:r>
              <a:rPr lang="zh-CN" altLang="en-US"/>
              <a:t>：灰度图，减少了颜色信息，只保留亮度。常用于边缘检测、特征提取、简化计算</a:t>
            </a:r>
            <a:r>
              <a:rPr lang="zh-CN" altLang="en-US"/>
              <a:t>等。</a:t>
            </a:r>
            <a:endParaRPr lang="zh-CN" altLang="en-US"/>
          </a:p>
          <a:p>
            <a:pPr indent="0">
              <a:lnSpc>
                <a:spcPct val="130000"/>
              </a:lnSpc>
            </a:pPr>
            <a:endParaRPr lang="en-US" altLang="zh-CN"/>
          </a:p>
          <a:p>
            <a:pPr indent="0">
              <a:lnSpc>
                <a:spcPct val="130000"/>
              </a:lnSpc>
            </a:pPr>
            <a:r>
              <a:rPr lang="en-US" altLang="zh-CN"/>
              <a:t>HSV</a:t>
            </a:r>
            <a:r>
              <a:rPr lang="zh-CN" altLang="en-US"/>
              <a:t>：色相</a:t>
            </a:r>
            <a:r>
              <a:rPr lang="en-US" altLang="zh-CN"/>
              <a:t>-</a:t>
            </a:r>
            <a:r>
              <a:rPr lang="zh-CN" altLang="en-US"/>
              <a:t>饱和度</a:t>
            </a:r>
            <a:r>
              <a:rPr lang="en-US" altLang="zh-CN"/>
              <a:t>-</a:t>
            </a:r>
            <a:r>
              <a:rPr lang="zh-CN" altLang="en-US"/>
              <a:t>亮度，常用于颜色检测（比如提取红色物体）。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 b="1"/>
              <a:t>H (Hue</a:t>
            </a:r>
            <a:r>
              <a:rPr lang="zh-CN" altLang="en-US" b="1"/>
              <a:t>，色相</a:t>
            </a:r>
            <a:r>
              <a:rPr lang="en-US" altLang="zh-CN" b="1"/>
              <a:t>)</a:t>
            </a:r>
            <a:r>
              <a:rPr lang="zh-CN" altLang="en-US"/>
              <a:t>：</a:t>
            </a:r>
            <a:r>
              <a:rPr lang="en-US" altLang="zh-CN"/>
              <a:t>0–179</a:t>
            </a:r>
            <a:r>
              <a:rPr lang="zh-CN" altLang="en-US"/>
              <a:t>（在</a:t>
            </a:r>
            <a:r>
              <a:rPr lang="en-US" altLang="zh-CN"/>
              <a:t> OpenCV </a:t>
            </a:r>
            <a:r>
              <a:rPr lang="zh-CN" altLang="en-US"/>
              <a:t>中范围是</a:t>
            </a:r>
            <a:r>
              <a:rPr lang="en-US" altLang="zh-CN"/>
              <a:t> 0–179</a:t>
            </a:r>
            <a:r>
              <a:rPr lang="zh-CN" altLang="en-US"/>
              <a:t>，而不是</a:t>
            </a:r>
            <a:r>
              <a:rPr lang="en-US" altLang="zh-CN"/>
              <a:t> 0–360</a:t>
            </a:r>
            <a:r>
              <a:rPr lang="zh-CN" altLang="en-US"/>
              <a:t>）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 b="1"/>
              <a:t>S (Saturation</a:t>
            </a:r>
            <a:r>
              <a:rPr lang="zh-CN" altLang="en-US" b="1"/>
              <a:t>，饱和度</a:t>
            </a:r>
            <a:r>
              <a:rPr lang="en-US" altLang="zh-CN" b="1"/>
              <a:t>)</a:t>
            </a:r>
            <a:r>
              <a:rPr lang="zh-CN" altLang="en-US"/>
              <a:t>：</a:t>
            </a:r>
            <a:r>
              <a:rPr lang="en-US" altLang="zh-CN"/>
              <a:t>0–255</a:t>
            </a:r>
            <a:r>
              <a:rPr lang="zh-CN" altLang="en-US"/>
              <a:t>（颜色的纯度，越高越鲜艳）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 b="1"/>
              <a:t>V (Value</a:t>
            </a:r>
            <a:r>
              <a:rPr lang="zh-CN" altLang="en-US" b="1"/>
              <a:t>，明度</a:t>
            </a:r>
            <a:r>
              <a:rPr lang="en-US" altLang="zh-CN" b="1"/>
              <a:t>/</a:t>
            </a:r>
            <a:r>
              <a:rPr lang="zh-CN" altLang="en-US" b="1"/>
              <a:t>亮度</a:t>
            </a:r>
            <a:r>
              <a:rPr lang="en-US" altLang="zh-CN" b="1"/>
              <a:t>)</a:t>
            </a:r>
            <a:r>
              <a:rPr lang="zh-CN" altLang="en-US"/>
              <a:t>：</a:t>
            </a:r>
            <a:r>
              <a:rPr lang="en-US" altLang="zh-CN"/>
              <a:t>0–255</a:t>
            </a:r>
            <a:r>
              <a:rPr lang="zh-CN" altLang="en-US"/>
              <a:t>（亮度，越高越亮）</a:t>
            </a:r>
            <a:endParaRPr lang="zh-CN" altLang="en-US"/>
          </a:p>
          <a:p>
            <a:pPr indent="0">
              <a:lnSpc>
                <a:spcPct val="130000"/>
              </a:lnSpc>
            </a:pPr>
            <a:endParaRPr lang="en-US" altLang="zh-CN"/>
          </a:p>
          <a:p>
            <a:pPr indent="0">
              <a:lnSpc>
                <a:spcPct val="130000"/>
              </a:lnSpc>
            </a:pPr>
            <a:r>
              <a:rPr lang="en-US" altLang="zh-CN"/>
              <a:t>Lab</a:t>
            </a:r>
            <a:r>
              <a:rPr lang="zh-CN" altLang="en-US"/>
              <a:t>：一种设备无关的颜色模型，</a:t>
            </a:r>
            <a:r>
              <a:rPr lang="zh-CN" altLang="en-US"/>
              <a:t>颜色感知均匀。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 b="1"/>
              <a:t>L (</a:t>
            </a:r>
            <a:r>
              <a:rPr lang="zh-CN" altLang="en-US" b="1"/>
              <a:t>亮度</a:t>
            </a:r>
            <a:r>
              <a:rPr lang="en-US" altLang="zh-CN" b="1"/>
              <a:t>)</a:t>
            </a:r>
            <a:r>
              <a:rPr lang="zh-CN" altLang="en-US"/>
              <a:t>：范围</a:t>
            </a:r>
            <a:r>
              <a:rPr lang="en-US" altLang="zh-CN"/>
              <a:t> 0-100,</a:t>
            </a:r>
            <a:r>
              <a:rPr lang="zh-CN" altLang="en-US"/>
              <a:t>表示从黑到白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 b="1"/>
              <a:t>A</a:t>
            </a:r>
            <a:r>
              <a:rPr lang="zh-CN" altLang="en-US"/>
              <a:t>：范围</a:t>
            </a:r>
            <a:r>
              <a:rPr lang="en-US" altLang="zh-CN"/>
              <a:t> -128 </a:t>
            </a:r>
            <a:r>
              <a:rPr lang="zh-CN" altLang="en-US"/>
              <a:t>到</a:t>
            </a:r>
            <a:r>
              <a:rPr lang="en-US" altLang="zh-CN"/>
              <a:t> +127,</a:t>
            </a:r>
            <a:r>
              <a:rPr lang="zh-CN" altLang="en-US"/>
              <a:t>表示从绿色到红色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en-US" altLang="zh-CN" b="1"/>
              <a:t>B</a:t>
            </a:r>
            <a:r>
              <a:rPr lang="zh-CN" altLang="en-US"/>
              <a:t>：范围</a:t>
            </a:r>
            <a:r>
              <a:rPr lang="en-US" altLang="zh-CN"/>
              <a:t> -128 </a:t>
            </a:r>
            <a:r>
              <a:rPr lang="zh-CN" altLang="en-US"/>
              <a:t>到</a:t>
            </a:r>
            <a:r>
              <a:rPr lang="en-US" altLang="zh-CN"/>
              <a:t> +127,</a:t>
            </a:r>
            <a:r>
              <a:rPr lang="zh-CN" altLang="en-US"/>
              <a:t>表示从蓝色到黄色</a:t>
            </a:r>
            <a:endParaRPr lang="zh-CN" altLang="en-US"/>
          </a:p>
          <a:p>
            <a:pPr indent="457200">
              <a:lnSpc>
                <a:spcPct val="130000"/>
              </a:lnSpc>
            </a:pPr>
            <a:endParaRPr lang="en-US" altLang="zh-CN"/>
          </a:p>
          <a:p>
            <a:pPr indent="457200">
              <a:lnSpc>
                <a:spcPct val="130000"/>
              </a:lnSpc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图像处理</a:t>
            </a:r>
            <a:r>
              <a:rPr lang="en-US" altLang="zh-CN" sz="2400" b="1" dirty="0"/>
              <a:t>-</a:t>
            </a:r>
            <a:r>
              <a:rPr lang="zh-CN" altLang="en-US" sz="2400" b="1" dirty="0">
                <a:sym typeface="+mn-ea"/>
              </a:rPr>
              <a:t>颜色空间转换</a:t>
            </a:r>
            <a:endParaRPr lang="zh-CN" altLang="en-US" sz="2400" b="1" dirty="0"/>
          </a:p>
          <a:p>
            <a:endParaRPr lang="en-US" altLang="zh-CN" sz="2400" b="1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20" y="995680"/>
            <a:ext cx="4782820" cy="27565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0" y="995680"/>
            <a:ext cx="4627880" cy="32105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20" y="4199255"/>
            <a:ext cx="4248785" cy="19881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30" y="4296410"/>
            <a:ext cx="3810000" cy="221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视频处理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打开</a:t>
            </a:r>
            <a:r>
              <a:rPr lang="zh-CN" altLang="en-US" sz="2400" b="1" dirty="0">
                <a:sym typeface="+mn-ea"/>
              </a:rPr>
              <a:t>摄像头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4355" y="1124585"/>
            <a:ext cx="1052449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使用</a:t>
            </a:r>
            <a:r>
              <a:rPr lang="en-US" altLang="zh-CN"/>
              <a:t>opencv</a:t>
            </a:r>
            <a:r>
              <a:rPr lang="zh-CN" altLang="en-US"/>
              <a:t>打开摄像头十分方便，使用</a:t>
            </a:r>
            <a:r>
              <a:rPr lang="en-US" altLang="zh-CN"/>
              <a:t>VNC</a:t>
            </a:r>
            <a:r>
              <a:rPr lang="zh-CN" altLang="en-US"/>
              <a:t>连接机器人桌面，运行以下代码，即可打开机器人摄像头并显示拍摄画面。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408555"/>
            <a:ext cx="6146800" cy="3206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视频处理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分发摄像头画面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4355" y="1124585"/>
            <a:ext cx="10524490" cy="1180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对于比较复杂的、计算资源消耗较高的图像处理操作，机器人自身硬件处理可能比较慢，我们可以使用电脑来进行处理。这时需要将机器人摄像头拍摄的画面分发给电脑。我们使用</a:t>
            </a:r>
            <a:r>
              <a:rPr lang="en-US" altLang="zh-CN"/>
              <a:t>socket</a:t>
            </a:r>
            <a:r>
              <a:rPr lang="zh-CN" altLang="en-US"/>
              <a:t>服务端与客户端来实现视频流分发与接收。</a:t>
            </a:r>
            <a:endParaRPr lang="zh-CN" altLang="en-US"/>
          </a:p>
        </p:txBody>
      </p:sp>
      <p:pic>
        <p:nvPicPr>
          <p:cNvPr id="4" name="图片 3" descr="video_distribute-175981886807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7575" y="2305050"/>
            <a:ext cx="4718685" cy="4002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视频处理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分发摄像头画面</a:t>
            </a:r>
            <a:endParaRPr lang="zh-CN" altLang="en-US" sz="2400" b="1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9520" y="1108710"/>
            <a:ext cx="5692775" cy="52768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1805" y="1224280"/>
            <a:ext cx="427482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在机器人上运行服务端。如果端口冲突可</a:t>
            </a:r>
            <a:r>
              <a:rPr lang="zh-CN" altLang="en-US"/>
              <a:t>修改。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视频处理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分发摄像头画面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1805" y="1334770"/>
            <a:ext cx="4274820" cy="161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在电脑上运行客户端，注意将</a:t>
            </a:r>
            <a:r>
              <a:rPr lang="en-US" altLang="zh-CN"/>
              <a:t>client_socket.connect(("127.0.0.1", 8888))</a:t>
            </a:r>
            <a:r>
              <a:rPr lang="zh-CN" altLang="en-US"/>
              <a:t>中的</a:t>
            </a:r>
            <a:r>
              <a:rPr lang="en-US" altLang="zh-CN"/>
              <a:t>ip</a:t>
            </a:r>
            <a:r>
              <a:rPr lang="zh-CN" altLang="en-US"/>
              <a:t>改为机器人的</a:t>
            </a:r>
            <a:r>
              <a:rPr lang="en-US" altLang="zh-CN"/>
              <a:t>ip</a:t>
            </a:r>
            <a:r>
              <a:rPr lang="zh-CN" altLang="en-US"/>
              <a:t>地址。</a:t>
            </a:r>
            <a:endParaRPr lang="zh-CN" altLang="en-US"/>
          </a:p>
          <a:p>
            <a:pPr indent="457200"/>
            <a:r>
              <a:rPr lang="zh-CN" altLang="en-US"/>
              <a:t>服务端、客户端启动后就可以在电脑上看见机器人摄像头所拍摄的画面。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1765" y="911860"/>
            <a:ext cx="5283835" cy="5552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绘制图形</a:t>
            </a:r>
            <a:endParaRPr lang="zh-CN" altLang="en-US" sz="2400" b="1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1820" y="1109980"/>
            <a:ext cx="6217285" cy="31578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820" y="4705985"/>
            <a:ext cx="7574280" cy="16459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1805" y="1334770"/>
            <a:ext cx="3796030" cy="161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在</a:t>
            </a:r>
            <a:r>
              <a:rPr lang="en-US" altLang="zh-CN"/>
              <a:t>Opencv</a:t>
            </a:r>
            <a:r>
              <a:rPr lang="zh-CN" altLang="en-US"/>
              <a:t>中，图像显示坐标：以图像左上角为原点，水平向右为</a:t>
            </a:r>
            <a:r>
              <a:rPr lang="en-US" altLang="zh-CN"/>
              <a:t>x</a:t>
            </a:r>
            <a:r>
              <a:rPr lang="zh-CN" altLang="en-US"/>
              <a:t>轴正方向，竖直向下为</a:t>
            </a:r>
            <a:r>
              <a:rPr lang="en-US" altLang="zh-CN"/>
              <a:t>y</a:t>
            </a:r>
            <a:r>
              <a:rPr lang="zh-CN" altLang="en-US"/>
              <a:t>轴</a:t>
            </a:r>
            <a:r>
              <a:rPr lang="zh-CN" altLang="en-US"/>
              <a:t>正方向。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55" y="2898140"/>
            <a:ext cx="2894330" cy="1807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绘制图形</a:t>
            </a:r>
            <a:endParaRPr lang="zh-CN" altLang="en-US" sz="2400" b="1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95" y="1104900"/>
            <a:ext cx="5524500" cy="52762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5" y="1187450"/>
            <a:ext cx="4703445" cy="4703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形状与轮廓检测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1805" y="1334770"/>
            <a:ext cx="10920730" cy="2384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在计算机视觉中，轮廓（</a:t>
            </a:r>
            <a:r>
              <a:rPr lang="en-US" altLang="zh-CN"/>
              <a:t>Contour</a:t>
            </a:r>
            <a:r>
              <a:rPr lang="zh-CN" altLang="en-US"/>
              <a:t>）是指图像中连续边缘的曲线，它能有效地描述一个物体的形状和结构特征。</a:t>
            </a:r>
            <a:endParaRPr lang="en-US" altLang="zh-CN"/>
          </a:p>
          <a:p>
            <a:pPr indent="457200"/>
            <a:r>
              <a:rPr lang="en-US" altLang="zh-CN"/>
              <a:t>OpenCV </a:t>
            </a:r>
            <a:r>
              <a:rPr lang="zh-CN" altLang="en-US"/>
              <a:t>提供了非常强大的轮廓检测函数</a:t>
            </a:r>
            <a:r>
              <a:rPr lang="en-US" altLang="zh-CN"/>
              <a:t> `cv2.findContours()`</a:t>
            </a:r>
            <a:r>
              <a:rPr lang="zh-CN" altLang="en-US"/>
              <a:t>，常用于以下任务：</a:t>
            </a:r>
            <a:endParaRPr lang="en-US" altLang="zh-CN"/>
          </a:p>
          <a:p>
            <a:pPr marL="457200" lvl="1" indent="457200"/>
            <a:r>
              <a:rPr lang="zh-CN" altLang="en-US"/>
              <a:t>形状识别（判断圆形、矩形、三角形等）</a:t>
            </a:r>
            <a:endParaRPr lang="zh-CN" altLang="en-US"/>
          </a:p>
          <a:p>
            <a:pPr marL="457200" lvl="1" indent="457200"/>
            <a:r>
              <a:rPr lang="zh-CN" altLang="en-US"/>
              <a:t>目标分割（检测物体区域）</a:t>
            </a:r>
            <a:endParaRPr lang="zh-CN" altLang="en-US"/>
          </a:p>
          <a:p>
            <a:pPr marL="457200" lvl="1" indent="457200"/>
            <a:r>
              <a:rPr lang="zh-CN" altLang="en-US"/>
              <a:t>测量与检测（计算面积、周长、位置）</a:t>
            </a:r>
            <a:endParaRPr lang="zh-CN" altLang="en-US"/>
          </a:p>
          <a:p>
            <a:pPr marL="457200" lvl="1" indent="457200"/>
            <a:r>
              <a:rPr lang="zh-CN" altLang="en-US"/>
              <a:t>图像特征提取（如边缘点、边界框）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形状与轮廓检测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图像二值化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1805" y="1334770"/>
            <a:ext cx="10920730" cy="866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轮廓检测的前提是：黑白分明的二值图像（即只有</a:t>
            </a:r>
            <a:r>
              <a:rPr lang="en-US" altLang="zh-CN"/>
              <a:t> 0 </a:t>
            </a:r>
            <a:r>
              <a:rPr lang="zh-CN" altLang="en-US"/>
              <a:t>和</a:t>
            </a:r>
            <a:r>
              <a:rPr lang="en-US" altLang="zh-CN"/>
              <a:t> 255 </a:t>
            </a:r>
            <a:r>
              <a:rPr lang="zh-CN" altLang="en-US"/>
              <a:t>两种像素值）。因为</a:t>
            </a:r>
            <a:r>
              <a:rPr lang="en-US" altLang="zh-CN"/>
              <a:t> OpenCV </a:t>
            </a:r>
            <a:r>
              <a:rPr lang="zh-CN" altLang="en-US"/>
              <a:t>会在</a:t>
            </a:r>
            <a:r>
              <a:rPr lang="en-US" altLang="zh-CN"/>
              <a:t>“</a:t>
            </a:r>
            <a:r>
              <a:rPr lang="zh-CN" altLang="en-US"/>
              <a:t>颜色变化的边界</a:t>
            </a:r>
            <a:r>
              <a:rPr lang="en-US" altLang="zh-CN"/>
              <a:t>”</a:t>
            </a:r>
            <a:r>
              <a:rPr lang="zh-CN" altLang="en-US"/>
              <a:t>上寻找连续的像素点作为轮廓。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9035" y="2200910"/>
            <a:ext cx="6348095" cy="6845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22020" y="3006725"/>
            <a:ext cx="93846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这一步中：</a:t>
            </a:r>
            <a:endParaRPr lang="en-US" altLang="zh-CN"/>
          </a:p>
          <a:p>
            <a:pPr lvl="1"/>
            <a:r>
              <a:rPr lang="en-US" altLang="zh-CN"/>
              <a:t>`cv2.threshold()` </a:t>
            </a:r>
            <a:r>
              <a:rPr lang="zh-CN" altLang="en-US"/>
              <a:t>把灰度图转为二值图；</a:t>
            </a:r>
            <a:endParaRPr lang="zh-CN" altLang="en-US"/>
          </a:p>
          <a:p>
            <a:pPr lvl="1"/>
            <a:r>
              <a:rPr lang="zh-CN" altLang="en-US"/>
              <a:t>白色（</a:t>
            </a:r>
            <a:r>
              <a:rPr lang="en-US" altLang="zh-CN"/>
              <a:t>255</a:t>
            </a:r>
            <a:r>
              <a:rPr lang="zh-CN" altLang="en-US"/>
              <a:t>）表示目标；</a:t>
            </a:r>
            <a:endParaRPr lang="zh-CN" altLang="en-US"/>
          </a:p>
          <a:p>
            <a:pPr lvl="1"/>
            <a:r>
              <a:rPr lang="zh-CN" altLang="en-US"/>
              <a:t>黑色（</a:t>
            </a:r>
            <a:r>
              <a:rPr lang="en-US" altLang="zh-CN"/>
              <a:t>0</a:t>
            </a:r>
            <a:r>
              <a:rPr lang="zh-CN" altLang="en-US"/>
              <a:t>）表示背景。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085" y="3931285"/>
            <a:ext cx="6891020" cy="2531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形状与轮廓检测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边界追踪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1805" y="1181100"/>
            <a:ext cx="11131550" cy="993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/>
              <a:t>cv2.findContours()</a:t>
            </a:r>
            <a:r>
              <a:rPr lang="zh-CN" altLang="en-US"/>
              <a:t>的核心任务是：从二值图中，沿着目标的边界像素连续地走一圈，把轮廓点记录下来。算法原理来自于</a:t>
            </a:r>
            <a:r>
              <a:rPr lang="en-US" altLang="zh-CN"/>
              <a:t> Suzuki &amp; Abe </a:t>
            </a:r>
            <a:r>
              <a:rPr lang="zh-CN" altLang="en-US"/>
              <a:t>算法（</a:t>
            </a:r>
            <a:r>
              <a:rPr lang="en-US" altLang="zh-CN"/>
              <a:t>1985</a:t>
            </a:r>
            <a:r>
              <a:rPr lang="zh-CN" altLang="en-US"/>
              <a:t>）：从左上角开始扫描，遇到白点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判断它是否是新轮廓的起点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zh-CN" altLang="en-US"/>
              <a:t>若是，就开始沿边缘方向（顺时针）跟踪，直到回到起点为止。最终返回所有目标的边界点</a:t>
            </a:r>
            <a:r>
              <a:rPr lang="zh-CN" altLang="en-US"/>
              <a:t>序列。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15" y="2592070"/>
            <a:ext cx="11171555" cy="6267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66115" y="3581400"/>
            <a:ext cx="10811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此时</a:t>
            </a:r>
            <a:r>
              <a:rPr lang="en-US" altLang="zh-CN"/>
              <a:t>contours</a:t>
            </a:r>
            <a:r>
              <a:rPr lang="zh-CN" altLang="en-US"/>
              <a:t>是一个</a:t>
            </a:r>
            <a:r>
              <a:rPr lang="en-US" altLang="zh-CN"/>
              <a:t>“</a:t>
            </a:r>
            <a:r>
              <a:rPr lang="zh-CN" altLang="en-US"/>
              <a:t>轮廓列表</a:t>
            </a:r>
            <a:r>
              <a:rPr lang="en-US" altLang="zh-CN"/>
              <a:t>”</a:t>
            </a:r>
            <a:r>
              <a:rPr lang="zh-CN" altLang="en-US"/>
              <a:t>，每个元素都是一个</a:t>
            </a:r>
            <a:r>
              <a:rPr lang="en-US" altLang="zh-CN"/>
              <a:t> numpy </a:t>
            </a:r>
            <a:r>
              <a:rPr lang="zh-CN" altLang="en-US"/>
              <a:t>数组，包含该轮廓的所有像素坐标点，这些点就是目标形状的边界：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4521200"/>
            <a:ext cx="7988300" cy="471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形状与轮廓检测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判断轮廓的形状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1805" y="1181100"/>
            <a:ext cx="11131550" cy="781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/>
              <a:t>OpenCV </a:t>
            </a:r>
            <a:r>
              <a:rPr lang="zh-CN" altLang="en-US"/>
              <a:t>不会直接告诉你</a:t>
            </a:r>
            <a:r>
              <a:rPr lang="en-US" altLang="zh-CN"/>
              <a:t>“</a:t>
            </a:r>
            <a:r>
              <a:rPr lang="zh-CN" altLang="en-US"/>
              <a:t>这是个矩形</a:t>
            </a:r>
            <a:r>
              <a:rPr lang="en-US" altLang="zh-CN"/>
              <a:t>”</a:t>
            </a:r>
            <a:r>
              <a:rPr lang="zh-CN" altLang="en-US"/>
              <a:t>或</a:t>
            </a:r>
            <a:r>
              <a:rPr lang="en-US" altLang="zh-CN"/>
              <a:t>“</a:t>
            </a:r>
            <a:r>
              <a:rPr lang="zh-CN" altLang="en-US"/>
              <a:t>这是个三角形</a:t>
            </a:r>
            <a:r>
              <a:rPr lang="en-US" altLang="zh-CN"/>
              <a:t>”</a:t>
            </a:r>
            <a:r>
              <a:rPr lang="zh-CN" altLang="en-US"/>
              <a:t>，它只是告诉你这个轮廓的点在哪里。</a:t>
            </a:r>
            <a:r>
              <a:rPr lang="en-US" altLang="zh-CN"/>
              <a:t> </a:t>
            </a:r>
            <a:r>
              <a:rPr lang="zh-CN" altLang="en-US"/>
              <a:t>形状判断是通过对这些点做几何分析得到的。</a:t>
            </a:r>
            <a:endParaRPr lang="zh-CN" altLang="en-US"/>
          </a:p>
          <a:p>
            <a:pPr indent="457200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0910" y="1962150"/>
            <a:ext cx="10287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多边形拟合</a:t>
            </a:r>
            <a:endParaRPr lang="zh-CN" altLang="en-US" b="1"/>
          </a:p>
          <a:p>
            <a:pPr indent="457200"/>
            <a:r>
              <a:rPr lang="zh-CN" altLang="en-US"/>
              <a:t>轮廓往往包含很多噪声点，例如矩形的边缘可能有几十个点。为了方便识别，需要</a:t>
            </a:r>
            <a:r>
              <a:rPr lang="en-US" altLang="zh-CN"/>
              <a:t>“</a:t>
            </a:r>
            <a:r>
              <a:rPr lang="zh-CN" altLang="en-US"/>
              <a:t>简化</a:t>
            </a:r>
            <a:r>
              <a:rPr lang="en-US" altLang="zh-CN"/>
              <a:t>”</a:t>
            </a:r>
            <a:r>
              <a:rPr lang="zh-CN" altLang="en-US"/>
              <a:t>轮廓。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2425" y="2728595"/>
            <a:ext cx="5033645" cy="7004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1560" y="3550285"/>
            <a:ext cx="102863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cv2.arcLength(contour, True)</a:t>
            </a:r>
            <a:r>
              <a:rPr lang="zh-CN" altLang="en-US"/>
              <a:t>计算轮廓的周长；</a:t>
            </a:r>
            <a:endParaRPr lang="en-US" altLang="zh-CN"/>
          </a:p>
          <a:p>
            <a:r>
              <a:rPr lang="en-US" altLang="zh-CN" b="1"/>
              <a:t>epsilon</a:t>
            </a:r>
            <a:r>
              <a:rPr lang="zh-CN" altLang="en-US"/>
              <a:t>是近似精度（比例越大，形状越粗糙）；</a:t>
            </a:r>
            <a:endParaRPr lang="en-US" altLang="zh-CN"/>
          </a:p>
          <a:p>
            <a:r>
              <a:rPr lang="en-US" altLang="zh-CN" b="1"/>
              <a:t>cv2.approxPolyDP()</a:t>
            </a:r>
            <a:r>
              <a:rPr lang="zh-CN" altLang="en-US"/>
              <a:t>通过</a:t>
            </a:r>
            <a:r>
              <a:rPr lang="en-US" altLang="zh-CN"/>
              <a:t>Ramer–Douglas–Peucker </a:t>
            </a:r>
            <a:r>
              <a:rPr lang="zh-CN" altLang="en-US"/>
              <a:t>算法对曲线进行</a:t>
            </a:r>
            <a:r>
              <a:rPr lang="en-US" altLang="zh-CN"/>
              <a:t>“</a:t>
            </a:r>
            <a:r>
              <a:rPr lang="zh-CN" altLang="en-US"/>
              <a:t>折线近似</a:t>
            </a:r>
            <a:r>
              <a:rPr lang="en-US" altLang="zh-CN"/>
              <a:t>”</a:t>
            </a:r>
            <a:r>
              <a:rPr lang="zh-CN" altLang="en-US"/>
              <a:t>；它会用更少的点（顶点）来表示同样的形状。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595" y="4749165"/>
            <a:ext cx="7650480" cy="1661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形状与轮廓检测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判断轮廓的形状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0910" y="1124585"/>
            <a:ext cx="506730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顶点数</a:t>
            </a:r>
            <a:r>
              <a:rPr lang="zh-CN" altLang="en-US" b="1"/>
              <a:t>判断</a:t>
            </a:r>
            <a:endParaRPr lang="zh-CN" altLang="en-US" b="1"/>
          </a:p>
          <a:p>
            <a:pPr indent="457200"/>
            <a:r>
              <a:rPr lang="zh-CN" altLang="en-US"/>
              <a:t>根据</a:t>
            </a:r>
            <a:r>
              <a:rPr lang="en-US" altLang="zh-CN"/>
              <a:t> `len(approx)`</a:t>
            </a:r>
            <a:r>
              <a:rPr lang="zh-CN" altLang="en-US"/>
              <a:t>（顶点数量）来判断形状。</a:t>
            </a:r>
            <a:endParaRPr lang="zh-CN" altLang="en-US"/>
          </a:p>
          <a:p>
            <a:pPr indent="457200"/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070" y="1017270"/>
            <a:ext cx="3176270" cy="17919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85520" y="2809240"/>
            <a:ext cx="4763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判断正方形</a:t>
            </a:r>
            <a:r>
              <a:rPr lang="en-US" altLang="zh-CN" b="1"/>
              <a:t> vs </a:t>
            </a:r>
            <a:r>
              <a:rPr lang="zh-CN" altLang="en-US" b="1"/>
              <a:t>矩形</a:t>
            </a:r>
            <a:endParaRPr lang="zh-CN" altLang="en-US" b="1"/>
          </a:p>
          <a:p>
            <a:pPr indent="457200"/>
            <a:r>
              <a:rPr lang="zh-CN" altLang="en-US"/>
              <a:t>对于</a:t>
            </a:r>
            <a:r>
              <a:rPr lang="en-US" altLang="zh-CN"/>
              <a:t> 4 </a:t>
            </a:r>
            <a:r>
              <a:rPr lang="zh-CN" altLang="en-US"/>
              <a:t>个顶点的情况，需要进一步判断长宽比例。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106170" y="4341495"/>
            <a:ext cx="48926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判断圆形：面积比法</a:t>
            </a:r>
            <a:endParaRPr lang="zh-CN" altLang="en-US" b="1"/>
          </a:p>
          <a:p>
            <a:pPr indent="457200"/>
            <a:r>
              <a:rPr lang="zh-CN" altLang="en-US"/>
              <a:t>当轮廓点很多时（近似为圆），我们可以通过面积对比来判断。如果轮廓的面积与外接圆面积非常接近，说明它很</a:t>
            </a:r>
            <a:r>
              <a:rPr lang="en-US" altLang="zh-CN"/>
              <a:t>“</a:t>
            </a:r>
            <a:r>
              <a:rPr lang="zh-CN" altLang="en-US"/>
              <a:t>圆滑</a:t>
            </a:r>
            <a:r>
              <a:rPr lang="en-US" altLang="zh-CN"/>
              <a:t>”</a:t>
            </a:r>
            <a:r>
              <a:rPr lang="zh-CN" altLang="en-US"/>
              <a:t>，即为圆形。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070" y="3088640"/>
            <a:ext cx="3268980" cy="13411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070" y="4709160"/>
            <a:ext cx="4114800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形状与轮廓检测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获取形状位置（中心点）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0910" y="1124585"/>
            <a:ext cx="9512935" cy="773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b="1"/>
              <a:t>cv2.moments()</a:t>
            </a:r>
            <a:r>
              <a:rPr lang="zh-CN" altLang="en-US"/>
              <a:t>可以用来计算轮廓的几何矩（</a:t>
            </a:r>
            <a:r>
              <a:rPr lang="en-US" altLang="zh-CN"/>
              <a:t>moments</a:t>
            </a:r>
            <a:r>
              <a:rPr lang="zh-CN" altLang="en-US"/>
              <a:t>），这些矩可以用来求取形心（质心）坐标。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085" y="1898015"/>
            <a:ext cx="6165850" cy="15316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640" y="1972945"/>
            <a:ext cx="3420745" cy="9042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815" y="3589020"/>
            <a:ext cx="6883400" cy="2928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颜色识别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5175" y="1124585"/>
            <a:ext cx="10332085" cy="1242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颜色识别是</a:t>
            </a:r>
            <a:r>
              <a:rPr lang="en-US" altLang="zh-CN"/>
              <a:t> OpenCV </a:t>
            </a:r>
            <a:r>
              <a:rPr lang="zh-CN" altLang="en-US"/>
              <a:t>图像处理中的一个核心应用，之前在</a:t>
            </a:r>
            <a:r>
              <a:rPr lang="en-US" altLang="zh-CN"/>
              <a:t>`</a:t>
            </a:r>
            <a:r>
              <a:rPr lang="zh-CN" altLang="en-US"/>
              <a:t>颜色空间转换</a:t>
            </a:r>
            <a:r>
              <a:rPr lang="en-US" altLang="zh-CN"/>
              <a:t>`</a:t>
            </a:r>
            <a:r>
              <a:rPr lang="zh-CN" altLang="en-US"/>
              <a:t>已经提及，它的本质就是：在</a:t>
            </a:r>
            <a:r>
              <a:rPr lang="en-US" altLang="zh-CN"/>
              <a:t> </a:t>
            </a:r>
            <a:r>
              <a:rPr lang="zh-CN" altLang="en-US"/>
              <a:t>颜色空间（通常是</a:t>
            </a:r>
            <a:r>
              <a:rPr lang="en-US" altLang="zh-CN"/>
              <a:t> HSV</a:t>
            </a:r>
            <a:r>
              <a:rPr lang="zh-CN" altLang="en-US"/>
              <a:t>）中筛选出特定颜色范围的像素区域。</a:t>
            </a:r>
            <a:endParaRPr lang="zh-CN" altLang="en-US"/>
          </a:p>
          <a:p>
            <a:pPr indent="457200"/>
            <a:r>
              <a:rPr lang="zh-CN" altLang="en-US"/>
              <a:t>在</a:t>
            </a:r>
            <a:r>
              <a:rPr lang="en-US" altLang="zh-CN"/>
              <a:t> HSV </a:t>
            </a:r>
            <a:r>
              <a:rPr lang="zh-CN" altLang="en-US"/>
              <a:t>空间中，红色、蓝色、绿色等颜色有相对稳定的</a:t>
            </a:r>
            <a:r>
              <a:rPr lang="en-US" altLang="zh-CN"/>
              <a:t>“</a:t>
            </a:r>
            <a:r>
              <a:rPr lang="zh-CN" altLang="en-US"/>
              <a:t>范围区间</a:t>
            </a:r>
            <a:r>
              <a:rPr lang="en-US" altLang="zh-CN"/>
              <a:t>”</a:t>
            </a:r>
            <a:r>
              <a:rPr lang="zh-CN" altLang="en-US"/>
              <a:t>，所以比直接用</a:t>
            </a:r>
            <a:r>
              <a:rPr lang="en-US" altLang="zh-CN"/>
              <a:t> RGB/BGR </a:t>
            </a:r>
            <a:r>
              <a:rPr lang="zh-CN" altLang="en-US"/>
              <a:t>更容易筛选。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100" y="2548255"/>
            <a:ext cx="8082915" cy="2956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颜色识别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提取红色</a:t>
            </a:r>
            <a:r>
              <a:rPr lang="zh-CN" altLang="en-US" sz="2400" b="1" dirty="0">
                <a:sym typeface="+mn-ea"/>
              </a:rPr>
              <a:t>区域</a:t>
            </a:r>
            <a:endParaRPr lang="zh-CN" altLang="en-US" sz="2400" b="1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175" y="984885"/>
            <a:ext cx="4467225" cy="5485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395" y="1685290"/>
            <a:ext cx="5989320" cy="4084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颜色识别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颜色</a:t>
            </a:r>
            <a:r>
              <a:rPr lang="zh-CN" altLang="en-US" sz="2400" b="1" dirty="0">
                <a:sym typeface="+mn-ea"/>
              </a:rPr>
              <a:t>追踪</a:t>
            </a:r>
            <a:endParaRPr lang="zh-CN" altLang="en-US" sz="2400" b="1" dirty="0">
              <a:sym typeface="+mn-ea"/>
            </a:endParaRPr>
          </a:p>
        </p:txBody>
      </p:sp>
      <p:pic>
        <p:nvPicPr>
          <p:cNvPr id="3" name="图片 2" descr="color_track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090" y="2156460"/>
            <a:ext cx="7331710" cy="26174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49325" y="1223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机器人识别颜色追踪</a:t>
            </a:r>
            <a:r>
              <a:rPr lang="zh-CN" altLang="en-US"/>
              <a:t>示例：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人脸检测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9325" y="1067435"/>
            <a:ext cx="9926955" cy="988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人脸检测（</a:t>
            </a:r>
            <a:r>
              <a:rPr lang="en-US" altLang="zh-CN"/>
              <a:t>Face Detection</a:t>
            </a:r>
            <a:r>
              <a:rPr lang="zh-CN" altLang="en-US"/>
              <a:t>）</a:t>
            </a:r>
            <a:r>
              <a:rPr lang="en-US" altLang="zh-CN"/>
              <a:t>” </a:t>
            </a:r>
            <a:r>
              <a:rPr lang="zh-CN" altLang="en-US"/>
              <a:t>是</a:t>
            </a:r>
            <a:r>
              <a:rPr lang="en-US" altLang="zh-CN"/>
              <a:t> OpenCV </a:t>
            </a:r>
            <a:r>
              <a:rPr lang="zh-CN" altLang="en-US"/>
              <a:t>最常用、最经典的计算机视觉功能之一。它可以用于：摄像头实时人脸识别、拍照自动对焦、表情分析、身份验证等场景。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605" y="2056130"/>
            <a:ext cx="9151620" cy="12344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9325" y="3559175"/>
            <a:ext cx="98539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/>
              <a:t>OpenCV </a:t>
            </a:r>
            <a:r>
              <a:rPr lang="zh-CN" altLang="en-US"/>
              <a:t>内置了人脸检测模型文件：</a:t>
            </a:r>
            <a:r>
              <a:rPr lang="en-US" altLang="zh-CN"/>
              <a:t> `haarcascade_frontalface_default.xml`</a:t>
            </a:r>
            <a:r>
              <a:rPr lang="zh-CN" altLang="en-US"/>
              <a:t>，你可以在安装目录下找到它，</a:t>
            </a:r>
            <a:r>
              <a:rPr lang="en-US" altLang="zh-CN"/>
              <a:t>linux</a:t>
            </a:r>
            <a:r>
              <a:rPr lang="zh-CN" altLang="en-US"/>
              <a:t>下</a:t>
            </a:r>
            <a:r>
              <a:rPr lang="zh-CN" altLang="en-US"/>
              <a:t>执行：</a:t>
            </a:r>
            <a:endParaRPr lang="zh-CN" altLang="en-US"/>
          </a:p>
          <a:p>
            <a:pPr marL="1828800" lvl="4" indent="457200"/>
            <a:r>
              <a:rPr lang="en-US" altLang="zh-CN" b="1"/>
              <a:t>ls /home/pi/.local/lib/python3.11/site-packages/cv2/data</a:t>
            </a:r>
            <a:endParaRPr lang="en-US" altLang="zh-CN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230" y="4591685"/>
            <a:ext cx="6367780" cy="2008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人脸检测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2005" y="993775"/>
            <a:ext cx="992695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在代码中使用相对路径：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530" y="1457325"/>
            <a:ext cx="8424545" cy="5130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385" y="2497455"/>
            <a:ext cx="4009390" cy="40468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17625" y="2049780"/>
            <a:ext cx="721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运行下面代码，可以看到图片中的人脸被绿色矩形框标出。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430" y="2418080"/>
            <a:ext cx="3992245" cy="4123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目标跟踪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4210" y="993775"/>
            <a:ext cx="10617200" cy="868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en-US" altLang="zh-CN"/>
              <a:t>“</a:t>
            </a:r>
            <a:r>
              <a:rPr lang="zh-CN" altLang="en-US"/>
              <a:t>目标跟踪（</a:t>
            </a:r>
            <a:r>
              <a:rPr lang="en-US" altLang="zh-CN"/>
              <a:t>Object Tracking</a:t>
            </a:r>
            <a:r>
              <a:rPr lang="zh-CN" altLang="en-US"/>
              <a:t>）</a:t>
            </a:r>
            <a:r>
              <a:rPr lang="en-US" altLang="zh-CN"/>
              <a:t>” </a:t>
            </a:r>
            <a:r>
              <a:rPr lang="zh-CN" altLang="en-US"/>
              <a:t>是计算机视觉中与检测密切相关的核心任务之一。它的作用是：在视频中持续追踪一个或多个移动目标（如人、车、球等）。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07135" y="1862455"/>
            <a:ext cx="9909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安装带有</a:t>
            </a:r>
            <a:r>
              <a:rPr lang="en-US" altLang="zh-CN"/>
              <a:t> tracking </a:t>
            </a:r>
            <a:r>
              <a:rPr lang="zh-CN" altLang="en-US"/>
              <a:t>模块的</a:t>
            </a:r>
            <a:r>
              <a:rPr lang="en-US" altLang="zh-CN"/>
              <a:t>opencv</a:t>
            </a:r>
            <a:r>
              <a:rPr lang="zh-CN" altLang="en-US"/>
              <a:t>版本：</a:t>
            </a:r>
            <a:endParaRPr lang="zh-CN" altLang="en-US"/>
          </a:p>
          <a:p>
            <a:pPr marL="457200" lvl="1" indent="457200"/>
            <a:r>
              <a:rPr lang="en-US" altLang="zh-CN" b="1"/>
              <a:t>pip install --upgrade --force-reinstall opencv-contrib-python==4.10.0.84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1207135" y="2675890"/>
            <a:ext cx="9806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OpenCV </a:t>
            </a:r>
            <a:r>
              <a:rPr lang="zh-CN" altLang="en-US"/>
              <a:t>提供了多种跟踪算法，通过</a:t>
            </a:r>
            <a:r>
              <a:rPr lang="en-US" altLang="zh-CN"/>
              <a:t> `cv2.legacy.Tracker_xxx_create()` </a:t>
            </a:r>
            <a:r>
              <a:rPr lang="zh-CN" altLang="en-US"/>
              <a:t>来调用。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0" y="3212465"/>
            <a:ext cx="7040880" cy="335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目标跟踪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4210" y="993775"/>
            <a:ext cx="10617200" cy="868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示例使用了一段街道的视频作为视频流输入。运行下面代码，首先需要选取一个区域，作为跟踪的目标，按住鼠标左键，拖拽到合适位置，松开，选择需要追踪区域。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2203450"/>
            <a:ext cx="4869180" cy="37553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260" y="2203450"/>
            <a:ext cx="4302760" cy="3811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开合手掌安装</a:t>
            </a:r>
            <a:endParaRPr lang="zh-CN" altLang="en-US" sz="2400" b="1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895" y="988060"/>
            <a:ext cx="3592195" cy="2559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700" y="923290"/>
            <a:ext cx="3733800" cy="26384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20" y="3780790"/>
            <a:ext cx="4258945" cy="28174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085" y="3729990"/>
            <a:ext cx="3879850" cy="2837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开合手掌安装</a:t>
            </a:r>
            <a:endParaRPr lang="zh-CN" altLang="en-US" sz="2400" b="1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800" y="1633855"/>
            <a:ext cx="3683000" cy="27609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735" y="1365885"/>
            <a:ext cx="4860290" cy="3573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ym typeface="+mn-ea"/>
              </a:rPr>
              <a:t>开合手掌安装</a:t>
            </a:r>
            <a:r>
              <a:rPr lang="en-US" altLang="zh-CN" sz="2400" b="1" dirty="0">
                <a:sym typeface="+mn-ea"/>
              </a:rPr>
              <a:t>-</a:t>
            </a:r>
            <a:r>
              <a:rPr lang="zh-CN" altLang="en-US" sz="2400" b="1" dirty="0">
                <a:sym typeface="+mn-ea"/>
              </a:rPr>
              <a:t>拆线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8245" y="1251585"/>
            <a:ext cx="6972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先将舵机螺丝拧下，然后将连接线缠绕螺丝刀一圈拔出即可。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720" y="1883410"/>
            <a:ext cx="4507230" cy="4247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练习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199515" y="1222375"/>
            <a:ext cx="9382760" cy="2100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/>
              <a:t>1. </a:t>
            </a:r>
            <a:r>
              <a:rPr lang="zh-CN" altLang="en-US" sz="2400"/>
              <a:t>运行本节课程代码。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2. </a:t>
            </a:r>
            <a:r>
              <a:rPr lang="zh-CN" altLang="en-US" sz="2400"/>
              <a:t>提出三个任何与本节内容相关的问题，并自行回答。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3.</a:t>
            </a:r>
            <a:r>
              <a:rPr lang="zh-CN" altLang="en-US" sz="2400"/>
              <a:t>将代码和问题回答推送到</a:t>
            </a:r>
            <a:r>
              <a:rPr lang="en-US" altLang="zh-CN" sz="2400"/>
              <a:t>github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1964" y="2338038"/>
            <a:ext cx="1457608" cy="132207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8000" dirty="0">
                <a:solidFill>
                  <a:srgbClr val="E89E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en-US" altLang="zh-CN" sz="8000" dirty="0">
              <a:solidFill>
                <a:srgbClr val="E89E0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86014" y="3076017"/>
            <a:ext cx="488787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课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完</a:t>
            </a:r>
            <a:endParaRPr lang="en-US" altLang="zh-CN" sz="3600" b="1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86012" y="2337353"/>
            <a:ext cx="676157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4472C4"/>
                </a:solidFill>
              </a:rPr>
              <a:t>Opencv</a:t>
            </a:r>
            <a:r>
              <a:rPr lang="zh-CN" altLang="en-US" sz="3200" dirty="0" smtClean="0">
                <a:solidFill>
                  <a:srgbClr val="4472C4"/>
                </a:solidFill>
              </a:rPr>
              <a:t>与机器人</a:t>
            </a:r>
            <a:r>
              <a:rPr lang="zh-CN" altLang="en-US" sz="3200" dirty="0" smtClean="0">
                <a:solidFill>
                  <a:srgbClr val="4472C4"/>
                </a:solidFill>
              </a:rPr>
              <a:t>视觉</a:t>
            </a:r>
            <a:endParaRPr lang="zh-CN" altLang="en-US" sz="3200" dirty="0" smtClean="0">
              <a:solidFill>
                <a:srgbClr val="4472C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2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3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4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tailEnd type="none"/>
        </a:ln>
      </a:spPr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4472C4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3363</Words>
  <Application>WPS 演示</Application>
  <PresentationFormat>宽屏</PresentationFormat>
  <Paragraphs>209</Paragraphs>
  <Slides>37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6" baseType="lpstr">
      <vt:lpstr>Arial</vt:lpstr>
      <vt:lpstr>宋体</vt:lpstr>
      <vt:lpstr>Wingdings</vt:lpstr>
      <vt:lpstr>华文新魏</vt:lpstr>
      <vt:lpstr>黑体</vt:lpstr>
      <vt:lpstr>微软雅黑</vt:lpstr>
      <vt:lpstr>华文行楷</vt:lpstr>
      <vt:lpstr>Calibri</vt:lpstr>
      <vt:lpstr>Arial Unicode MS</vt:lpstr>
      <vt:lpstr>Arial Unicode MS</vt:lpstr>
      <vt:lpstr>Microsoft YaHei UI</vt:lpstr>
      <vt:lpstr>Wingdings</vt:lpstr>
      <vt:lpstr>荆南缘默体</vt:lpstr>
      <vt:lpstr>Calibri Light</vt:lpstr>
      <vt:lpstr>var(--monospace)</vt:lpstr>
      <vt:lpstr>Arial</vt:lpstr>
      <vt:lpstr>Liberation Mono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上海仪酷智能科技有限公司</dc:creator>
  <cp:lastModifiedBy>╭⌒better进行时</cp:lastModifiedBy>
  <cp:revision>934</cp:revision>
  <dcterms:created xsi:type="dcterms:W3CDTF">2017-07-25T03:07:00Z</dcterms:created>
  <dcterms:modified xsi:type="dcterms:W3CDTF">2025-10-28T05:23:48Z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8841B4F7B610481D8E35DE8E2DF00779_13</vt:lpwstr>
  </property>
  <property fmtid="{D5CDD505-2E9C-101B-9397-08002B2CF9AE}" pid="3" name="KSOProductBuildVer">
    <vt:lpwstr>2052-12.1.0.23125</vt:lpwstr>
  </property>
</Properties>
</file>