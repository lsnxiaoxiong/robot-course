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6"/>
  </p:notesMasterIdLst>
  <p:handoutMasterIdLst>
    <p:handoutMasterId r:id="rId50"/>
  </p:handoutMasterIdLst>
  <p:sldIdLst>
    <p:sldId id="410" r:id="rId4"/>
    <p:sldId id="364" r:id="rId5"/>
    <p:sldId id="365" r:id="rId7"/>
    <p:sldId id="366" r:id="rId8"/>
    <p:sldId id="367" r:id="rId9"/>
    <p:sldId id="368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1" r:id="rId21"/>
    <p:sldId id="382" r:id="rId22"/>
    <p:sldId id="380" r:id="rId23"/>
    <p:sldId id="384" r:id="rId24"/>
    <p:sldId id="385" r:id="rId25"/>
    <p:sldId id="383" r:id="rId26"/>
    <p:sldId id="387" r:id="rId27"/>
    <p:sldId id="386" r:id="rId28"/>
    <p:sldId id="390" r:id="rId29"/>
    <p:sldId id="389" r:id="rId30"/>
    <p:sldId id="391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402" r:id="rId40"/>
    <p:sldId id="403" r:id="rId41"/>
    <p:sldId id="404" r:id="rId42"/>
    <p:sldId id="405" r:id="rId43"/>
    <p:sldId id="406" r:id="rId44"/>
    <p:sldId id="407" r:id="rId45"/>
    <p:sldId id="408" r:id="rId46"/>
    <p:sldId id="409" r:id="rId47"/>
    <p:sldId id="356" r:id="rId48"/>
    <p:sldId id="320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05" userDrawn="1">
          <p15:clr>
            <a:srgbClr val="A4A3A4"/>
          </p15:clr>
        </p15:guide>
        <p15:guide id="2" orient="horz" pos="22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奇" initials="马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89E00"/>
    <a:srgbClr val="FF9900"/>
    <a:srgbClr val="FFCCCC"/>
    <a:srgbClr val="D8BBA1"/>
    <a:srgbClr val="E2C718"/>
    <a:srgbClr val="D61621"/>
    <a:srgbClr val="FFD002"/>
    <a:srgbClr val="FF66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8" autoAdjust="0"/>
    <p:restoredTop sz="79859" autoAdjust="0"/>
  </p:normalViewPr>
  <p:slideViewPr>
    <p:cSldViewPr snapToGrid="0" showGuides="1">
      <p:cViewPr varScale="1">
        <p:scale>
          <a:sx n="83" d="100"/>
          <a:sy n="83" d="100"/>
        </p:scale>
        <p:origin x="438" y="84"/>
      </p:cViewPr>
      <p:guideLst>
        <p:guide pos="3805"/>
        <p:guide orient="horz" pos="22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35978-AA0F-4019-89CE-7C0DBBEECE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  <a:endParaRPr lang="en-US" altLang="zh-CN" sz="3200" dirty="0">
                <a:solidFill>
                  <a:schemeClr val="bg1">
                    <a:lumMod val="65000"/>
                  </a:schemeClr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  <a:endParaRPr lang="zh-CN" altLang="en-US" sz="9600" dirty="0">
              <a:solidFill>
                <a:srgbClr val="4472C4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endParaRPr lang="zh-CN" altLang="en-US" sz="9600" dirty="0">
              <a:solidFill>
                <a:srgbClr val="E89E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  <a:endParaRPr lang="zh-CN" altLang="en-US" sz="9600" dirty="0">
              <a:solidFill>
                <a:prstClr val="white">
                  <a:lumMod val="50000"/>
                </a:prst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886585" y="2322195"/>
            <a:ext cx="7742555" cy="11068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Python</a:t>
            </a:r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与机器人控制</a:t>
            </a:r>
            <a:endParaRPr lang="zh-CN" altLang="en-US" sz="6600" dirty="0" smtClean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65920" y="86360"/>
            <a:ext cx="2987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上海交通大学学生创新</a:t>
            </a:r>
            <a:r>
              <a:rPr lang="zh-CN" altLang="en-US"/>
              <a:t>中心</a:t>
            </a:r>
            <a:endParaRPr lang="zh-CN" altLang="en-US"/>
          </a:p>
          <a:p>
            <a:r>
              <a:rPr lang="zh-CN" altLang="en-US"/>
              <a:t>上海仪酷智能科技</a:t>
            </a:r>
            <a:r>
              <a:rPr lang="zh-CN" altLang="en-US"/>
              <a:t>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打印输出与</a:t>
            </a:r>
            <a:r>
              <a:rPr lang="zh-CN" altLang="en-US" sz="2400" b="1" dirty="0"/>
              <a:t>注释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618615"/>
            <a:ext cx="2506980" cy="154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多行注释：</a:t>
            </a:r>
            <a:r>
              <a:rPr lang="en-US" altLang="zh-CN"/>
              <a:t>””” ”””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单行注释：</a:t>
            </a:r>
            <a:r>
              <a:rPr lang="en-US" altLang="zh-CN"/>
              <a:t> #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打印输出：</a:t>
            </a:r>
            <a:r>
              <a:rPr lang="en-US" altLang="zh-CN"/>
              <a:t>print()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7555" y="1499235"/>
            <a:ext cx="7880350" cy="3660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python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基本类型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618615"/>
            <a:ext cx="2506980" cy="154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整形：</a:t>
            </a:r>
            <a:r>
              <a:rPr lang="en-US" altLang="zh-CN"/>
              <a:t>int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浮点：</a:t>
            </a:r>
            <a:r>
              <a:rPr lang="en-US" altLang="zh-CN"/>
              <a:t>float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布尔：</a:t>
            </a:r>
            <a:r>
              <a:rPr lang="en-US" altLang="zh-CN"/>
              <a:t>bool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字符串：</a:t>
            </a:r>
            <a:r>
              <a:rPr lang="en-US" altLang="zh-CN"/>
              <a:t>str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480" y="1132840"/>
            <a:ext cx="7294880" cy="4573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python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容器与</a:t>
            </a:r>
            <a:r>
              <a:rPr lang="zh-CN" altLang="en-US" sz="2400" b="1" dirty="0"/>
              <a:t>遍历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618615"/>
            <a:ext cx="2506980" cy="1212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列表：</a:t>
            </a:r>
            <a:r>
              <a:rPr lang="en-US" altLang="zh-CN"/>
              <a:t>[]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字典：</a:t>
            </a:r>
            <a:r>
              <a:rPr lang="en-US" altLang="zh-CN"/>
              <a:t>{}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元组：</a:t>
            </a:r>
            <a:r>
              <a:rPr lang="en-US" altLang="zh-CN"/>
              <a:t>()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375" y="911860"/>
            <a:ext cx="5553710" cy="55784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1025" y="3322955"/>
            <a:ext cx="406400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遍历基本</a:t>
            </a:r>
            <a:r>
              <a:rPr lang="zh-CN" altLang="en-US"/>
              <a:t>语法：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en-US" altLang="zh-CN"/>
              <a:t>for </a:t>
            </a:r>
            <a:r>
              <a:rPr lang="zh-CN" altLang="en-US"/>
              <a:t>临时变量</a:t>
            </a:r>
            <a:r>
              <a:rPr lang="en-US" altLang="zh-CN"/>
              <a:t> in </a:t>
            </a:r>
            <a:r>
              <a:rPr lang="zh-CN" altLang="en-US"/>
              <a:t>可迭代对象</a:t>
            </a:r>
            <a:r>
              <a:rPr lang="en-US" altLang="zh-CN"/>
              <a:t>:</a:t>
            </a:r>
            <a:endParaRPr lang="en-US" altLang="zh-CN"/>
          </a:p>
          <a:p>
            <a:pPr marL="457200" lvl="1" indent="457200">
              <a:lnSpc>
                <a:spcPct val="120000"/>
              </a:lnSpc>
            </a:pPr>
            <a:r>
              <a:rPr lang="en-US" altLang="zh-CN"/>
              <a:t>do sth...</a:t>
            </a:r>
            <a:endParaRPr lang="en-US" altLang="zh-CN"/>
          </a:p>
          <a:p>
            <a:pPr marL="457200" lvl="1" indent="457200">
              <a:lnSpc>
                <a:spcPct val="120000"/>
              </a:lnSpc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python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类型转换与基本运算符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140460"/>
            <a:ext cx="3546475" cy="1249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类型强转：类型</a:t>
            </a:r>
            <a:r>
              <a:rPr lang="en-US" altLang="zh-CN"/>
              <a:t>(</a:t>
            </a:r>
            <a:r>
              <a:rPr lang="zh-CN" altLang="en-US"/>
              <a:t>基本类型值</a:t>
            </a:r>
            <a:r>
              <a:rPr lang="en-US" altLang="zh-CN"/>
              <a:t>)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数学运算：</a:t>
            </a:r>
            <a:r>
              <a:rPr lang="en-US" altLang="zh-CN"/>
              <a:t>+</a:t>
            </a:r>
            <a:r>
              <a:rPr lang="zh-CN" altLang="en-US"/>
              <a:t>，</a:t>
            </a:r>
            <a:r>
              <a:rPr lang="en-US" altLang="zh-CN"/>
              <a:t>-</a:t>
            </a:r>
            <a:r>
              <a:rPr lang="zh-CN" altLang="en-US"/>
              <a:t>，</a:t>
            </a:r>
            <a:r>
              <a:rPr lang="en-US" altLang="zh-CN"/>
              <a:t>*</a:t>
            </a:r>
            <a:r>
              <a:rPr lang="zh-CN" altLang="en-US"/>
              <a:t>，</a:t>
            </a:r>
            <a:r>
              <a:rPr lang="en-US" altLang="zh-CN"/>
              <a:t>/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逻辑运算：</a:t>
            </a:r>
            <a:r>
              <a:rPr lang="en-US" altLang="zh-CN"/>
              <a:t>&amp;</a:t>
            </a:r>
            <a:r>
              <a:rPr lang="zh-CN" altLang="en-US"/>
              <a:t>，</a:t>
            </a:r>
            <a:r>
              <a:rPr lang="en-US" altLang="zh-CN"/>
              <a:t>|</a:t>
            </a:r>
            <a:r>
              <a:rPr lang="zh-CN" altLang="en-US"/>
              <a:t>，</a:t>
            </a:r>
            <a:r>
              <a:rPr lang="en-US" altLang="zh-CN"/>
              <a:t>^</a:t>
            </a:r>
            <a:r>
              <a:rPr lang="zh-CN" altLang="en-US"/>
              <a:t>，</a:t>
            </a:r>
            <a:r>
              <a:rPr lang="en-US" altLang="zh-CN"/>
              <a:t>not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844165"/>
            <a:ext cx="10678160" cy="3343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python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类型转换与基本运算符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140460"/>
            <a:ext cx="3546475" cy="1249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类型强转：类型</a:t>
            </a:r>
            <a:r>
              <a:rPr lang="en-US" altLang="zh-CN"/>
              <a:t>(</a:t>
            </a:r>
            <a:r>
              <a:rPr lang="zh-CN" altLang="en-US"/>
              <a:t>基本类型值</a:t>
            </a:r>
            <a:r>
              <a:rPr lang="en-US" altLang="zh-CN"/>
              <a:t>)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数学运算：</a:t>
            </a:r>
            <a:r>
              <a:rPr lang="en-US" altLang="zh-CN"/>
              <a:t>+</a:t>
            </a:r>
            <a:r>
              <a:rPr lang="zh-CN" altLang="en-US"/>
              <a:t>，</a:t>
            </a:r>
            <a:r>
              <a:rPr lang="en-US" altLang="zh-CN"/>
              <a:t>-</a:t>
            </a:r>
            <a:r>
              <a:rPr lang="zh-CN" altLang="en-US"/>
              <a:t>，</a:t>
            </a:r>
            <a:r>
              <a:rPr lang="en-US" altLang="zh-CN"/>
              <a:t>*</a:t>
            </a:r>
            <a:r>
              <a:rPr lang="zh-CN" altLang="en-US"/>
              <a:t>，</a:t>
            </a:r>
            <a:r>
              <a:rPr lang="en-US" altLang="zh-CN"/>
              <a:t>/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逻辑运算：</a:t>
            </a:r>
            <a:r>
              <a:rPr lang="en-US" altLang="zh-CN"/>
              <a:t>&amp;</a:t>
            </a:r>
            <a:r>
              <a:rPr lang="zh-CN" altLang="en-US"/>
              <a:t>，</a:t>
            </a:r>
            <a:r>
              <a:rPr lang="en-US" altLang="zh-CN"/>
              <a:t>|</a:t>
            </a:r>
            <a:r>
              <a:rPr lang="zh-CN" altLang="en-US"/>
              <a:t>，</a:t>
            </a:r>
            <a:r>
              <a:rPr lang="en-US" altLang="zh-CN"/>
              <a:t>^</a:t>
            </a:r>
            <a:r>
              <a:rPr lang="zh-CN" altLang="en-US"/>
              <a:t>，</a:t>
            </a:r>
            <a:r>
              <a:rPr lang="en-US" altLang="zh-CN"/>
              <a:t>not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844165"/>
            <a:ext cx="10678160" cy="3343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流程控制</a:t>
            </a:r>
            <a:r>
              <a:rPr lang="en-US" altLang="zh-CN" sz="2400" b="1" dirty="0"/>
              <a:t>-if</a:t>
            </a:r>
            <a:r>
              <a:rPr lang="zh-CN" altLang="en-US" sz="2400" b="1" dirty="0"/>
              <a:t>条件判断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443990"/>
            <a:ext cx="2461260" cy="2611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基本</a:t>
            </a:r>
            <a:r>
              <a:rPr lang="zh-CN" altLang="en-US"/>
              <a:t>语法：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/>
              <a:t>if </a:t>
            </a:r>
            <a:r>
              <a:rPr lang="zh-CN" altLang="en-US"/>
              <a:t>条件为真</a:t>
            </a:r>
            <a:r>
              <a:rPr lang="en-US" altLang="zh-CN"/>
              <a:t>:</a:t>
            </a:r>
            <a:endParaRPr lang="en-US" altLang="zh-CN"/>
          </a:p>
          <a:p>
            <a:pPr marL="457200" lvl="1" indent="457200">
              <a:lnSpc>
                <a:spcPct val="130000"/>
              </a:lnSpc>
            </a:pPr>
            <a:r>
              <a:rPr lang="en-US" altLang="zh-CN"/>
              <a:t>do sth...</a:t>
            </a:r>
            <a:endParaRPr lang="en-US" altLang="zh-CN"/>
          </a:p>
          <a:p>
            <a:pPr marL="457200" lvl="1" indent="0">
              <a:lnSpc>
                <a:spcPct val="130000"/>
              </a:lnSpc>
            </a:pPr>
            <a:r>
              <a:rPr lang="en-US" altLang="zh-CN"/>
              <a:t>elif </a:t>
            </a:r>
            <a:r>
              <a:rPr lang="zh-CN" altLang="en-US"/>
              <a:t>条件为真</a:t>
            </a:r>
            <a:r>
              <a:rPr lang="en-US" altLang="zh-CN"/>
              <a:t>:</a:t>
            </a:r>
            <a:endParaRPr lang="en-US" altLang="zh-CN"/>
          </a:p>
          <a:p>
            <a:pPr marL="457200" lvl="1" indent="457200">
              <a:lnSpc>
                <a:spcPct val="130000"/>
              </a:lnSpc>
            </a:pPr>
            <a:r>
              <a:rPr lang="en-US" altLang="zh-CN"/>
              <a:t>do sth...</a:t>
            </a:r>
            <a:endParaRPr lang="en-US" altLang="zh-CN"/>
          </a:p>
          <a:p>
            <a:pPr marL="457200" lvl="1" indent="0">
              <a:lnSpc>
                <a:spcPct val="130000"/>
              </a:lnSpc>
            </a:pPr>
            <a:r>
              <a:rPr lang="en-US" altLang="zh-CN"/>
              <a:t>else:</a:t>
            </a:r>
            <a:endParaRPr lang="en-US" altLang="zh-CN"/>
          </a:p>
          <a:p>
            <a:pPr marL="457200" lvl="1" indent="457200">
              <a:lnSpc>
                <a:spcPct val="130000"/>
              </a:lnSpc>
            </a:pPr>
            <a:r>
              <a:rPr lang="en-US" altLang="zh-CN"/>
              <a:t>do sth...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2056765"/>
            <a:ext cx="4711065" cy="245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流程控制</a:t>
            </a:r>
            <a:r>
              <a:rPr lang="en-US" altLang="zh-CN" sz="2400" b="1" dirty="0"/>
              <a:t>-for/while</a:t>
            </a:r>
            <a:r>
              <a:rPr lang="zh-CN" altLang="en-US" sz="2400" b="1" dirty="0"/>
              <a:t>循环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536065"/>
            <a:ext cx="3463925" cy="212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/>
              <a:t>for </a:t>
            </a:r>
            <a:r>
              <a:rPr lang="zh-CN" altLang="en-US"/>
              <a:t>临时变量</a:t>
            </a:r>
            <a:r>
              <a:rPr lang="en-US" altLang="zh-CN"/>
              <a:t> in </a:t>
            </a:r>
            <a:r>
              <a:rPr lang="zh-CN" altLang="en-US"/>
              <a:t>可迭代对象</a:t>
            </a:r>
            <a:r>
              <a:rPr lang="en-US" altLang="zh-CN"/>
              <a:t>: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do sth...</a:t>
            </a:r>
            <a:endParaRPr lang="en-US" altLang="zh-CN"/>
          </a:p>
          <a:p>
            <a:pPr indent="457200">
              <a:lnSpc>
                <a:spcPct val="130000"/>
              </a:lnSpc>
            </a:pPr>
            <a:endParaRPr lang="en-US" altLang="zh-CN"/>
          </a:p>
          <a:p>
            <a:pPr indent="0">
              <a:lnSpc>
                <a:spcPct val="130000"/>
              </a:lnSpc>
            </a:pPr>
            <a:r>
              <a:rPr lang="en-US" altLang="zh-CN"/>
              <a:t>while </a:t>
            </a:r>
            <a:r>
              <a:rPr lang="zh-CN" altLang="en-US"/>
              <a:t>条件为真</a:t>
            </a:r>
            <a:r>
              <a:rPr lang="en-US" altLang="zh-CN"/>
              <a:t>: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do sth...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750" y="1665605"/>
            <a:ext cx="4936490" cy="3526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流程控制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嵌套循环与</a:t>
            </a:r>
            <a:r>
              <a:rPr lang="en-US" altLang="zh-CN" sz="2400" b="1" dirty="0"/>
              <a:t>break/continue</a:t>
            </a:r>
            <a:endParaRPr lang="en-US" altLang="zh-CN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8095" y="1536065"/>
            <a:ext cx="6161405" cy="42043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6430" y="1701800"/>
            <a:ext cx="3915410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/>
              <a:t>for</a:t>
            </a:r>
            <a:r>
              <a:rPr lang="zh-CN" altLang="en-US"/>
              <a:t>循环和</a:t>
            </a:r>
            <a:r>
              <a:rPr lang="en-US" altLang="zh-CN"/>
              <a:t>while</a:t>
            </a:r>
            <a:r>
              <a:rPr lang="zh-CN" altLang="en-US"/>
              <a:t>循环可以任意</a:t>
            </a:r>
            <a:r>
              <a:rPr lang="zh-CN" altLang="en-US"/>
              <a:t>嵌套。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函数与模块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函数定义与调用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920" y="2153920"/>
            <a:ext cx="7020560" cy="2324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6430" y="1876425"/>
            <a:ext cx="3915410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/>
              <a:t>def </a:t>
            </a:r>
            <a:r>
              <a:rPr lang="zh-CN" altLang="en-US"/>
              <a:t>函数名</a:t>
            </a:r>
            <a:r>
              <a:rPr lang="en-US" altLang="zh-CN"/>
              <a:t>(</a:t>
            </a:r>
            <a:r>
              <a:rPr lang="zh-CN" altLang="en-US"/>
              <a:t>入参</a:t>
            </a:r>
            <a:r>
              <a:rPr lang="en-US" altLang="zh-CN"/>
              <a:t>):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do sth...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return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函数与模块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模块导入</a:t>
            </a:r>
            <a:endParaRPr lang="zh-CN" altLang="en-US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735" y="1725295"/>
            <a:ext cx="6142355" cy="28536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0235" y="1590675"/>
            <a:ext cx="3951605" cy="1397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en-US"/>
              <a:t>python</a:t>
            </a:r>
            <a:r>
              <a:rPr lang="zh-CN" altLang="en-US"/>
              <a:t>的内置模块直接使用</a:t>
            </a:r>
            <a:r>
              <a:rPr lang="en-US" altLang="zh-CN"/>
              <a:t>import</a:t>
            </a:r>
            <a:r>
              <a:rPr lang="zh-CN" altLang="en-US"/>
              <a:t>导入。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zh-CN" altLang="en-US"/>
              <a:t>第三方库与自定义模块需要使用</a:t>
            </a:r>
            <a:r>
              <a:rPr lang="en-US" altLang="zh-CN"/>
              <a:t>from</a:t>
            </a:r>
            <a:r>
              <a:rPr lang="zh-CN" altLang="en-US"/>
              <a:t>指明模块，使用</a:t>
            </a:r>
            <a:r>
              <a:rPr lang="en-US" altLang="zh-CN"/>
              <a:t>import</a:t>
            </a:r>
            <a:r>
              <a:rPr lang="zh-CN" altLang="en-US"/>
              <a:t>导入需要的</a:t>
            </a:r>
            <a:r>
              <a:rPr lang="zh-CN" altLang="en-US"/>
              <a:t>内容。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zh-CN" altLang="en-US"/>
              <a:t>当一个源文件夹中包含</a:t>
            </a:r>
            <a:r>
              <a:rPr lang="en-US" altLang="zh-CN"/>
              <a:t>__init__.py</a:t>
            </a:r>
            <a:r>
              <a:rPr lang="zh-CN" altLang="en-US"/>
              <a:t>文件，这个文件夹会被</a:t>
            </a:r>
            <a:r>
              <a:rPr lang="en-US" altLang="zh-CN"/>
              <a:t>python</a:t>
            </a:r>
            <a:r>
              <a:rPr lang="zh-CN" altLang="en-US"/>
              <a:t>标记为一个</a:t>
            </a:r>
            <a:r>
              <a:rPr lang="zh-CN" altLang="en-US"/>
              <a:t>模块。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安装第三方库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54685" y="118300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/>
            <a:r>
              <a:rPr lang="zh-CN" altLang="en-US"/>
              <a:t>常用</a:t>
            </a:r>
            <a:r>
              <a:rPr lang="en-US" altLang="zh-CN"/>
              <a:t>pip</a:t>
            </a:r>
            <a:r>
              <a:rPr lang="zh-CN" altLang="en-US"/>
              <a:t>命令进行第三方库的安装：</a:t>
            </a:r>
            <a:endParaRPr lang="en-US" altLang="zh-CN"/>
          </a:p>
          <a:p>
            <a:pPr indent="457200"/>
            <a:endParaRPr lang="en-US" altLang="zh-CN"/>
          </a:p>
          <a:p>
            <a:pPr indent="457200"/>
            <a:r>
              <a:rPr lang="en-US" altLang="zh-CN" b="1"/>
              <a:t>pip install </a:t>
            </a:r>
            <a:r>
              <a:rPr lang="zh-CN" altLang="en-US" b="1"/>
              <a:t>包名</a:t>
            </a:r>
            <a:r>
              <a:rPr lang="en-US" altLang="zh-CN" b="1"/>
              <a:t> -i </a:t>
            </a:r>
            <a:r>
              <a:rPr lang="zh-CN" altLang="en-US" b="1"/>
              <a:t>镜像</a:t>
            </a:r>
            <a:r>
              <a:rPr lang="zh-CN" altLang="en-US" b="1"/>
              <a:t>地址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160780" y="2381250"/>
            <a:ext cx="938466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执行命令之后</a:t>
            </a:r>
            <a:r>
              <a:rPr lang="en-US" altLang="zh-CN"/>
              <a:t>pip</a:t>
            </a:r>
            <a:r>
              <a:rPr lang="zh-CN" altLang="en-US"/>
              <a:t>会下载对应的包，不过官方的下载源处于国外，所以下载可能会因为网络问题而失败。这个时候可以使用</a:t>
            </a:r>
            <a:r>
              <a:rPr lang="en-US" altLang="zh-CN"/>
              <a:t>`-i`</a:t>
            </a:r>
            <a:r>
              <a:rPr lang="zh-CN" altLang="en-US"/>
              <a:t>参数添加国内的镜像源，来加速下载。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/>
              <a:t>pip install flask -i https://pypi.tuna.tsinghua.edu.cn/simple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160780" y="3853815"/>
            <a:ext cx="7496810" cy="2084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b="1"/>
              <a:t>常用镜像源</a:t>
            </a:r>
            <a:endParaRPr lang="zh-CN" altLang="en-US" b="1"/>
          </a:p>
          <a:p>
            <a:pPr>
              <a:lnSpc>
                <a:spcPct val="120000"/>
              </a:lnSpc>
            </a:pPr>
            <a:r>
              <a:rPr lang="en-US" altLang="zh-CN"/>
              <a:t># </a:t>
            </a:r>
            <a:r>
              <a:rPr lang="zh-CN" altLang="en-US"/>
              <a:t>清华源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https://pypi.tuna.tsinghua.edu.cn/simple</a:t>
            </a:r>
            <a:endParaRPr lang="en-US" altLang="zh-CN"/>
          </a:p>
          <a:p>
            <a:pPr>
              <a:lnSpc>
                <a:spcPct val="120000"/>
              </a:lnSpc>
            </a:pP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/>
              <a:t># </a:t>
            </a:r>
            <a:r>
              <a:rPr lang="zh-CN" altLang="en-US"/>
              <a:t>上交大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https://mirror.sjtu.edu.cn/pypi/web/simple/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类与面向对象基础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8979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面向对象就是把现实世界的事物抽象成对象，用对象的属性（数据）和方法（行为）来组织和管理程序。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635" y="1758950"/>
            <a:ext cx="6443345" cy="42614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5665" y="22364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类包含属性和方法。类实例化后的变量就是一个</a:t>
            </a:r>
            <a:r>
              <a:rPr lang="zh-CN" altLang="en-US"/>
              <a:t>对象。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python</a:t>
            </a:r>
            <a:r>
              <a:rPr lang="zh-CN" altLang="en-US" sz="2400" b="1" dirty="0"/>
              <a:t>控制机器人基本运动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91515" y="1122680"/>
            <a:ext cx="10397490" cy="189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连接到机器人，使用</a:t>
            </a:r>
            <a:r>
              <a:rPr lang="en-US" altLang="zh-CN"/>
              <a:t>conda</a:t>
            </a:r>
            <a:r>
              <a:rPr lang="zh-CN" altLang="en-US"/>
              <a:t>创建虚拟环境，激活。进入</a:t>
            </a:r>
            <a:r>
              <a:rPr lang="en-US" altLang="zh-CN"/>
              <a:t>`/home/pi/TonyPi/HiwonderSDK`</a:t>
            </a:r>
            <a:r>
              <a:rPr lang="zh-CN" altLang="en-US"/>
              <a:t>路径。为</a:t>
            </a:r>
            <a:r>
              <a:rPr lang="en-US" altLang="zh-CN"/>
              <a:t>HiwonderSDK</a:t>
            </a:r>
            <a:r>
              <a:rPr lang="zh-CN" altLang="en-US"/>
              <a:t>赋予执行权：</a:t>
            </a:r>
            <a:endParaRPr lang="zh-CN" altLang="en-US"/>
          </a:p>
          <a:p>
            <a:pPr indent="457200" algn="ctr">
              <a:lnSpc>
                <a:spcPct val="120000"/>
              </a:lnSpc>
            </a:pPr>
            <a:r>
              <a:rPr lang="en-US" altLang="zh-CN" b="1"/>
              <a:t>chmod +x /home/pi/TonyPi/HiwonderSDK</a:t>
            </a:r>
            <a:endParaRPr lang="en-US" altLang="zh-CN" b="1"/>
          </a:p>
          <a:p>
            <a:pPr indent="0" algn="l">
              <a:lnSpc>
                <a:spcPct val="120000"/>
              </a:lnSpc>
            </a:pPr>
            <a:r>
              <a:rPr lang="zh-CN" altLang="en-US"/>
              <a:t>然后安装</a:t>
            </a:r>
            <a:r>
              <a:rPr lang="en-US" altLang="zh-CN"/>
              <a:t>HiwonderSDK</a:t>
            </a:r>
            <a:r>
              <a:rPr lang="zh-CN" altLang="en-US"/>
              <a:t>：</a:t>
            </a:r>
            <a:endParaRPr lang="zh-CN" altLang="en-US"/>
          </a:p>
          <a:p>
            <a:pPr indent="457200" algn="ctr">
              <a:lnSpc>
                <a:spcPct val="120000"/>
              </a:lnSpc>
            </a:pPr>
            <a:r>
              <a:rPr lang="en-US" altLang="zh-CN" b="1"/>
              <a:t>pip install .</a:t>
            </a:r>
            <a:endParaRPr lang="en-US" altLang="zh-CN" b="1"/>
          </a:p>
          <a:p>
            <a:pPr indent="457200">
              <a:lnSpc>
                <a:spcPct val="120000"/>
              </a:lnSpc>
            </a:pP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783590" y="3190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安装完成会有如下</a:t>
            </a:r>
            <a:r>
              <a:rPr lang="zh-CN" altLang="en-US"/>
              <a:t>提示：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320" y="3674110"/>
            <a:ext cx="4618990" cy="9258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57250" y="4958715"/>
            <a:ext cx="8693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pyserial</a:t>
            </a:r>
            <a:r>
              <a:rPr lang="zh-CN" altLang="en-US"/>
              <a:t>是串口通信库，如果提示没有，下载</a:t>
            </a:r>
            <a:r>
              <a:rPr lang="zh-CN" altLang="en-US"/>
              <a:t>即可：</a:t>
            </a:r>
            <a:endParaRPr lang="zh-CN" altLang="en-US"/>
          </a:p>
          <a:p>
            <a:pPr algn="ctr"/>
            <a:r>
              <a:rPr lang="en-US" altLang="zh-CN" b="1"/>
              <a:t>pip install pyserial -i https://mirrors.tuna.tsinghua.edu.cn/pypi/web/simple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93287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1" indent="0"/>
            <a:r>
              <a:rPr lang="zh-CN" altLang="en-US"/>
              <a:t>创建也给文件夹用于存放源代码文件：</a:t>
            </a:r>
            <a:endParaRPr lang="zh-CN" altLang="en-US"/>
          </a:p>
          <a:p>
            <a:pPr indent="457200" algn="ctr"/>
            <a:r>
              <a:rPr lang="en-US" altLang="zh-CN" b="1"/>
              <a:t>mkdir /home/pi/src</a:t>
            </a:r>
            <a:endParaRPr lang="en-US" altLang="zh-CN" b="1"/>
          </a:p>
          <a:p>
            <a:pPr indent="457200" algn="l"/>
            <a:r>
              <a:rPr lang="zh-CN" altLang="en-US"/>
              <a:t>创建一个</a:t>
            </a:r>
            <a:r>
              <a:rPr lang="en-US" altLang="zh-CN"/>
              <a:t>test01.py</a:t>
            </a:r>
            <a:r>
              <a:rPr lang="zh-CN" altLang="en-US"/>
              <a:t>文件，编写：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8610" y="2147570"/>
            <a:ext cx="5661025" cy="793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27480" y="3053080"/>
            <a:ext cx="8776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执行这个</a:t>
            </a:r>
            <a:r>
              <a:rPr lang="zh-CN" altLang="en-US"/>
              <a:t>程序：</a:t>
            </a:r>
            <a:endParaRPr lang="zh-CN" altLang="en-US"/>
          </a:p>
          <a:p>
            <a:pPr algn="ctr"/>
            <a:r>
              <a:rPr lang="en-US" altLang="zh-CN" b="1"/>
              <a:t>python test01.py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1529715" y="4074795"/>
            <a:ext cx="7893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执行成功，可以看到机器人向前走了</a:t>
            </a:r>
            <a:r>
              <a:rPr lang="zh-CN" altLang="en-US"/>
              <a:t>一步。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746760" y="1591945"/>
            <a:ext cx="6281420" cy="177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en-US" altLang="zh-CN"/>
              <a:t>TonyPi</a:t>
            </a:r>
            <a:r>
              <a:rPr lang="zh-CN" altLang="en-US"/>
              <a:t>机器人采用动作文件来管理机器人的肢体动作执行。在</a:t>
            </a:r>
            <a:r>
              <a:rPr lang="en-US" altLang="zh-CN"/>
              <a:t>`/home/pi/TonyPi/ActionGroups`</a:t>
            </a:r>
            <a:r>
              <a:rPr lang="zh-CN" altLang="en-US"/>
              <a:t>路径下可以看到预设的动作，可在</a:t>
            </a:r>
            <a:r>
              <a:rPr lang="en-US" altLang="zh-CN"/>
              <a:t>markdown</a:t>
            </a:r>
            <a:r>
              <a:rPr lang="zh-CN" altLang="en-US"/>
              <a:t>文档附录查看动作文件的</a:t>
            </a:r>
            <a:r>
              <a:rPr lang="zh-CN" altLang="en-US"/>
              <a:t>简要描述。我们通过调用动作文件让机器人执行动作，从而控制机器人。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5840" y="1340485"/>
            <a:ext cx="3482340" cy="498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endParaRPr lang="en-US" altLang="zh-CN" sz="2400" b="1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910" y="1184910"/>
            <a:ext cx="7891780" cy="1052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2379345"/>
            <a:ext cx="7736205" cy="992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10" y="3605530"/>
            <a:ext cx="5542915" cy="6788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10" y="4518025"/>
            <a:ext cx="5381625" cy="7226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10" y="5410200"/>
            <a:ext cx="6185535" cy="7543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4295" y="1592580"/>
            <a:ext cx="4064000" cy="786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行走一般是直接执行动作</a:t>
            </a:r>
            <a:r>
              <a:rPr lang="zh-CN" altLang="en-US"/>
              <a:t>文件，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不单独去控制</a:t>
            </a:r>
            <a:r>
              <a:rPr lang="zh-CN" altLang="en-US"/>
              <a:t>舵机。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endParaRPr lang="en-US" altLang="zh-CN" sz="2400" b="1" dirty="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510" y="1233805"/>
            <a:ext cx="10736580" cy="2416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控制摄像头转动的</a:t>
            </a:r>
            <a:r>
              <a:rPr lang="zh-CN" altLang="en-US"/>
              <a:t>两个舵机，需要单独控制。上下转动的舵机限制角度在</a:t>
            </a:r>
            <a:r>
              <a:rPr lang="en-US" altLang="zh-CN"/>
              <a:t>130</a:t>
            </a:r>
            <a:r>
              <a:rPr lang="en-US" altLang="en-US"/>
              <a:t>°</a:t>
            </a:r>
            <a:r>
              <a:rPr lang="zh-CN" altLang="en-US"/>
              <a:t>左右，左右</a:t>
            </a:r>
            <a:r>
              <a:rPr lang="en-US" altLang="zh-CN"/>
              <a:t>180</a:t>
            </a:r>
            <a:r>
              <a:rPr lang="en-US" altLang="en-US"/>
              <a:t>°</a:t>
            </a:r>
            <a:r>
              <a:rPr lang="zh-CN" altLang="en-US"/>
              <a:t>，范围在</a:t>
            </a:r>
            <a:r>
              <a:rPr lang="en-US" altLang="zh-CN"/>
              <a:t>500-2500</a:t>
            </a:r>
            <a:r>
              <a:rPr lang="zh-CN" altLang="en-US"/>
              <a:t>之间。</a:t>
            </a:r>
            <a:endParaRPr lang="zh-CN" altLang="en-US"/>
          </a:p>
          <a:p>
            <a:pPr indent="0">
              <a:lnSpc>
                <a:spcPct val="130000"/>
              </a:lnSpc>
            </a:pPr>
            <a:r>
              <a:rPr lang="zh-CN" altLang="en-US"/>
              <a:t>三个参数：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servo_id: </a:t>
            </a:r>
            <a:r>
              <a:rPr lang="zh-CN" altLang="en-US"/>
              <a:t>要驱动的舵机</a:t>
            </a:r>
            <a:r>
              <a:rPr lang="en-US" altLang="zh-CN"/>
              <a:t>id(the servo id needed to be driven)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pulse:   </a:t>
            </a:r>
            <a:r>
              <a:rPr lang="zh-CN" altLang="en-US"/>
              <a:t>舵机目标位置</a:t>
            </a:r>
            <a:r>
              <a:rPr lang="en-US" altLang="zh-CN"/>
              <a:t>(servo target position)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use_time: </a:t>
            </a:r>
            <a:r>
              <a:rPr lang="zh-CN" altLang="en-US"/>
              <a:t>转动需要的时间</a:t>
            </a:r>
            <a:r>
              <a:rPr lang="en-US" altLang="zh-CN"/>
              <a:t>(the time needed to rotate)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375" y="3649980"/>
            <a:ext cx="6968490" cy="2828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远程控制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454150"/>
            <a:ext cx="1024001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10000"/>
              </a:lnSpc>
            </a:pPr>
            <a:r>
              <a:rPr lang="zh-CN" altLang="en-US"/>
              <a:t>由于</a:t>
            </a:r>
            <a:r>
              <a:rPr lang="en-US" altLang="zh-CN"/>
              <a:t>Tonypi</a:t>
            </a:r>
            <a:r>
              <a:rPr lang="zh-CN" altLang="en-US"/>
              <a:t>机器人的</a:t>
            </a:r>
            <a:r>
              <a:rPr lang="en-US" altLang="zh-CN"/>
              <a:t>SDK</a:t>
            </a:r>
            <a:r>
              <a:rPr lang="zh-CN" altLang="en-US"/>
              <a:t>是直接控制舵机，将</a:t>
            </a:r>
            <a:r>
              <a:rPr lang="en-US" altLang="zh-CN"/>
              <a:t>SDK</a:t>
            </a:r>
            <a:r>
              <a:rPr lang="zh-CN" altLang="en-US"/>
              <a:t>安装到电脑上是无法正常使用的，因此我们使用</a:t>
            </a:r>
            <a:r>
              <a:rPr lang="en-US" altLang="zh-CN"/>
              <a:t>web</a:t>
            </a:r>
            <a:r>
              <a:rPr lang="zh-CN" altLang="en-US"/>
              <a:t>框架在机器人上创建一个</a:t>
            </a:r>
            <a:r>
              <a:rPr lang="en-US" altLang="zh-CN"/>
              <a:t>web</a:t>
            </a:r>
            <a:r>
              <a:rPr lang="zh-CN" altLang="en-US"/>
              <a:t>应用，通过</a:t>
            </a:r>
            <a:r>
              <a:rPr lang="en-US" altLang="zh-CN"/>
              <a:t>web</a:t>
            </a:r>
            <a:r>
              <a:rPr lang="zh-CN" altLang="en-US"/>
              <a:t>应用间距控制机器人。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08100" y="2513330"/>
            <a:ext cx="99174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Flask </a:t>
            </a:r>
            <a:r>
              <a:rPr lang="zh-CN" altLang="en-US"/>
              <a:t>是一个轻量级的</a:t>
            </a:r>
            <a:r>
              <a:rPr lang="en-US" altLang="zh-CN"/>
              <a:t>web "</a:t>
            </a:r>
            <a:r>
              <a:rPr lang="zh-CN" altLang="en-US"/>
              <a:t>微框架</a:t>
            </a:r>
            <a:r>
              <a:rPr lang="en-US" altLang="zh-CN"/>
              <a:t>"</a:t>
            </a:r>
            <a:r>
              <a:rPr lang="zh-CN" altLang="en-US"/>
              <a:t>，非常适合在树莓派这样的设备上运行。</a:t>
            </a:r>
            <a:r>
              <a:rPr lang="zh-CN" altLang="en-US"/>
              <a:t>安装</a:t>
            </a:r>
            <a:r>
              <a:rPr lang="en-US" altLang="zh-CN"/>
              <a:t>Flask</a:t>
            </a:r>
            <a:r>
              <a:rPr lang="zh-CN" altLang="en-US"/>
              <a:t>和</a:t>
            </a:r>
            <a:r>
              <a:rPr lang="en-US" altLang="zh-CN"/>
              <a:t>gunicorn</a:t>
            </a:r>
            <a:r>
              <a:rPr lang="zh-CN" altLang="en-US"/>
              <a:t>：</a:t>
            </a:r>
            <a:endParaRPr lang="zh-CN" altLang="en-US"/>
          </a:p>
          <a:p>
            <a:endParaRPr lang="zh-CN" altLang="en-US"/>
          </a:p>
          <a:p>
            <a:pPr lvl="4" algn="l"/>
            <a:r>
              <a:rPr lang="en-US" altLang="zh-CN" b="1"/>
              <a:t>pip install flask -i https://pypi.tuna.tsinghua.edu.cn/simple</a:t>
            </a:r>
            <a:endParaRPr lang="en-US" altLang="zh-CN" b="1"/>
          </a:p>
          <a:p>
            <a:pPr lvl="4" algn="l"/>
            <a:r>
              <a:rPr lang="en-US" altLang="zh-CN" b="1"/>
              <a:t>pip install gunicorn</a:t>
            </a:r>
            <a:endParaRPr lang="en-US" altLang="zh-CN" b="1"/>
          </a:p>
          <a:p>
            <a:pPr algn="l"/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远程控制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058545"/>
            <a:ext cx="10240010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10000"/>
              </a:lnSpc>
            </a:pPr>
            <a:r>
              <a:rPr lang="zh-CN" altLang="en-US"/>
              <a:t>创建</a:t>
            </a:r>
            <a:r>
              <a:rPr lang="en-US" altLang="zh-CN"/>
              <a:t>app.py</a:t>
            </a:r>
            <a:r>
              <a:rPr lang="zh-CN" altLang="en-US"/>
              <a:t>文件，编写一个简易的测试</a:t>
            </a:r>
            <a:r>
              <a:rPr lang="zh-CN" altLang="en-US"/>
              <a:t>应用：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3170" y="1454150"/>
            <a:ext cx="7053580" cy="4976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远程控制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058545"/>
            <a:ext cx="1024001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10000"/>
              </a:lnSpc>
            </a:pPr>
            <a:r>
              <a:rPr lang="zh-CN" altLang="en-US"/>
              <a:t>启动</a:t>
            </a:r>
            <a:r>
              <a:rPr lang="en-US" altLang="zh-CN"/>
              <a:t>app</a:t>
            </a:r>
            <a:r>
              <a:rPr lang="zh-CN" altLang="en-US"/>
              <a:t>：</a:t>
            </a:r>
            <a:endParaRPr lang="zh-CN" altLang="en-US"/>
          </a:p>
          <a:p>
            <a:pPr marL="457200" lvl="1" indent="457200">
              <a:lnSpc>
                <a:spcPct val="110000"/>
              </a:lnSpc>
            </a:pPr>
            <a:r>
              <a:rPr lang="en-US" altLang="zh-CN" b="1"/>
              <a:t>gunicorn --workers 1  --thread 4 --timeout 600 --bind 0.0.0.0:5000 app:app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1308735" y="1951355"/>
            <a:ext cx="9806305" cy="2532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/>
              <a:t> </a:t>
            </a:r>
            <a:r>
              <a:rPr lang="en-US" altLang="zh-CN" b="1"/>
              <a:t>--workers 1</a:t>
            </a:r>
            <a:r>
              <a:rPr lang="en-US" altLang="zh-CN"/>
              <a:t>: </a:t>
            </a:r>
            <a:r>
              <a:rPr lang="zh-CN" altLang="en-US"/>
              <a:t>指定了</a:t>
            </a:r>
            <a:r>
              <a:rPr lang="en-US" altLang="zh-CN"/>
              <a:t>1</a:t>
            </a:r>
            <a:r>
              <a:rPr lang="zh-CN" altLang="en-US"/>
              <a:t>个工作进程来处理请求，提高了并发能力。对于树莓派</a:t>
            </a:r>
            <a:r>
              <a:rPr lang="en-US" altLang="zh-CN"/>
              <a:t>5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zh-CN" altLang="en-US"/>
              <a:t>到</a:t>
            </a:r>
            <a:r>
              <a:rPr lang="en-US" altLang="zh-CN"/>
              <a:t>4</a:t>
            </a:r>
            <a:r>
              <a:rPr lang="zh-CN" altLang="en-US"/>
              <a:t>个工作进程是合理的。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 b="1"/>
              <a:t>--thread 4</a:t>
            </a:r>
            <a:r>
              <a:rPr lang="zh-CN" altLang="en-US"/>
              <a:t>：设置</a:t>
            </a:r>
            <a:r>
              <a:rPr lang="en-US" altLang="zh-CN"/>
              <a:t>4</a:t>
            </a:r>
            <a:r>
              <a:rPr lang="zh-CN" altLang="en-US"/>
              <a:t>个线程处理</a:t>
            </a:r>
            <a:r>
              <a:rPr lang="zh-CN" altLang="en-US"/>
              <a:t>请求。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 </a:t>
            </a:r>
            <a:r>
              <a:rPr lang="en-US" altLang="zh-CN" b="1"/>
              <a:t>--timeout 600</a:t>
            </a:r>
            <a:r>
              <a:rPr lang="zh-CN" altLang="en-US"/>
              <a:t>：设置超时时间，</a:t>
            </a:r>
            <a:r>
              <a:rPr lang="en-US" altLang="zh-CN"/>
              <a:t>600s</a:t>
            </a:r>
            <a:r>
              <a:rPr lang="zh-CN" altLang="en-US"/>
              <a:t>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 </a:t>
            </a:r>
            <a:r>
              <a:rPr lang="en-US" altLang="zh-CN" b="1"/>
              <a:t>--bind 0.0.0.0:5000</a:t>
            </a:r>
            <a:r>
              <a:rPr lang="en-US" altLang="zh-CN"/>
              <a:t>: </a:t>
            </a:r>
            <a:r>
              <a:rPr lang="zh-CN" altLang="en-US"/>
              <a:t>和</a:t>
            </a:r>
            <a:r>
              <a:rPr lang="en-US" altLang="zh-CN"/>
              <a:t> app.run() </a:t>
            </a:r>
            <a:r>
              <a:rPr lang="zh-CN" altLang="en-US"/>
              <a:t>中的</a:t>
            </a:r>
            <a:r>
              <a:rPr lang="en-US" altLang="zh-CN"/>
              <a:t> host </a:t>
            </a:r>
            <a:r>
              <a:rPr lang="zh-CN" altLang="en-US"/>
              <a:t>和</a:t>
            </a:r>
            <a:r>
              <a:rPr lang="en-US" altLang="zh-CN"/>
              <a:t> port </a:t>
            </a:r>
            <a:r>
              <a:rPr lang="zh-CN" altLang="en-US"/>
              <a:t>作用一样，监听所有网络接口的</a:t>
            </a:r>
            <a:r>
              <a:rPr lang="en-US" altLang="zh-CN"/>
              <a:t>5000</a:t>
            </a:r>
            <a:r>
              <a:rPr lang="zh-CN" altLang="en-US"/>
              <a:t>端口。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 b="1"/>
              <a:t> app:app</a:t>
            </a:r>
            <a:r>
              <a:rPr lang="en-US" altLang="zh-CN"/>
              <a:t>: </a:t>
            </a:r>
            <a:r>
              <a:rPr lang="zh-CN" altLang="en-US"/>
              <a:t>第一个</a:t>
            </a:r>
            <a:r>
              <a:rPr lang="en-US" altLang="zh-CN"/>
              <a:t> app </a:t>
            </a:r>
            <a:r>
              <a:rPr lang="zh-CN" altLang="en-US"/>
              <a:t>指的是</a:t>
            </a:r>
            <a:r>
              <a:rPr lang="en-US" altLang="zh-CN"/>
              <a:t>python</a:t>
            </a:r>
            <a:r>
              <a:rPr lang="zh-CN" altLang="en-US"/>
              <a:t>文件名</a:t>
            </a:r>
            <a:r>
              <a:rPr lang="en-US" altLang="zh-CN"/>
              <a:t> `app.py`</a:t>
            </a:r>
            <a:r>
              <a:rPr lang="zh-CN" altLang="en-US"/>
              <a:t>，第二个</a:t>
            </a:r>
            <a:r>
              <a:rPr lang="en-US" altLang="zh-CN"/>
              <a:t> app </a:t>
            </a:r>
            <a:r>
              <a:rPr lang="zh-CN" altLang="en-US"/>
              <a:t>指的是在该文件中创建的</a:t>
            </a:r>
            <a:r>
              <a:rPr lang="en-US" altLang="zh-CN"/>
              <a:t> Flask </a:t>
            </a:r>
            <a:r>
              <a:rPr lang="zh-CN" altLang="en-US"/>
              <a:t>实例</a:t>
            </a:r>
            <a:r>
              <a:rPr lang="en-US" altLang="zh-CN"/>
              <a:t> `app = Flask(__name__)`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897953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打开浏览器输入：</a:t>
            </a:r>
            <a:endParaRPr lang="zh-CN" altLang="en-US"/>
          </a:p>
          <a:p>
            <a:pPr marL="914400" lvl="2" indent="457200">
              <a:lnSpc>
                <a:spcPct val="120000"/>
              </a:lnSpc>
            </a:pPr>
            <a:r>
              <a:rPr lang="en-US" altLang="zh-CN" b="1"/>
              <a:t>http:</a:t>
            </a:r>
            <a:r>
              <a:rPr lang="zh-CN" altLang="en-US" b="1"/>
              <a:t>机器人</a:t>
            </a:r>
            <a:r>
              <a:rPr lang="en-US" altLang="zh-CN" b="1"/>
              <a:t>ip:5000/run_action/test</a:t>
            </a:r>
            <a:endParaRPr lang="en-US" altLang="zh-CN" b="1"/>
          </a:p>
          <a:p>
            <a:pPr marL="457200" lvl="1" indent="0">
              <a:lnSpc>
                <a:spcPct val="120000"/>
              </a:lnSpc>
            </a:pPr>
            <a:r>
              <a:rPr lang="zh-CN" altLang="en-US"/>
              <a:t>正常返回</a:t>
            </a:r>
            <a:r>
              <a:rPr lang="en-US" altLang="zh-CN"/>
              <a:t>json</a:t>
            </a:r>
            <a:r>
              <a:rPr lang="zh-CN" altLang="en-US"/>
              <a:t>数据，说明启动正常。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40" y="2322830"/>
            <a:ext cx="5617845" cy="15709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56055" y="4206240"/>
            <a:ext cx="916305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/>
              <a:t>取消注释，重启</a:t>
            </a:r>
            <a:r>
              <a:rPr lang="en-US" altLang="zh-CN"/>
              <a:t>app</a:t>
            </a:r>
            <a:r>
              <a:rPr lang="zh-CN" altLang="en-US"/>
              <a:t>，浏览器输入：</a:t>
            </a:r>
            <a:endParaRPr lang="zh-CN" altLang="en-US"/>
          </a:p>
          <a:p>
            <a:pPr marL="457200" lvl="1" indent="457200">
              <a:lnSpc>
                <a:spcPct val="130000"/>
              </a:lnSpc>
            </a:pPr>
            <a:r>
              <a:rPr lang="en-US" altLang="zh-CN" b="1"/>
              <a:t>http://</a:t>
            </a:r>
            <a:r>
              <a:rPr lang="zh-CN" altLang="en-US" b="1"/>
              <a:t>机器人</a:t>
            </a:r>
            <a:r>
              <a:rPr lang="en-US" altLang="zh-CN" b="1"/>
              <a:t>IP:5000/run_action/go_forward_one_step</a:t>
            </a:r>
            <a:endParaRPr lang="en-US" altLang="zh-CN" b="1"/>
          </a:p>
          <a:p>
            <a:pPr marL="0" lvl="0" indent="0">
              <a:lnSpc>
                <a:spcPct val="130000"/>
              </a:lnSpc>
            </a:pPr>
            <a:r>
              <a:rPr lang="zh-CN" altLang="en-US"/>
              <a:t>可以看到机器人执行了动作，向前走了一步。以此类推，可以执行其它动作。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50" y="2322830"/>
            <a:ext cx="5633085" cy="194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控制机器人基本运动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05765" y="1169035"/>
            <a:ext cx="538035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添加控制转头的代码到</a:t>
            </a:r>
            <a:r>
              <a:rPr lang="en-US" altLang="zh-CN"/>
              <a:t>app.py</a:t>
            </a:r>
            <a:r>
              <a:rPr lang="zh-CN" altLang="en-US"/>
              <a:t>，启动程序。发送一个</a:t>
            </a:r>
            <a:r>
              <a:rPr lang="en-US" altLang="zh-CN"/>
              <a:t>post</a:t>
            </a:r>
            <a:r>
              <a:rPr lang="zh-CN" altLang="en-US"/>
              <a:t>请求，</a:t>
            </a:r>
            <a:r>
              <a:rPr lang="en-US" altLang="zh-CN"/>
              <a:t>json</a:t>
            </a:r>
            <a:r>
              <a:rPr lang="zh-CN" altLang="en-US"/>
              <a:t>请求体填写</a:t>
            </a:r>
            <a:r>
              <a:rPr lang="en-US" altLang="zh-CN"/>
              <a:t>servo_id</a:t>
            </a:r>
            <a:r>
              <a:rPr lang="zh-CN" altLang="en-US"/>
              <a:t>和</a:t>
            </a:r>
            <a:r>
              <a:rPr lang="en-US" altLang="zh-CN"/>
              <a:t>pulse</a:t>
            </a:r>
            <a:r>
              <a:rPr lang="zh-CN" altLang="en-US"/>
              <a:t>。请求无报错，可以看到机器人转动</a:t>
            </a:r>
            <a:r>
              <a:rPr lang="zh-CN" altLang="en-US"/>
              <a:t>头部。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902970"/>
            <a:ext cx="5296535" cy="5571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5" y="2670810"/>
            <a:ext cx="4579620" cy="3162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</a:t>
            </a:r>
            <a:r>
              <a:rPr lang="zh-CN" altLang="en-US" sz="2400" b="1" dirty="0">
                <a:sym typeface="+mn-ea"/>
              </a:rPr>
              <a:t>动作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897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使用</a:t>
            </a:r>
            <a:r>
              <a:rPr lang="en-US" altLang="zh-CN"/>
              <a:t>VNC</a:t>
            </a:r>
            <a:r>
              <a:rPr lang="zh-CN" altLang="en-US"/>
              <a:t>连接到机器人，在桌面可以看到一个名为</a:t>
            </a:r>
            <a:r>
              <a:rPr lang="en-US" altLang="zh-CN"/>
              <a:t>Tonypi</a:t>
            </a:r>
            <a:r>
              <a:rPr lang="zh-CN" altLang="en-US"/>
              <a:t>的软件，点击打开。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2245" y="2138045"/>
            <a:ext cx="1988820" cy="2857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2882900"/>
            <a:ext cx="4267200" cy="125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</a:t>
            </a:r>
            <a:r>
              <a:rPr lang="zh-CN" altLang="en-US" sz="2400" b="1" dirty="0">
                <a:sym typeface="+mn-ea"/>
              </a:rPr>
              <a:t>动作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897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打开后可以看到机器人动作编辑界面。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630" y="1539875"/>
            <a:ext cx="9860280" cy="4716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编辑动作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设置舵机位置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10120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我们可以在界面上通过拖拽条来设置舵机的参数，拖拽的时候舵机位置会同步改变。此外，也可以点击</a:t>
            </a:r>
            <a:r>
              <a:rPr lang="en-US" altLang="zh-CN"/>
              <a:t>“</a:t>
            </a:r>
            <a:r>
              <a:rPr lang="zh-CN" altLang="en-US"/>
              <a:t>手掰编程</a:t>
            </a:r>
            <a:r>
              <a:rPr lang="en-US" altLang="zh-CN"/>
              <a:t>”</a:t>
            </a:r>
            <a:r>
              <a:rPr lang="zh-CN" altLang="en-US"/>
              <a:t>，然后直接掰动机器人关节，来设置舵机的位置。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1305" y="1823720"/>
            <a:ext cx="6430645" cy="4396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编辑动作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角度回读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897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设置完舵机位置之后，点击</a:t>
            </a:r>
            <a:r>
              <a:rPr lang="en-US" altLang="zh-CN"/>
              <a:t>“</a:t>
            </a:r>
            <a:r>
              <a:rPr lang="zh-CN" altLang="en-US"/>
              <a:t>角度回读</a:t>
            </a:r>
            <a:r>
              <a:rPr lang="en-US" altLang="zh-CN"/>
              <a:t>”</a:t>
            </a:r>
            <a:r>
              <a:rPr lang="zh-CN" altLang="en-US"/>
              <a:t>，舵机参数会显示在右侧的列表中。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7980" y="1590040"/>
            <a:ext cx="5661660" cy="4827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编辑动作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执行动作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8979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点击列表中动作后选中该动作，然后点击左侧的启动按钮，机器人舵机的位置就会设置成这个动作对应的舵机位置。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040" y="2417445"/>
            <a:ext cx="7913370" cy="2023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编辑动作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删除动作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897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点击选中动作后，点击</a:t>
            </a:r>
            <a:r>
              <a:rPr lang="en-US" altLang="zh-CN"/>
              <a:t>“</a:t>
            </a:r>
            <a:r>
              <a:rPr lang="zh-CN" altLang="en-US"/>
              <a:t>删除动作</a:t>
            </a:r>
            <a:r>
              <a:rPr lang="en-US" altLang="zh-CN"/>
              <a:t>”</a:t>
            </a:r>
            <a:r>
              <a:rPr lang="zh-CN" altLang="en-US"/>
              <a:t>按钮，可以删除这个动作。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1482090"/>
            <a:ext cx="6105525" cy="5022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编辑动作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保存动作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100838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保存动作文件</a:t>
            </a:r>
            <a:r>
              <a:rPr lang="en-US" altLang="zh-CN"/>
              <a:t>”</a:t>
            </a:r>
            <a:r>
              <a:rPr lang="zh-CN" altLang="en-US"/>
              <a:t>，输入文件名称，点击</a:t>
            </a:r>
            <a:r>
              <a:rPr lang="en-US" altLang="zh-CN"/>
              <a:t>Save</a:t>
            </a:r>
            <a:r>
              <a:rPr lang="zh-CN" altLang="en-US"/>
              <a:t>，当前所有动作就会被保存为一个</a:t>
            </a:r>
            <a:r>
              <a:rPr lang="en-US" altLang="zh-CN"/>
              <a:t>.d6a</a:t>
            </a:r>
            <a:r>
              <a:rPr lang="zh-CN" altLang="en-US"/>
              <a:t>格式的二进制文件。</a:t>
            </a:r>
            <a:endParaRPr lang="zh-CN" altLang="en-US"/>
          </a:p>
          <a:p>
            <a:pPr indent="457200"/>
            <a:r>
              <a:rPr lang="zh-CN" altLang="en-US"/>
              <a:t>保存的路径可以任意，不过一般保存在</a:t>
            </a:r>
            <a:r>
              <a:rPr lang="en-US" altLang="zh-CN"/>
              <a:t>`/home/pi/TonyPi/ActionGroups`</a:t>
            </a:r>
            <a:r>
              <a:rPr lang="zh-CN" altLang="en-US"/>
              <a:t>，这个路径是预设动作的保存路径。</a:t>
            </a:r>
            <a:endParaRPr lang="zh-CN" altLang="en-US"/>
          </a:p>
          <a:p>
            <a:pPr indent="457200"/>
            <a:endParaRPr lang="en-US" altLang="zh-CN"/>
          </a:p>
          <a:p>
            <a:pPr indent="457200"/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7495" y="2176780"/>
            <a:ext cx="6200775" cy="4255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编辑动作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打开动作文件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113790"/>
            <a:ext cx="1008380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打开动作文件</a:t>
            </a:r>
            <a:r>
              <a:rPr lang="en-US" altLang="zh-CN"/>
              <a:t>”</a:t>
            </a:r>
            <a:r>
              <a:rPr lang="zh-CN" altLang="en-US"/>
              <a:t>，选择</a:t>
            </a:r>
            <a:r>
              <a:rPr lang="en-US" altLang="zh-CN"/>
              <a:t>`/home/pi/TonyPi/ActionGroups`</a:t>
            </a:r>
            <a:r>
              <a:rPr lang="zh-CN" altLang="en-US"/>
              <a:t>路径，可以选择需要执行的动作文件。动作文件的行为动作，可以查看附录下的动作预设。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120" y="1823085"/>
            <a:ext cx="7239000" cy="468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编辑动作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打开动作文件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380490"/>
            <a:ext cx="5350510" cy="648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打开动作文件后，右侧列表会展示所有动作，点击</a:t>
            </a:r>
            <a:r>
              <a:rPr lang="en-US" altLang="zh-CN"/>
              <a:t>“</a:t>
            </a:r>
            <a:r>
              <a:rPr lang="zh-CN" altLang="en-US"/>
              <a:t>运行</a:t>
            </a:r>
            <a:r>
              <a:rPr lang="en-US" altLang="zh-CN"/>
              <a:t>”</a:t>
            </a:r>
            <a:r>
              <a:rPr lang="zh-CN" altLang="en-US"/>
              <a:t>，即可运行这个动作文件。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665" y="1013460"/>
            <a:ext cx="4884420" cy="5338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多线程与继承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076960"/>
            <a:ext cx="10330180" cy="861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线程是操作系统调度的最小执行单元。多线程就是在同一个进程中运行多个线程，可以同时执行不同任务。在</a:t>
            </a:r>
            <a:r>
              <a:rPr lang="en-US" altLang="zh-CN"/>
              <a:t> Python </a:t>
            </a:r>
            <a:r>
              <a:rPr lang="zh-CN" altLang="en-US"/>
              <a:t>中，使用</a:t>
            </a:r>
            <a:r>
              <a:rPr lang="en-US" altLang="zh-CN"/>
              <a:t> threading </a:t>
            </a:r>
            <a:r>
              <a:rPr lang="zh-CN" altLang="en-US"/>
              <a:t>模块来实现。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7505" y="1854835"/>
            <a:ext cx="6233160" cy="47015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5030" y="2107565"/>
            <a:ext cx="45624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执行程序，可以看到，机器人一边向前走，一边转头。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多线程与继承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389380"/>
            <a:ext cx="10330180" cy="179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20000"/>
              </a:lnSpc>
            </a:pPr>
            <a:r>
              <a:rPr lang="zh-CN" altLang="en-US"/>
              <a:t>当功能需求较复杂时，可以继承</a:t>
            </a:r>
            <a:r>
              <a:rPr lang="en-US" altLang="zh-CN"/>
              <a:t>Thread</a:t>
            </a:r>
            <a:r>
              <a:rPr lang="zh-CN" altLang="en-US"/>
              <a:t>类来进行实现。以下情况可以考虑使用类继承：</a:t>
            </a:r>
            <a:endParaRPr lang="en-US" altLang="zh-CN"/>
          </a:p>
          <a:p>
            <a:pPr indent="457200">
              <a:lnSpc>
                <a:spcPct val="120000"/>
              </a:lnSpc>
            </a:pPr>
            <a:r>
              <a:rPr lang="zh-CN" altLang="en-US"/>
              <a:t>需要在线程对象里保存状态、返回值或异常。</a:t>
            </a:r>
            <a:endParaRPr lang="en-US" altLang="zh-CN"/>
          </a:p>
          <a:p>
            <a:pPr indent="457200">
              <a:lnSpc>
                <a:spcPct val="120000"/>
              </a:lnSpc>
            </a:pPr>
            <a:r>
              <a:rPr lang="zh-CN" altLang="en-US"/>
              <a:t>需要封装一个</a:t>
            </a:r>
            <a:r>
              <a:rPr lang="en-US" altLang="zh-CN"/>
              <a:t>“</a:t>
            </a:r>
            <a:r>
              <a:rPr lang="zh-CN" altLang="en-US"/>
              <a:t>长期运行</a:t>
            </a:r>
            <a:r>
              <a:rPr lang="en-US" altLang="zh-CN"/>
              <a:t>”</a:t>
            </a:r>
            <a:r>
              <a:rPr lang="zh-CN" altLang="en-US"/>
              <a:t>的工作线程（比如消费者</a:t>
            </a:r>
            <a:r>
              <a:rPr lang="en-US" altLang="zh-CN"/>
              <a:t>/</a:t>
            </a:r>
            <a:r>
              <a:rPr lang="zh-CN" altLang="en-US"/>
              <a:t>监听器），并提供</a:t>
            </a:r>
            <a:r>
              <a:rPr lang="en-US" altLang="zh-CN"/>
              <a:t> start/stop </a:t>
            </a:r>
            <a:r>
              <a:rPr lang="zh-CN" altLang="en-US"/>
              <a:t>等方法。</a:t>
            </a:r>
            <a:endParaRPr lang="en-US" altLang="zh-CN"/>
          </a:p>
          <a:p>
            <a:pPr indent="457200">
              <a:lnSpc>
                <a:spcPct val="120000"/>
              </a:lnSpc>
            </a:pPr>
            <a:r>
              <a:rPr lang="zh-CN" altLang="en-US"/>
              <a:t>需要在</a:t>
            </a:r>
            <a:r>
              <a:rPr lang="en-US" altLang="zh-CN"/>
              <a:t> run </a:t>
            </a:r>
            <a:r>
              <a:rPr lang="zh-CN" altLang="en-US"/>
              <a:t>里加统一的前后处理（日志、计时、资源初始化</a:t>
            </a:r>
            <a:r>
              <a:rPr lang="en-US" altLang="zh-CN"/>
              <a:t>/</a:t>
            </a:r>
            <a:r>
              <a:rPr lang="zh-CN" altLang="en-US"/>
              <a:t>清理）。</a:t>
            </a:r>
            <a:endParaRPr lang="en-US" altLang="zh-CN"/>
          </a:p>
          <a:p>
            <a:pPr indent="457200">
              <a:lnSpc>
                <a:spcPct val="120000"/>
              </a:lnSpc>
            </a:pPr>
            <a:r>
              <a:rPr lang="zh-CN" altLang="en-US"/>
              <a:t>需要把线程作为更大类层次的一部分，复用面向对象接口。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多线程与继承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1196340"/>
            <a:ext cx="7070725" cy="265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右侧是继承</a:t>
            </a:r>
            <a:r>
              <a:rPr lang="en-US" altLang="zh-CN"/>
              <a:t>Thread</a:t>
            </a:r>
            <a:r>
              <a:rPr lang="zh-CN" altLang="en-US"/>
              <a:t>类实现启动（停止）机器人向前行走的例子。</a:t>
            </a:r>
            <a:r>
              <a:rPr lang="en-US" altLang="zh-CN"/>
              <a:t>_run_event</a:t>
            </a:r>
            <a:r>
              <a:rPr lang="zh-CN" altLang="en-US"/>
              <a:t>和</a:t>
            </a:r>
            <a:r>
              <a:rPr lang="en-US" altLang="zh-CN"/>
              <a:t>_stop_event</a:t>
            </a:r>
            <a:r>
              <a:rPr lang="zh-CN" altLang="en-US"/>
              <a:t>是一个事件标志。当</a:t>
            </a:r>
            <a:r>
              <a:rPr lang="en-US" altLang="zh-CN">
                <a:sym typeface="+mn-ea"/>
              </a:rPr>
              <a:t>_run_event</a:t>
            </a:r>
            <a:r>
              <a:rPr lang="zh-CN" altLang="en-US">
                <a:sym typeface="+mn-ea"/>
              </a:rPr>
              <a:t>设置为</a:t>
            </a:r>
            <a:r>
              <a:rPr lang="en-US" altLang="zh-CN">
                <a:sym typeface="+mn-ea"/>
              </a:rPr>
              <a:t>False</a:t>
            </a:r>
            <a:r>
              <a:rPr lang="zh-CN" altLang="en-US">
                <a:sym typeface="+mn-ea"/>
              </a:rPr>
              <a:t>时，执行</a:t>
            </a:r>
            <a:r>
              <a:rPr lang="en-US" altLang="zh-CN">
                <a:sym typeface="+mn-ea"/>
              </a:rPr>
              <a:t>self._run_event.wait()</a:t>
            </a:r>
            <a:r>
              <a:rPr lang="zh-CN" altLang="en-US">
                <a:sym typeface="+mn-ea"/>
              </a:rPr>
              <a:t>会阻塞，直到设置成</a:t>
            </a:r>
            <a:r>
              <a:rPr lang="en-US" altLang="zh-CN">
                <a:sym typeface="+mn-ea"/>
              </a:rPr>
              <a:t>True</a:t>
            </a:r>
            <a:r>
              <a:rPr lang="zh-CN" altLang="en-US">
                <a:sym typeface="+mn-ea"/>
              </a:rPr>
              <a:t>。当</a:t>
            </a:r>
            <a:r>
              <a:rPr lang="en-US" altLang="zh-CN">
                <a:sym typeface="+mn-ea"/>
              </a:rPr>
              <a:t>_stop_event</a:t>
            </a:r>
            <a:r>
              <a:rPr lang="zh-CN" altLang="en-US">
                <a:sym typeface="+mn-ea"/>
              </a:rPr>
              <a:t>设置为</a:t>
            </a:r>
            <a:r>
              <a:rPr lang="en-US" altLang="zh-CN">
                <a:sym typeface="+mn-ea"/>
              </a:rPr>
              <a:t>False</a:t>
            </a:r>
            <a:r>
              <a:rPr lang="zh-CN" altLang="en-US">
                <a:sym typeface="+mn-ea"/>
              </a:rPr>
              <a:t>时，</a:t>
            </a:r>
            <a:r>
              <a:rPr lang="en-US" altLang="zh-CN">
                <a:sym typeface="+mn-ea"/>
              </a:rPr>
              <a:t>self._stop_event.is_set()</a:t>
            </a:r>
            <a:r>
              <a:rPr lang="zh-CN" altLang="en-US">
                <a:sym typeface="+mn-ea"/>
              </a:rPr>
              <a:t>结果为</a:t>
            </a:r>
            <a:r>
              <a:rPr lang="en-US" altLang="zh-CN">
                <a:sym typeface="+mn-ea"/>
              </a:rPr>
              <a:t>False</a:t>
            </a:r>
            <a:r>
              <a:rPr lang="zh-CN" altLang="en-US">
                <a:sym typeface="+mn-ea"/>
              </a:rPr>
              <a:t>。使用这两个事件标志来实现暂停与停止</a:t>
            </a:r>
            <a:r>
              <a:rPr lang="zh-CN" altLang="en-US">
                <a:sym typeface="+mn-ea"/>
              </a:rPr>
              <a:t>操作。</a:t>
            </a:r>
            <a:endParaRPr lang="zh-CN" altLang="en-US">
              <a:sym typeface="+mn-ea"/>
            </a:endParaRPr>
          </a:p>
          <a:p>
            <a:pPr indent="457200">
              <a:lnSpc>
                <a:spcPct val="120000"/>
              </a:lnSpc>
            </a:pPr>
            <a:r>
              <a:rPr lang="zh-CN" altLang="en-US">
                <a:sym typeface="+mn-ea"/>
              </a:rPr>
              <a:t>这个例子已经可以实现机器人的启动、暂停、停止。但是有一个问题：这个实例只能执行一次，一旦停止，就没法再次启动了。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8235" y="1076960"/>
            <a:ext cx="3891280" cy="5514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实现可重复启停的机器人控制器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988695"/>
            <a:ext cx="10826750" cy="1461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下面是机器人运动控制的简要架构。我们定义了一个</a:t>
            </a:r>
            <a:r>
              <a:rPr lang="en-US" altLang="zh-CN"/>
              <a:t>Action</a:t>
            </a:r>
            <a:r>
              <a:rPr lang="zh-CN" altLang="en-US"/>
              <a:t>父类，这个类封装线程启动、暂停、继续、停止等操作，子类继承</a:t>
            </a:r>
            <a:r>
              <a:rPr lang="en-US" altLang="zh-CN"/>
              <a:t>Action</a:t>
            </a:r>
            <a:r>
              <a:rPr lang="zh-CN" altLang="en-US"/>
              <a:t>后重只需写父类的</a:t>
            </a:r>
            <a:r>
              <a:rPr lang="en-US" altLang="zh-CN"/>
              <a:t>run_action</a:t>
            </a:r>
            <a:r>
              <a:rPr lang="zh-CN" altLang="en-US"/>
              <a:t>方法就可以控制运动的</a:t>
            </a:r>
            <a:r>
              <a:rPr lang="zh-CN" altLang="en-US"/>
              <a:t>启停。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zh-CN" altLang="en-US"/>
              <a:t>为了避免</a:t>
            </a:r>
            <a:r>
              <a:rPr lang="en-US" altLang="zh-CN"/>
              <a:t>app.py</a:t>
            </a:r>
            <a:r>
              <a:rPr lang="zh-CN" altLang="en-US"/>
              <a:t>文件内的端点过多显得臃肿，我们将端点移到子路由文件</a:t>
            </a:r>
            <a:r>
              <a:rPr lang="en-US" altLang="zh-CN"/>
              <a:t>route_robot.py</a:t>
            </a:r>
            <a:r>
              <a:rPr lang="zh-CN" altLang="en-US"/>
              <a:t>中。具体代码可查看代码</a:t>
            </a:r>
            <a:r>
              <a:rPr lang="zh-CN" altLang="en-US"/>
              <a:t>仓库。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endParaRPr lang="zh-CN" altLang="en-US"/>
          </a:p>
        </p:txBody>
      </p:sp>
      <p:pic>
        <p:nvPicPr>
          <p:cNvPr id="5" name="图片 4" descr="robot_action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780" y="2687955"/>
            <a:ext cx="7633335" cy="341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文件读写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988695"/>
            <a:ext cx="10826750" cy="1898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基本</a:t>
            </a:r>
            <a:r>
              <a:rPr lang="zh-CN" altLang="en-US"/>
              <a:t>语法：</a:t>
            </a:r>
            <a:endParaRPr lang="zh-CN" altLang="en-US"/>
          </a:p>
          <a:p>
            <a:pPr marL="3200400" lvl="7" indent="457200">
              <a:lnSpc>
                <a:spcPct val="120000"/>
              </a:lnSpc>
            </a:pPr>
            <a:r>
              <a:rPr lang="en-US" altLang="zh-CN" b="1"/>
              <a:t>with open(file, mode, encoding) as f:</a:t>
            </a:r>
            <a:endParaRPr lang="en-US" altLang="zh-CN" b="1"/>
          </a:p>
          <a:p>
            <a:pPr marL="457200" lvl="1" indent="0">
              <a:lnSpc>
                <a:spcPct val="120000"/>
              </a:lnSpc>
            </a:pPr>
            <a:r>
              <a:rPr lang="en-US" altLang="zh-CN" b="1"/>
              <a:t>file</a:t>
            </a:r>
            <a:r>
              <a:rPr lang="zh-CN" altLang="en-US"/>
              <a:t>：文件名称，支持各种格式如：</a:t>
            </a:r>
            <a:r>
              <a:rPr lang="en-US" altLang="zh-CN"/>
              <a:t>`.txt`</a:t>
            </a:r>
            <a:r>
              <a:rPr lang="zh-CN" altLang="en-US"/>
              <a:t>、</a:t>
            </a:r>
            <a:r>
              <a:rPr lang="en-US" altLang="zh-CN"/>
              <a:t>`.json`</a:t>
            </a:r>
            <a:endParaRPr lang="en-US" altLang="zh-CN"/>
          </a:p>
          <a:p>
            <a:pPr marL="457200" lvl="1" indent="0">
              <a:lnSpc>
                <a:spcPct val="120000"/>
              </a:lnSpc>
            </a:pPr>
            <a:r>
              <a:rPr lang="en-US" altLang="zh-CN" b="1"/>
              <a:t>mode</a:t>
            </a:r>
            <a:r>
              <a:rPr lang="zh-CN" altLang="en-US"/>
              <a:t>：打开文件模式，常用有：</a:t>
            </a:r>
            <a:r>
              <a:rPr lang="en-US" altLang="zh-CN"/>
              <a:t>`w`</a:t>
            </a:r>
            <a:r>
              <a:rPr lang="zh-CN" altLang="en-US"/>
              <a:t>覆盖写、</a:t>
            </a:r>
            <a:r>
              <a:rPr lang="en-US" altLang="zh-CN"/>
              <a:t>`r`</a:t>
            </a:r>
            <a:r>
              <a:rPr lang="zh-CN" altLang="en-US"/>
              <a:t>只读、</a:t>
            </a:r>
            <a:r>
              <a:rPr lang="en-US" altLang="zh-CN"/>
              <a:t>`a`</a:t>
            </a:r>
            <a:r>
              <a:rPr lang="zh-CN" altLang="en-US"/>
              <a:t>追加写。</a:t>
            </a:r>
            <a:endParaRPr lang="zh-CN" altLang="en-US"/>
          </a:p>
          <a:p>
            <a:pPr marL="457200" lvl="1" indent="0">
              <a:lnSpc>
                <a:spcPct val="120000"/>
              </a:lnSpc>
            </a:pPr>
            <a:r>
              <a:rPr lang="en-US" altLang="zh-CN" b="1"/>
              <a:t>encoding</a:t>
            </a:r>
            <a:r>
              <a:rPr lang="zh-CN" altLang="en-US"/>
              <a:t>：编码方式，一般设置为</a:t>
            </a:r>
            <a:r>
              <a:rPr lang="en-US" altLang="zh-CN"/>
              <a:t>utf-8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205" y="3065780"/>
            <a:ext cx="4594860" cy="12877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65" y="4531995"/>
            <a:ext cx="4572000" cy="1188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205" y="3065780"/>
            <a:ext cx="4556760" cy="13487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205" y="4592955"/>
            <a:ext cx="4541520" cy="103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68554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Debug</a:t>
            </a:r>
            <a:r>
              <a:rPr lang="zh-CN" altLang="en-US" sz="2400" b="1" dirty="0">
                <a:sym typeface="+mn-ea"/>
              </a:rPr>
              <a:t>模式启动</a:t>
            </a:r>
            <a:r>
              <a:rPr lang="en-US" altLang="zh-CN" sz="2400" b="1" dirty="0">
                <a:sym typeface="+mn-ea"/>
              </a:rPr>
              <a:t>app-</a:t>
            </a:r>
            <a:r>
              <a:rPr lang="zh-CN" altLang="en-US" sz="2400" b="1" dirty="0">
                <a:sym typeface="+mn-ea"/>
              </a:rPr>
              <a:t>获取虚拟环境</a:t>
            </a:r>
            <a:r>
              <a:rPr lang="en-US" altLang="zh-CN" sz="2400" b="1" dirty="0">
                <a:sym typeface="+mn-ea"/>
              </a:rPr>
              <a:t>python</a:t>
            </a:r>
            <a:r>
              <a:rPr lang="zh-CN" altLang="en-US" sz="2400" b="1" dirty="0">
                <a:sym typeface="+mn-ea"/>
              </a:rPr>
              <a:t>路径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1099185"/>
            <a:ext cx="10826750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连接到机器人，激活虚拟环境。在命令行输入：</a:t>
            </a:r>
            <a:endParaRPr lang="zh-CN" altLang="en-US"/>
          </a:p>
          <a:p>
            <a:pPr marL="3657600" lvl="8" indent="457200">
              <a:lnSpc>
                <a:spcPct val="120000"/>
              </a:lnSpc>
            </a:pPr>
            <a:r>
              <a:rPr lang="en-US" altLang="zh-CN" b="1"/>
              <a:t>where python</a:t>
            </a:r>
            <a:endParaRPr lang="en-US" altLang="zh-CN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445" y="2531745"/>
            <a:ext cx="9845040" cy="15544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22020" y="4427220"/>
            <a:ext cx="9816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可以看到控制台输出了多个</a:t>
            </a:r>
            <a:r>
              <a:rPr lang="en-US" altLang="zh-CN"/>
              <a:t>python</a:t>
            </a:r>
            <a:r>
              <a:rPr lang="zh-CN" altLang="en-US"/>
              <a:t>路径，我们需要的是虚拟环境的</a:t>
            </a:r>
            <a:r>
              <a:rPr lang="en-US" altLang="zh-CN"/>
              <a:t>python</a:t>
            </a:r>
            <a:r>
              <a:rPr lang="zh-CN" altLang="en-US"/>
              <a:t>路径。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68554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Debug</a:t>
            </a:r>
            <a:r>
              <a:rPr lang="zh-CN" altLang="en-US" sz="2400" b="1" dirty="0">
                <a:sym typeface="+mn-ea"/>
              </a:rPr>
              <a:t>模式启动</a:t>
            </a:r>
            <a:r>
              <a:rPr lang="en-US" altLang="zh-CN" sz="2400" b="1" dirty="0">
                <a:sym typeface="+mn-ea"/>
              </a:rPr>
              <a:t>app-</a:t>
            </a:r>
            <a:r>
              <a:rPr lang="zh-CN" altLang="en-US" sz="2400" b="1" dirty="0">
                <a:sym typeface="+mn-ea"/>
              </a:rPr>
              <a:t>编辑</a:t>
            </a:r>
            <a:r>
              <a:rPr lang="en-US" altLang="zh-CN" sz="2400" b="1" dirty="0">
                <a:sym typeface="+mn-ea"/>
              </a:rPr>
              <a:t>launch.json</a:t>
            </a:r>
            <a:r>
              <a:rPr lang="zh-CN" altLang="en-US" sz="2400" b="1" dirty="0">
                <a:sym typeface="+mn-ea"/>
              </a:rPr>
              <a:t>文件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1099185"/>
            <a:ext cx="10826750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启动</a:t>
            </a:r>
            <a:r>
              <a:rPr lang="en-US" altLang="zh-CN"/>
              <a:t>vscode</a:t>
            </a:r>
            <a:r>
              <a:rPr lang="zh-CN" altLang="en-US"/>
              <a:t>，连接到</a:t>
            </a:r>
            <a:r>
              <a:rPr lang="zh-CN" altLang="en-US"/>
              <a:t>机器人。打开一个</a:t>
            </a:r>
            <a:r>
              <a:rPr lang="en-US" altLang="zh-CN"/>
              <a:t>.py</a:t>
            </a:r>
            <a:r>
              <a:rPr lang="zh-CN" altLang="en-US"/>
              <a:t>文件，点击右上角</a:t>
            </a:r>
            <a:r>
              <a:rPr lang="en-US" altLang="zh-CN"/>
              <a:t>“</a:t>
            </a:r>
            <a:r>
              <a:rPr lang="zh-CN" altLang="en-US"/>
              <a:t>运行</a:t>
            </a:r>
            <a:r>
              <a:rPr lang="en-US" altLang="zh-CN"/>
              <a:t>”</a:t>
            </a:r>
            <a:r>
              <a:rPr lang="zh-CN" altLang="en-US"/>
              <a:t>图标，会弹出配置项，点击设置后，会打开</a:t>
            </a:r>
            <a:r>
              <a:rPr lang="en-US" altLang="zh-CN"/>
              <a:t>launch.json</a:t>
            </a:r>
            <a:r>
              <a:rPr lang="zh-CN" altLang="en-US"/>
              <a:t>文件。也可以直接在</a:t>
            </a:r>
            <a:r>
              <a:rPr lang="en-US" altLang="zh-CN"/>
              <a:t>`.vscode/launch.json`</a:t>
            </a:r>
            <a:r>
              <a:rPr lang="zh-CN" altLang="en-US"/>
              <a:t>直接打开。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0" y="2256790"/>
            <a:ext cx="8778240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68554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Debug</a:t>
            </a:r>
            <a:r>
              <a:rPr lang="zh-CN" altLang="en-US" sz="2400" b="1" dirty="0">
                <a:sym typeface="+mn-ea"/>
              </a:rPr>
              <a:t>模式启动</a:t>
            </a:r>
            <a:r>
              <a:rPr lang="en-US" altLang="zh-CN" sz="2400" b="1" dirty="0">
                <a:sym typeface="+mn-ea"/>
              </a:rPr>
              <a:t>app-</a:t>
            </a:r>
            <a:r>
              <a:rPr lang="zh-CN" altLang="en-US" sz="2400" b="1" dirty="0">
                <a:sym typeface="+mn-ea"/>
              </a:rPr>
              <a:t>编辑</a:t>
            </a:r>
            <a:r>
              <a:rPr lang="en-US" altLang="zh-CN" sz="2400" b="1" dirty="0">
                <a:sym typeface="+mn-ea"/>
              </a:rPr>
              <a:t>launch.json</a:t>
            </a:r>
            <a:r>
              <a:rPr lang="zh-CN" altLang="en-US" sz="2400" b="1" dirty="0">
                <a:sym typeface="+mn-ea"/>
              </a:rPr>
              <a:t>文件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1099185"/>
            <a:ext cx="10826750" cy="501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可以修改</a:t>
            </a:r>
            <a:r>
              <a:rPr lang="en-US" altLang="zh-CN"/>
              <a:t>name</a:t>
            </a:r>
            <a:r>
              <a:rPr lang="zh-CN" altLang="en-US"/>
              <a:t>，方便辨别。添加</a:t>
            </a:r>
            <a:r>
              <a:rPr lang="en-US" altLang="zh-CN"/>
              <a:t>python</a:t>
            </a:r>
            <a:r>
              <a:rPr lang="zh-CN" altLang="en-US"/>
              <a:t>路径，这个路径就是之前获取的虚拟环境</a:t>
            </a:r>
            <a:r>
              <a:rPr lang="en-US" altLang="zh-CN"/>
              <a:t>python</a:t>
            </a:r>
            <a:r>
              <a:rPr lang="zh-CN" altLang="en-US"/>
              <a:t>路径。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endParaRPr lang="en-US" altLang="zh-CN"/>
          </a:p>
          <a:p>
            <a:pPr indent="457200">
              <a:lnSpc>
                <a:spcPct val="120000"/>
              </a:lnSpc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735" y="1760855"/>
            <a:ext cx="8801735" cy="4697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68554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Debug</a:t>
            </a:r>
            <a:r>
              <a:rPr lang="zh-CN" altLang="en-US" sz="2400" b="1" dirty="0">
                <a:sym typeface="+mn-ea"/>
              </a:rPr>
              <a:t>模式启动</a:t>
            </a:r>
            <a:r>
              <a:rPr lang="en-US" altLang="zh-CN" sz="2400" b="1" dirty="0">
                <a:sym typeface="+mn-ea"/>
              </a:rPr>
              <a:t>app-</a:t>
            </a:r>
            <a:r>
              <a:rPr lang="zh-CN" altLang="en-US" sz="2400" b="1" dirty="0">
                <a:sym typeface="+mn-ea"/>
              </a:rPr>
              <a:t>调试</a:t>
            </a:r>
            <a:r>
              <a:rPr lang="en-US" altLang="zh-CN" sz="2400" b="1" dirty="0">
                <a:sym typeface="+mn-ea"/>
              </a:rPr>
              <a:t>app.py</a:t>
            </a:r>
            <a:endParaRPr lang="en-US" altLang="zh-CN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1099185"/>
            <a:ext cx="10826750" cy="501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点击打开</a:t>
            </a:r>
            <a:r>
              <a:rPr lang="en-US" altLang="zh-CN"/>
              <a:t>app.py</a:t>
            </a:r>
            <a:r>
              <a:rPr lang="zh-CN" altLang="en-US"/>
              <a:t>文件，点击左侧工具栏的</a:t>
            </a:r>
            <a:r>
              <a:rPr lang="en-US" altLang="zh-CN"/>
              <a:t>“</a:t>
            </a:r>
            <a:r>
              <a:rPr lang="zh-CN" altLang="en-US"/>
              <a:t>运行和调试</a:t>
            </a:r>
            <a:r>
              <a:rPr lang="en-US" altLang="zh-CN"/>
              <a:t>”</a:t>
            </a:r>
            <a:r>
              <a:rPr lang="zh-CN" altLang="en-US"/>
              <a:t>按钮，选刚才设置的配置，点击运行。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2293620"/>
            <a:ext cx="6424295" cy="27406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005" y="2565400"/>
            <a:ext cx="451866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68554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Debug</a:t>
            </a:r>
            <a:r>
              <a:rPr lang="zh-CN" altLang="en-US" sz="2400" b="1" dirty="0">
                <a:sym typeface="+mn-ea"/>
              </a:rPr>
              <a:t>模式启动</a:t>
            </a:r>
            <a:r>
              <a:rPr lang="en-US" altLang="zh-CN" sz="2400" b="1" dirty="0">
                <a:sym typeface="+mn-ea"/>
              </a:rPr>
              <a:t>app-</a:t>
            </a:r>
            <a:r>
              <a:rPr lang="zh-CN" altLang="en-US" sz="2400" b="1" dirty="0">
                <a:sym typeface="+mn-ea"/>
              </a:rPr>
              <a:t>设置断点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1099185"/>
            <a:ext cx="10826750" cy="795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打开</a:t>
            </a:r>
            <a:r>
              <a:rPr lang="en-US" altLang="zh-CN"/>
              <a:t>route_robot.py</a:t>
            </a:r>
            <a:r>
              <a:rPr lang="zh-CN" altLang="en-US"/>
              <a:t>，在代码行号左侧点击以下，会出现一个红色圆点，也就是断点。当代码执行到断点的时候会在这里阻塞。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6830" y="2146935"/>
            <a:ext cx="6978650" cy="3596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68554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Debug</a:t>
            </a:r>
            <a:r>
              <a:rPr lang="zh-CN" altLang="en-US" sz="2400" b="1" dirty="0">
                <a:sym typeface="+mn-ea"/>
              </a:rPr>
              <a:t>模式启动</a:t>
            </a:r>
            <a:r>
              <a:rPr lang="en-US" altLang="zh-CN" sz="2400" b="1" dirty="0">
                <a:sym typeface="+mn-ea"/>
              </a:rPr>
              <a:t>app-</a:t>
            </a:r>
            <a:r>
              <a:rPr lang="zh-CN" altLang="en-US" sz="2400" b="1" dirty="0">
                <a:sym typeface="+mn-ea"/>
              </a:rPr>
              <a:t>设置断点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2900" y="1099185"/>
            <a:ext cx="10826750" cy="795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发送一个请求，代码会在这个断点处阻塞。左上角</a:t>
            </a:r>
            <a:r>
              <a:rPr lang="en-US" altLang="zh-CN"/>
              <a:t>“</a:t>
            </a:r>
            <a:r>
              <a:rPr lang="zh-CN" altLang="en-US"/>
              <a:t>变量</a:t>
            </a:r>
            <a:r>
              <a:rPr lang="en-US" altLang="zh-CN"/>
              <a:t>”</a:t>
            </a:r>
            <a:r>
              <a:rPr lang="zh-CN" altLang="en-US"/>
              <a:t>会展示一些变量的值。也可以在</a:t>
            </a:r>
            <a:r>
              <a:rPr lang="en-US" altLang="zh-CN"/>
              <a:t>“</a:t>
            </a:r>
            <a:r>
              <a:rPr lang="zh-CN" altLang="en-US"/>
              <a:t>监视</a:t>
            </a:r>
            <a:r>
              <a:rPr lang="en-US" altLang="zh-CN"/>
              <a:t>”</a:t>
            </a:r>
            <a:r>
              <a:rPr lang="zh-CN" altLang="en-US"/>
              <a:t>里添加指定的变量进行查看。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endParaRPr lang="en-US" altLang="zh-CN"/>
          </a:p>
          <a:p>
            <a:pPr indent="457200">
              <a:lnSpc>
                <a:spcPct val="120000"/>
              </a:lnSpc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0" y="2074545"/>
            <a:ext cx="6281420" cy="3914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690" y="2074545"/>
            <a:ext cx="4098290" cy="3477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练习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199515" y="1222375"/>
            <a:ext cx="9382760" cy="407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利用</a:t>
            </a:r>
            <a:r>
              <a:rPr lang="en-US" altLang="zh-CN" sz="2400"/>
              <a:t>AI</a:t>
            </a:r>
            <a:r>
              <a:rPr lang="zh-CN" altLang="en-US" sz="2400"/>
              <a:t>，自行了解容器相关内容：</a:t>
            </a:r>
            <a:endParaRPr lang="en-US" altLang="zh-CN" sz="2400"/>
          </a:p>
          <a:p>
            <a:pPr lvl="1">
              <a:lnSpc>
                <a:spcPct val="130000"/>
              </a:lnSpc>
            </a:pPr>
            <a:r>
              <a:rPr lang="zh-CN" altLang="en-US" sz="2400"/>
              <a:t>增删改查</a:t>
            </a:r>
            <a:endParaRPr lang="zh-CN" altLang="en-US" sz="2400"/>
          </a:p>
          <a:p>
            <a:pPr lvl="1">
              <a:lnSpc>
                <a:spcPct val="130000"/>
              </a:lnSpc>
            </a:pPr>
            <a:r>
              <a:rPr lang="zh-CN" altLang="en-US" sz="2400"/>
              <a:t>列表：切片、列表推导式、解包等</a:t>
            </a:r>
            <a:endParaRPr lang="zh-CN" altLang="en-US" sz="2400"/>
          </a:p>
          <a:p>
            <a:pPr lvl="1">
              <a:lnSpc>
                <a:spcPct val="130000"/>
              </a:lnSpc>
            </a:pPr>
            <a:r>
              <a:rPr lang="zh-CN" altLang="en-US" sz="2400"/>
              <a:t>字典：字典推导式、合并字典、解包等</a:t>
            </a:r>
            <a:endParaRPr lang="zh-CN" altLang="en-US" sz="2400"/>
          </a:p>
          <a:p>
            <a:pPr lvl="1">
              <a:lnSpc>
                <a:spcPct val="130000"/>
              </a:lnSpc>
            </a:pPr>
            <a:r>
              <a:rPr lang="zh-CN" altLang="en-US" sz="2400"/>
              <a:t>元组：切片、解包、嵌套元组等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运行本节课程代码。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3. </a:t>
            </a:r>
            <a:r>
              <a:rPr lang="zh-CN" altLang="en-US" sz="2400"/>
              <a:t>提出三个任何与本节内容相关的问题，并自行回答。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4.</a:t>
            </a:r>
            <a:r>
              <a:rPr lang="zh-CN" altLang="en-US" sz="2400"/>
              <a:t>将代码和问题回答推送到</a:t>
            </a:r>
            <a:r>
              <a:rPr lang="en-US" altLang="zh-CN" sz="2400"/>
              <a:t>github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1964" y="2338038"/>
            <a:ext cx="1457608" cy="132207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8000" dirty="0">
                <a:solidFill>
                  <a:srgbClr val="E89E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en-US" altLang="zh-CN" sz="8000" dirty="0">
              <a:solidFill>
                <a:srgbClr val="E89E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6014" y="3076017"/>
            <a:ext cx="488787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课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完</a:t>
            </a:r>
            <a:endParaRPr lang="en-US" altLang="zh-CN" sz="3600" b="1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6012" y="2337353"/>
            <a:ext cx="67615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>
                <a:solidFill>
                  <a:srgbClr val="4472C4"/>
                </a:solidFill>
              </a:rPr>
              <a:t>Python</a:t>
            </a:r>
            <a:r>
              <a:rPr lang="zh-CN" altLang="en-US" sz="3200" dirty="0" smtClean="0">
                <a:solidFill>
                  <a:srgbClr val="4472C4"/>
                </a:solidFill>
              </a:rPr>
              <a:t>与机器人</a:t>
            </a:r>
            <a:r>
              <a:rPr lang="zh-CN" altLang="en-US" sz="3200" dirty="0" smtClean="0">
                <a:solidFill>
                  <a:srgbClr val="4472C4"/>
                </a:solidFill>
              </a:rPr>
              <a:t>控制</a:t>
            </a:r>
            <a:endParaRPr lang="zh-CN" altLang="en-US" sz="3200" dirty="0" smtClean="0">
              <a:solidFill>
                <a:srgbClr val="4472C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4759</Words>
  <Application>WPS 演示</Application>
  <PresentationFormat>宽屏</PresentationFormat>
  <Paragraphs>299</Paragraphs>
  <Slides>45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Arial</vt:lpstr>
      <vt:lpstr>宋体</vt:lpstr>
      <vt:lpstr>Wingdings</vt:lpstr>
      <vt:lpstr>华文新魏</vt:lpstr>
      <vt:lpstr>黑体</vt:lpstr>
      <vt:lpstr>微软雅黑</vt:lpstr>
      <vt:lpstr>华文行楷</vt:lpstr>
      <vt:lpstr>Calibri</vt:lpstr>
      <vt:lpstr>Arial Unicode MS</vt:lpstr>
      <vt:lpstr>Arial Unicode MS</vt:lpstr>
      <vt:lpstr>Calibri Light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上海仪酷智能科技有限公司</dc:creator>
  <cp:lastModifiedBy>╭⌒better进行时</cp:lastModifiedBy>
  <cp:revision>885</cp:revision>
  <dcterms:created xsi:type="dcterms:W3CDTF">2017-07-25T03:07:00Z</dcterms:created>
  <dcterms:modified xsi:type="dcterms:W3CDTF">2025-11-19T03:04:42Z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8841B4F7B610481D8E35DE8E2DF00779_13</vt:lpwstr>
  </property>
  <property fmtid="{D5CDD505-2E9C-101B-9397-08002B2CF9AE}" pid="3" name="KSOProductBuildVer">
    <vt:lpwstr>2052-12.1.0.23542</vt:lpwstr>
  </property>
</Properties>
</file>