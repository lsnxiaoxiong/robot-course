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5"/>
  </p:notesMasterIdLst>
  <p:handoutMasterIdLst>
    <p:handoutMasterId r:id="rId14"/>
  </p:handoutMasterIdLst>
  <p:sldIdLst>
    <p:sldId id="322" r:id="rId4"/>
    <p:sldId id="364" r:id="rId6"/>
    <p:sldId id="445" r:id="rId7"/>
    <p:sldId id="446" r:id="rId8"/>
    <p:sldId id="447" r:id="rId9"/>
    <p:sldId id="448" r:id="rId10"/>
    <p:sldId id="449" r:id="rId11"/>
    <p:sldId id="356" r:id="rId12"/>
    <p:sldId id="32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9" userDrawn="1">
          <p15:clr>
            <a:srgbClr val="A4A3A4"/>
          </p15:clr>
        </p15:guide>
        <p15:guide id="2" orient="horz" pos="218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马奇" initials="马奇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89E00"/>
    <a:srgbClr val="FF9900"/>
    <a:srgbClr val="FFCCCC"/>
    <a:srgbClr val="D8BBA1"/>
    <a:srgbClr val="E2C718"/>
    <a:srgbClr val="D61621"/>
    <a:srgbClr val="FFD002"/>
    <a:srgbClr val="FF666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18" autoAdjust="0"/>
    <p:restoredTop sz="79859" autoAdjust="0"/>
  </p:normalViewPr>
  <p:slideViewPr>
    <p:cSldViewPr snapToGrid="0" showGuides="1">
      <p:cViewPr varScale="1">
        <p:scale>
          <a:sx n="83" d="100"/>
          <a:sy n="83" d="100"/>
        </p:scale>
        <p:origin x="438" y="84"/>
      </p:cViewPr>
      <p:guideLst>
        <p:guide pos="3849"/>
        <p:guide orient="horz" pos="21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35978-AA0F-4019-89CE-7C0DBBEECE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629C50-E8D2-44C1-A6BB-3798535718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/>
        </p:nvSpPr>
        <p:spPr>
          <a:xfrm rot="5400000">
            <a:off x="4050259" y="-4050255"/>
            <a:ext cx="1802935" cy="990345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9" name="任意多边形 8"/>
          <p:cNvSpPr/>
          <p:nvPr userDrawn="1"/>
        </p:nvSpPr>
        <p:spPr>
          <a:xfrm flipH="1">
            <a:off x="10111813" y="1412240"/>
            <a:ext cx="2080184" cy="544576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2385073" y="-2385070"/>
            <a:ext cx="1061693" cy="583184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483399" y="-1483401"/>
            <a:ext cx="660321" cy="362712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2" name="任意多边形 11"/>
          <p:cNvSpPr/>
          <p:nvPr userDrawn="1"/>
        </p:nvSpPr>
        <p:spPr>
          <a:xfrm flipH="1">
            <a:off x="10993120" y="3719437"/>
            <a:ext cx="1198876" cy="3138563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9273790" y="-94255"/>
            <a:ext cx="2995243" cy="1264792"/>
            <a:chOff x="8303568" y="2694"/>
            <a:chExt cx="3888434" cy="1641957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1156" y="221822"/>
              <a:ext cx="2909748" cy="1422829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8303571" y="2694"/>
              <a:ext cx="3888431" cy="606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sz="3200" dirty="0">
                <a:solidFill>
                  <a:srgbClr val="0070C0"/>
                </a:solidFill>
                <a:latin typeface="+mj-lt"/>
                <a:ea typeface="华文新魏" panose="02010800040101010101" pitchFamily="2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8303568" y="274888"/>
              <a:ext cx="3888431" cy="979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3200" dirty="0">
                  <a:solidFill>
                    <a:srgbClr val="0070C0"/>
                  </a:solidFill>
                  <a:ea typeface="华文新魏" panose="02010800040101010101" pitchFamily="2" charset="-122"/>
                </a:rPr>
                <a:t>VI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R </a:t>
              </a:r>
              <a:r>
                <a:rPr lang="en-US" altLang="zh-CN" sz="3200" dirty="0">
                  <a:ea typeface="华文新魏" panose="02010800040101010101" pitchFamily="2" charset="-122"/>
                </a:rPr>
                <a:t>      </a:t>
              </a:r>
              <a:r>
                <a:rPr lang="en-US" altLang="zh-CN" sz="3200" dirty="0">
                  <a:solidFill>
                    <a:schemeClr val="bg1">
                      <a:lumMod val="65000"/>
                    </a:schemeClr>
                  </a:solidFill>
                  <a:ea typeface="华文新魏" panose="02010800040101010101" pitchFamily="2" charset="-122"/>
                </a:rPr>
                <a:t>tics</a:t>
              </a:r>
              <a:endParaRPr lang="en-US" altLang="zh-CN" sz="3200" dirty="0">
                <a:solidFill>
                  <a:schemeClr val="bg1">
                    <a:lumMod val="65000"/>
                  </a:schemeClr>
                </a:solidFill>
                <a:ea typeface="华文新魏" panose="02010800040101010101" pitchFamily="2" charset="-122"/>
              </a:endParaRPr>
            </a:p>
          </p:txBody>
        </p:sp>
      </p:grpSp>
      <p:sp>
        <p:nvSpPr>
          <p:cNvPr id="16" name="任意多边形 15"/>
          <p:cNvSpPr/>
          <p:nvPr userDrawn="1"/>
        </p:nvSpPr>
        <p:spPr>
          <a:xfrm rot="5400000" flipH="1">
            <a:off x="140597" y="5298178"/>
            <a:ext cx="1419223" cy="170041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7" name="任意多边形 16"/>
          <p:cNvSpPr/>
          <p:nvPr userDrawn="1"/>
        </p:nvSpPr>
        <p:spPr>
          <a:xfrm rot="5400000" flipH="1">
            <a:off x="86469" y="5898692"/>
            <a:ext cx="872838" cy="104577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2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3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12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新年快乐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2151"/>
            <a:ext cx="2395959" cy="1564128"/>
          </a:xfrm>
          <a:prstGeom prst="rect">
            <a:avLst/>
          </a:prstGeom>
        </p:spPr>
      </p:pic>
      <p:pic>
        <p:nvPicPr>
          <p:cNvPr id="13" name="Picture 8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任意多边形 13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D6162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sp>
        <p:nvSpPr>
          <p:cNvPr id="15" name="任意多边形 14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2C71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51064" y="748598"/>
            <a:ext cx="1221533" cy="4509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/>
            </a:p>
          </p:txBody>
        </p:sp>
      </p:grpSp>
      <p:pic>
        <p:nvPicPr>
          <p:cNvPr id="11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 23"/>
          <p:cNvSpPr/>
          <p:nvPr userDrawn="1"/>
        </p:nvSpPr>
        <p:spPr>
          <a:xfrm rot="10800000" flipH="1">
            <a:off x="-3" y="-2"/>
            <a:ext cx="4563538" cy="2514602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8" name="任意多边形 7"/>
          <p:cNvSpPr/>
          <p:nvPr userDrawn="1"/>
        </p:nvSpPr>
        <p:spPr>
          <a:xfrm rot="5400000">
            <a:off x="3805768" y="-3805763"/>
            <a:ext cx="1168396" cy="877993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 rot="5400000">
            <a:off x="1697568" y="-1697564"/>
            <a:ext cx="1168399" cy="4563535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11" name="任意多边形 10"/>
          <p:cNvSpPr/>
          <p:nvPr userDrawn="1"/>
        </p:nvSpPr>
        <p:spPr>
          <a:xfrm rot="5400000">
            <a:off x="1127283" y="-1127283"/>
            <a:ext cx="827303" cy="3081870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9239095" y="76203"/>
            <a:ext cx="3666413" cy="1775426"/>
            <a:chOff x="9196760" y="0"/>
            <a:chExt cx="3666413" cy="1775426"/>
          </a:xfrm>
        </p:grpSpPr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2065" y="307923"/>
              <a:ext cx="3001108" cy="1467503"/>
            </a:xfrm>
            <a:prstGeom prst="rect">
              <a:avLst/>
            </a:prstGeom>
          </p:spPr>
        </p:pic>
        <p:sp>
          <p:nvSpPr>
            <p:cNvPr id="14" name="文本框 13"/>
            <p:cNvSpPr txBox="1"/>
            <p:nvPr/>
          </p:nvSpPr>
          <p:spPr>
            <a:xfrm>
              <a:off x="9196760" y="0"/>
              <a:ext cx="2995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上海交通大学工程训练中心</a:t>
              </a:r>
              <a:endParaRPr lang="en-US" altLang="zh-CN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black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上海仪酷智能科技有限公司</a:t>
              </a:r>
              <a:endParaRPr lang="en-US" altLang="zh-CN" dirty="0" smtClean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70533" y="660321"/>
              <a:ext cx="762708" cy="762708"/>
            </a:xfrm>
            <a:prstGeom prst="rect">
              <a:avLst/>
            </a:prstGeom>
          </p:spPr>
        </p:pic>
      </p:grpSp>
      <p:grpSp>
        <p:nvGrpSpPr>
          <p:cNvPr id="62" name="组合 61"/>
          <p:cNvGrpSpPr/>
          <p:nvPr userDrawn="1"/>
        </p:nvGrpSpPr>
        <p:grpSpPr>
          <a:xfrm rot="10800000">
            <a:off x="8779935" y="4741014"/>
            <a:ext cx="3412065" cy="2116984"/>
            <a:chOff x="2810930" y="2822526"/>
            <a:chExt cx="8779937" cy="2526726"/>
          </a:xfrm>
        </p:grpSpPr>
        <p:sp>
          <p:nvSpPr>
            <p:cNvPr id="58" name="任意多边形 57"/>
            <p:cNvSpPr/>
            <p:nvPr userDrawn="1"/>
          </p:nvSpPr>
          <p:spPr>
            <a:xfrm rot="10800000" flipH="1">
              <a:off x="2810930" y="2834650"/>
              <a:ext cx="4563537" cy="2514602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E89E0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59" name="任意多边形 58"/>
            <p:cNvSpPr/>
            <p:nvPr userDrawn="1"/>
          </p:nvSpPr>
          <p:spPr>
            <a:xfrm rot="5400000">
              <a:off x="6616701" y="-983237"/>
              <a:ext cx="1168396" cy="8779937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rgbClr val="157DA8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0" name="任意多边形 59"/>
            <p:cNvSpPr/>
            <p:nvPr userDrawn="1"/>
          </p:nvSpPr>
          <p:spPr>
            <a:xfrm rot="5400000">
              <a:off x="4508501" y="1124962"/>
              <a:ext cx="1168399" cy="4563535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  <p:sp>
          <p:nvSpPr>
            <p:cNvPr id="61" name="任意多边形 60"/>
            <p:cNvSpPr/>
            <p:nvPr userDrawn="1"/>
          </p:nvSpPr>
          <p:spPr>
            <a:xfrm rot="5400000">
              <a:off x="3938216" y="1695243"/>
              <a:ext cx="827303" cy="3081870"/>
            </a:xfrm>
            <a:custGeom>
              <a:avLst/>
              <a:gdLst>
                <a:gd name="connsiteX0" fmla="*/ 0 w 6907593"/>
                <a:gd name="connsiteY0" fmla="*/ 0 h 1776503"/>
                <a:gd name="connsiteX1" fmla="*/ 6907593 w 6907593"/>
                <a:gd name="connsiteY1" fmla="*/ 1776503 h 1776503"/>
                <a:gd name="connsiteX2" fmla="*/ 0 w 6907593"/>
                <a:gd name="connsiteY2" fmla="*/ 1776503 h 1776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07593" h="1776503">
                  <a:moveTo>
                    <a:pt x="0" y="0"/>
                  </a:moveTo>
                  <a:lnTo>
                    <a:pt x="6907593" y="1776503"/>
                  </a:lnTo>
                  <a:lnTo>
                    <a:pt x="0" y="1776503"/>
                  </a:lnTo>
                  <a:close/>
                </a:path>
              </a:pathLst>
            </a:custGeom>
            <a:solidFill>
              <a:schemeClr val="bg1">
                <a:lumMod val="50000"/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H_Others_1"/>
          <p:cNvSpPr/>
          <p:nvPr userDrawn="1">
            <p:custDataLst>
              <p:tags r:id="rId2"/>
            </p:custDataLst>
          </p:nvPr>
        </p:nvSpPr>
        <p:spPr>
          <a:xfrm>
            <a:off x="10312400" y="449"/>
            <a:ext cx="1879600" cy="6857551"/>
          </a:xfrm>
          <a:prstGeom prst="rect">
            <a:avLst/>
          </a:pr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590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4" name="MH_Others_2"/>
          <p:cNvSpPr/>
          <p:nvPr userDrawn="1">
            <p:custDataLst>
              <p:tags r:id="rId3"/>
            </p:custDataLst>
          </p:nvPr>
        </p:nvSpPr>
        <p:spPr>
          <a:xfrm>
            <a:off x="10011847" y="1"/>
            <a:ext cx="132066" cy="6861462"/>
          </a:xfrm>
          <a:prstGeom prst="rect">
            <a:avLst/>
          </a:pr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 userDrawn="1"/>
        </p:nvSpPr>
        <p:spPr>
          <a:xfrm>
            <a:off x="0" y="4438650"/>
            <a:ext cx="12188991" cy="2426627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  <a:gd name="connsiteX0-15" fmla="*/ 0 w 6907593"/>
              <a:gd name="connsiteY0-16" fmla="*/ 0 h 1776503"/>
              <a:gd name="connsiteX1-17" fmla="*/ 6907593 w 6907593"/>
              <a:gd name="connsiteY1-18" fmla="*/ 1776503 h 1776503"/>
              <a:gd name="connsiteX2-19" fmla="*/ 0 w 6907593"/>
              <a:gd name="connsiteY2-20" fmla="*/ 1776503 h 1776503"/>
              <a:gd name="connsiteX3-21" fmla="*/ 0 w 6907593"/>
              <a:gd name="connsiteY3-22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2091413" y="1639688"/>
                  <a:pt x="4374752" y="158722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157DA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sp>
        <p:nvSpPr>
          <p:cNvPr id="3" name="任意多边形 2"/>
          <p:cNvSpPr/>
          <p:nvPr userDrawn="1"/>
        </p:nvSpPr>
        <p:spPr>
          <a:xfrm flipH="1">
            <a:off x="6229348" y="5057775"/>
            <a:ext cx="5969693" cy="1807736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rgbClr val="E89E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 userDrawn="1"/>
        </p:nvCxnSpPr>
        <p:spPr>
          <a:xfrm flipV="1">
            <a:off x="5013503" y="2190063"/>
            <a:ext cx="0" cy="199735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042969" y="2258053"/>
            <a:ext cx="1476644" cy="1476644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椭圆 9"/>
            <p:cNvSpPr/>
            <p:nvPr userDrawn="1"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1" name="任意多边形 10"/>
          <p:cNvSpPr/>
          <p:nvPr userDrawn="1"/>
        </p:nvSpPr>
        <p:spPr>
          <a:xfrm rot="10800000" flipH="1">
            <a:off x="1" y="-4"/>
            <a:ext cx="2657474" cy="1752604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  <a:gd name="connsiteX0-1" fmla="*/ 0 w 6907593"/>
              <a:gd name="connsiteY0-2" fmla="*/ 0 h 1776503"/>
              <a:gd name="connsiteX1-3" fmla="*/ 6907593 w 6907593"/>
              <a:gd name="connsiteY1-4" fmla="*/ 1776503 h 1776503"/>
              <a:gd name="connsiteX2-5" fmla="*/ 0 w 6907593"/>
              <a:gd name="connsiteY2-6" fmla="*/ 1776503 h 1776503"/>
              <a:gd name="connsiteX3" fmla="*/ 0 w 6907593"/>
              <a:gd name="connsiteY3" fmla="*/ 0 h 1776503"/>
              <a:gd name="connsiteX0-7" fmla="*/ 0 w 6907593"/>
              <a:gd name="connsiteY0-8" fmla="*/ 0 h 1776503"/>
              <a:gd name="connsiteX1-9" fmla="*/ 6907593 w 6907593"/>
              <a:gd name="connsiteY1-10" fmla="*/ 1776503 h 1776503"/>
              <a:gd name="connsiteX2-11" fmla="*/ 0 w 6907593"/>
              <a:gd name="connsiteY2-12" fmla="*/ 1776503 h 1776503"/>
              <a:gd name="connsiteX3-13" fmla="*/ 0 w 6907593"/>
              <a:gd name="connsiteY3-14" fmla="*/ 0 h 177650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13" y="connsiteY3-14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cubicBezTo>
                  <a:pt x="1979235" y="1345282"/>
                  <a:pt x="4428718" y="1766287"/>
                  <a:pt x="6907593" y="1776503"/>
                </a:cubicBezTo>
                <a:lnTo>
                  <a:pt x="0" y="17765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5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综合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5" name="矩形 4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8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3455" y="349038"/>
            <a:ext cx="1569142" cy="39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直角三角形 7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>
            <a:off x="0" y="6417733"/>
            <a:ext cx="12107336" cy="4402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srgbClr val="4472C4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讲</a:t>
            </a:r>
            <a:endParaRPr lang="zh-CN" altLang="en-US" sz="9600" dirty="0">
              <a:solidFill>
                <a:srgbClr val="4472C4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5" name="直角三角形 14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0">
                <a:srgbClr val="5CC1EA">
                  <a:shade val="30000"/>
                  <a:satMod val="115000"/>
                  <a:alpha val="31000"/>
                </a:srgbClr>
              </a:gs>
              <a:gs pos="50000">
                <a:srgbClr val="5CC1EA">
                  <a:shade val="67500"/>
                  <a:satMod val="115000"/>
                </a:srgbClr>
              </a:gs>
              <a:gs pos="100000">
                <a:srgbClr val="5CC1EA">
                  <a:shade val="100000"/>
                  <a:satMod val="11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rgbClr val="E89E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rgbClr val="E89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14" name="直角三角形 13"/>
          <p:cNvSpPr/>
          <p:nvPr userDrawn="1"/>
        </p:nvSpPr>
        <p:spPr>
          <a:xfrm>
            <a:off x="0" y="6477000"/>
            <a:ext cx="12107336" cy="381000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srgbClr val="E89E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例</a:t>
            </a:r>
            <a:endParaRPr lang="zh-CN" altLang="en-US" sz="9600" dirty="0">
              <a:solidFill>
                <a:srgbClr val="E89E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4664" y="3977"/>
            <a:ext cx="12107336" cy="345367"/>
          </a:xfrm>
          <a:prstGeom prst="rtTriangle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0">
                <a:schemeClr val="accent4">
                  <a:lumMod val="0"/>
                  <a:lumOff val="100000"/>
                </a:schemeClr>
              </a:gs>
              <a:gs pos="39000">
                <a:schemeClr val="accent4">
                  <a:lumMod val="10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7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prstClr val="white"/>
                </a:solidFill>
              </a:endParaRPr>
            </a:p>
          </p:txBody>
        </p:sp>
      </p:grpSp>
      <p:sp>
        <p:nvSpPr>
          <p:cNvPr id="3" name="直角三角形 2"/>
          <p:cNvSpPr/>
          <p:nvPr userDrawn="1"/>
        </p:nvSpPr>
        <p:spPr>
          <a:xfrm rot="10800000">
            <a:off x="84662" y="-2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03498" y="-28448"/>
            <a:ext cx="1578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 smtClean="0">
                <a:solidFill>
                  <a:prstClr val="white">
                    <a:lumMod val="50000"/>
                  </a:prst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练</a:t>
            </a:r>
            <a:endParaRPr lang="zh-CN" altLang="en-US" sz="9600" dirty="0">
              <a:solidFill>
                <a:prstClr val="white">
                  <a:lumMod val="50000"/>
                </a:prst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" name="直角三角形 11"/>
          <p:cNvSpPr/>
          <p:nvPr userDrawn="1"/>
        </p:nvSpPr>
        <p:spPr>
          <a:xfrm>
            <a:off x="0" y="6508960"/>
            <a:ext cx="12107337" cy="349040"/>
          </a:xfrm>
          <a:prstGeom prst="rtTriangle">
            <a:avLst/>
          </a:prstGeom>
          <a:gradFill flip="none" rotWithShape="1">
            <a:gsLst>
              <a:gs pos="100000">
                <a:schemeClr val="bg1"/>
              </a:gs>
              <a:gs pos="29000">
                <a:schemeClr val="bg1">
                  <a:lumMod val="50000"/>
                </a:schemeClr>
              </a:gs>
              <a:gs pos="0">
                <a:schemeClr val="bg1">
                  <a:lumMod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894616" y="2431690"/>
            <a:ext cx="7804514" cy="11068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6600" dirty="0" smtClean="0">
                <a:ln w="0"/>
                <a:solidFill>
                  <a:srgbClr val="157DA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机器人传感器</a:t>
            </a:r>
            <a:endParaRPr lang="zh-CN" altLang="en-US" sz="6600" dirty="0" smtClean="0">
              <a:ln w="0"/>
              <a:solidFill>
                <a:srgbClr val="157DA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查看可用的</a:t>
            </a:r>
            <a:r>
              <a:rPr lang="en-US" altLang="zh-CN" sz="2400" b="1" dirty="0"/>
              <a:t>GPIO</a:t>
            </a:r>
            <a:r>
              <a:rPr lang="zh-CN" altLang="en-US" sz="2400" b="1" dirty="0"/>
              <a:t>控制器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468630" y="1256665"/>
            <a:ext cx="10524490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终端输入：</a:t>
            </a:r>
            <a:endParaRPr lang="zh-CN" altLang="en-US"/>
          </a:p>
          <a:p>
            <a:pPr marL="3657600" lvl="8" indent="457200">
              <a:lnSpc>
                <a:spcPct val="130000"/>
              </a:lnSpc>
            </a:pPr>
            <a:r>
              <a:rPr lang="en-US" altLang="zh-CN" b="1"/>
              <a:t>ls /dev/gpiochip*</a:t>
            </a:r>
            <a:endParaRPr lang="en-US" altLang="zh-CN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825" y="2247265"/>
            <a:ext cx="8900160" cy="723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99185" y="3344545"/>
            <a:ext cx="9262745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20000"/>
              </a:lnSpc>
            </a:pPr>
            <a:r>
              <a:rPr lang="en-US" altLang="zh-CN"/>
              <a:t>gpiozero </a:t>
            </a:r>
            <a:r>
              <a:rPr lang="zh-CN" altLang="en-US"/>
              <a:t>是一个高级库，它使用起来非常简单，并且在底层它会自动调用当前系统最合适的后端库（例如</a:t>
            </a:r>
            <a:r>
              <a:rPr lang="en-US" altLang="zh-CN"/>
              <a:t> lgpio</a:t>
            </a:r>
            <a:r>
              <a:rPr lang="zh-CN" altLang="en-US"/>
              <a:t>），这些后端库是专门为新硬件和新操作系统设计的。</a:t>
            </a:r>
            <a:endParaRPr lang="zh-CN" altLang="en-US"/>
          </a:p>
          <a:p>
            <a:pPr marL="3200400" lvl="7" indent="457200">
              <a:lnSpc>
                <a:spcPct val="120000"/>
              </a:lnSpc>
            </a:pPr>
            <a:r>
              <a:rPr lang="en-US" altLang="zh-CN" b="1"/>
              <a:t>pip install gpiozero</a:t>
            </a:r>
            <a:endParaRPr lang="en-US" altLang="zh-CN" b="1"/>
          </a:p>
          <a:p>
            <a:pPr marL="3200400" lvl="7" indent="457200">
              <a:lnSpc>
                <a:spcPct val="120000"/>
              </a:lnSpc>
            </a:pPr>
            <a:r>
              <a:rPr lang="en-US" altLang="zh-CN" b="1"/>
              <a:t>pip install lgpio</a:t>
            </a:r>
            <a:endParaRPr lang="en-US" altLang="zh-CN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风扇模块实验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588010" y="1092835"/>
            <a:ext cx="10524490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准备一个风扇模块，并通过</a:t>
            </a:r>
            <a:r>
              <a:rPr lang="en-US" altLang="zh-CN"/>
              <a:t>4PIN</a:t>
            </a:r>
            <a:r>
              <a:rPr lang="zh-CN" altLang="en-US"/>
              <a:t>线将其连接至树莓派扩展板上的</a:t>
            </a:r>
            <a:r>
              <a:rPr lang="en-US" altLang="zh-CN"/>
              <a:t>GPIO7</a:t>
            </a:r>
            <a:r>
              <a:rPr lang="zh-CN" altLang="en-US"/>
              <a:t>、</a:t>
            </a:r>
            <a:r>
              <a:rPr lang="en-US" altLang="zh-CN"/>
              <a:t>8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7175" y="1668145"/>
            <a:ext cx="5521960" cy="51034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10" y="3053080"/>
            <a:ext cx="4476115" cy="29635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触摸</a:t>
            </a:r>
            <a:r>
              <a:rPr lang="zh-CN" altLang="en-US" sz="2400" b="1" dirty="0"/>
              <a:t>传感器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308610" y="977265"/>
            <a:ext cx="5692775" cy="746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准备一个触摸传感器，并通过</a:t>
            </a:r>
            <a:r>
              <a:rPr lang="en-US" altLang="zh-CN"/>
              <a:t>4PIN</a:t>
            </a:r>
            <a:r>
              <a:rPr lang="zh-CN" altLang="en-US"/>
              <a:t>线将其连接</a:t>
            </a:r>
            <a:endParaRPr lang="zh-CN" altLang="en-US"/>
          </a:p>
          <a:p>
            <a:pPr indent="457200">
              <a:lnSpc>
                <a:spcPct val="130000"/>
              </a:lnSpc>
            </a:pPr>
            <a:r>
              <a:rPr lang="zh-CN" altLang="en-US"/>
              <a:t>至树莓派扩展板上的</a:t>
            </a:r>
            <a:r>
              <a:rPr lang="en-US" altLang="zh-CN"/>
              <a:t>GPI02122</a:t>
            </a:r>
            <a:r>
              <a:rPr lang="zh-CN" altLang="en-US"/>
              <a:t>接口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520" y="2426335"/>
            <a:ext cx="4231640" cy="30626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575" y="1246505"/>
            <a:ext cx="5349875" cy="54222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温度传感器</a:t>
            </a:r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537460"/>
            <a:ext cx="4563110" cy="29762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710" y="1043940"/>
            <a:ext cx="3500120" cy="29743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710" y="4018280"/>
            <a:ext cx="3486785" cy="23215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29310" y="105854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>
                <a:sym typeface="+mn-ea"/>
              </a:rPr>
              <a:t>准备一个</a:t>
            </a:r>
            <a:r>
              <a:rPr lang="zh-CN" altLang="en-US">
                <a:sym typeface="+mn-ea"/>
              </a:rPr>
              <a:t>温度传感器，并通过</a:t>
            </a:r>
            <a:r>
              <a:rPr lang="en-US" altLang="zh-CN">
                <a:sym typeface="+mn-ea"/>
              </a:rPr>
              <a:t>4PIN</a:t>
            </a:r>
            <a:r>
              <a:rPr lang="zh-CN" altLang="en-US">
                <a:sym typeface="+mn-ea"/>
              </a:rPr>
              <a:t>线将其连接至树莓派扩展板上的任意一个</a:t>
            </a:r>
            <a:r>
              <a:rPr lang="en-US" altLang="zh-CN">
                <a:sym typeface="+mn-ea"/>
              </a:rPr>
              <a:t>IIC</a:t>
            </a:r>
            <a:r>
              <a:rPr lang="zh-CN" altLang="en-US">
                <a:sym typeface="+mn-ea"/>
              </a:rPr>
              <a:t>接口。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超声波传感器实验</a:t>
            </a:r>
            <a:endParaRPr lang="zh-CN" altLang="en-US" sz="24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46430" y="1034415"/>
            <a:ext cx="10524490" cy="412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>
              <a:lnSpc>
                <a:spcPct val="130000"/>
              </a:lnSpc>
            </a:pPr>
            <a:r>
              <a:rPr lang="zh-CN" altLang="en-US"/>
              <a:t>准备一个超声波传感器，并通过</a:t>
            </a:r>
            <a:r>
              <a:rPr lang="en-US" altLang="zh-CN"/>
              <a:t>4PIN</a:t>
            </a:r>
            <a:r>
              <a:rPr lang="zh-CN" altLang="en-US"/>
              <a:t>线将其连接至树莓派扩展板上的任意一个</a:t>
            </a:r>
            <a:r>
              <a:rPr lang="en-US" altLang="zh-CN"/>
              <a:t>IIC</a:t>
            </a:r>
            <a:r>
              <a:rPr lang="zh-CN" altLang="en-US"/>
              <a:t>接口。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460" y="2357120"/>
            <a:ext cx="4679950" cy="30314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815" y="1599565"/>
            <a:ext cx="5793105" cy="5017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光线传感器实验</a:t>
            </a:r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060" y="2226945"/>
            <a:ext cx="4573270" cy="31203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48360" y="1125855"/>
            <a:ext cx="4420235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20000"/>
              </a:lnSpc>
            </a:pPr>
            <a:r>
              <a:rPr lang="zh-CN" altLang="en-US"/>
              <a:t>准备一个光线传感器模块，并通过</a:t>
            </a:r>
            <a:r>
              <a:rPr lang="en-US" altLang="zh-CN"/>
              <a:t>4PIN</a:t>
            </a:r>
            <a:r>
              <a:rPr lang="zh-CN" altLang="en-US"/>
              <a:t>线将其连接至树莓派扩展板上的</a:t>
            </a:r>
            <a:r>
              <a:rPr lang="en-US" altLang="zh-CN"/>
              <a:t>GPIO22</a:t>
            </a:r>
            <a:r>
              <a:rPr lang="zh-CN" altLang="en-US"/>
              <a:t>、</a:t>
            </a:r>
            <a:r>
              <a:rPr lang="en-US" altLang="zh-CN"/>
              <a:t>24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010" y="1040765"/>
            <a:ext cx="5245100" cy="5614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489" y="294717"/>
            <a:ext cx="5659151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练习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1199515" y="1060450"/>
            <a:ext cx="9382760" cy="1872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sz="2400"/>
              <a:t>1. </a:t>
            </a:r>
            <a:r>
              <a:rPr lang="zh-CN" altLang="en-US" sz="2400"/>
              <a:t>运行本节课程代码（</a:t>
            </a:r>
            <a:r>
              <a:rPr lang="en-US" altLang="zh-CN" sz="2400"/>
              <a:t>funasr</a:t>
            </a:r>
            <a:r>
              <a:rPr lang="zh-CN" altLang="en-US" sz="2400"/>
              <a:t>和</a:t>
            </a:r>
            <a:r>
              <a:rPr lang="en-US" altLang="zh-CN" sz="2400"/>
              <a:t>kokoro</a:t>
            </a:r>
            <a:r>
              <a:rPr lang="zh-CN" altLang="en-US" sz="2400"/>
              <a:t>）。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/>
              <a:t>2. </a:t>
            </a:r>
            <a:r>
              <a:rPr lang="zh-CN" altLang="en-US" sz="2400"/>
              <a:t>提出三个任何与本节内容相关的问题，并自行回答。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en-US" altLang="zh-CN" sz="2400"/>
              <a:t>3.</a:t>
            </a:r>
            <a:r>
              <a:rPr lang="zh-CN" altLang="en-US" sz="2400"/>
              <a:t>将代码和问题回答推送到</a:t>
            </a:r>
            <a:r>
              <a:rPr lang="en-US" altLang="zh-CN" sz="2400"/>
              <a:t>github</a:t>
            </a:r>
            <a:r>
              <a:rPr lang="zh-CN" altLang="en-US" sz="2400"/>
              <a:t>。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1964" y="2338038"/>
            <a:ext cx="1457608" cy="132207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sz="8000" dirty="0">
                <a:solidFill>
                  <a:srgbClr val="E89E00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en-US" altLang="zh-CN" sz="8000" dirty="0">
              <a:solidFill>
                <a:srgbClr val="E89E00"/>
              </a:solidFill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86014" y="3076017"/>
            <a:ext cx="4887877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课</a:t>
            </a:r>
            <a:r>
              <a:rPr lang="en-US" altLang="zh-CN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	</a:t>
            </a:r>
            <a:r>
              <a:rPr lang="zh-CN" altLang="en-US" sz="3600" b="1" dirty="0" smtClean="0">
                <a:solidFill>
                  <a:prstClr val="black"/>
                </a:solidFill>
                <a:latin typeface="宋体" panose="02010600030101010101" pitchFamily="2" charset="-122"/>
              </a:rPr>
              <a:t>完</a:t>
            </a:r>
            <a:endParaRPr lang="en-US" altLang="zh-CN" sz="3600" b="1" dirty="0" smtClean="0">
              <a:solidFill>
                <a:prstClr val="black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86012" y="2337353"/>
            <a:ext cx="676157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 smtClean="0">
                <a:solidFill>
                  <a:srgbClr val="4472C4"/>
                </a:solidFill>
              </a:rPr>
              <a:t>机器人</a:t>
            </a:r>
            <a:r>
              <a:rPr lang="zh-CN" altLang="en-US" sz="3200" dirty="0" smtClean="0">
                <a:solidFill>
                  <a:srgbClr val="4472C4"/>
                </a:solidFill>
              </a:rPr>
              <a:t>传感器</a:t>
            </a:r>
            <a:endParaRPr lang="zh-CN" altLang="en-US" sz="3200" dirty="0" smtClean="0">
              <a:solidFill>
                <a:srgbClr val="4472C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2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3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ags/tag4.xml><?xml version="1.0" encoding="utf-8"?>
<p:tagLst xmlns:p="http://schemas.openxmlformats.org/presentationml/2006/main">
  <p:tag name="MH" val="20160830110410"/>
  <p:tag name="MH_LIBRARY" val="CONTENTS"/>
  <p:tag name="MH_TYPE" val="OTHERS"/>
  <p:tag name="ID" val="54713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tailEnd type="none"/>
        </a:ln>
      </a:spPr>
      <a:bodyPr/>
      <a:lstStyle/>
      <a:style>
        <a:lnRef idx="3">
          <a:schemeClr val="accent4"/>
        </a:lnRef>
        <a:fillRef idx="0">
          <a:schemeClr val="accent4"/>
        </a:fillRef>
        <a:effectRef idx="2">
          <a:schemeClr val="accent4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4472C4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481</Words>
  <Application>WPS 演示</Application>
  <PresentationFormat>宽屏</PresentationFormat>
  <Paragraphs>45</Paragraphs>
  <Slides>9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宋体</vt:lpstr>
      <vt:lpstr>Wingdings</vt:lpstr>
      <vt:lpstr>华文新魏</vt:lpstr>
      <vt:lpstr>黑体</vt:lpstr>
      <vt:lpstr>微软雅黑</vt:lpstr>
      <vt:lpstr>华文行楷</vt:lpstr>
      <vt:lpstr>Calibri</vt:lpstr>
      <vt:lpstr>Arial Unicode MS</vt:lpstr>
      <vt:lpstr>Arial Unicode MS</vt:lpstr>
      <vt:lpstr>Calibri Light</vt:lpstr>
      <vt:lpstr>华文中宋</vt:lpstr>
      <vt:lpstr>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上海仪酷智能科技有限公司</dc:creator>
  <cp:lastModifiedBy>╭⌒better进行时</cp:lastModifiedBy>
  <cp:revision>998</cp:revision>
  <dcterms:created xsi:type="dcterms:W3CDTF">2017-07-25T03:07:00Z</dcterms:created>
  <dcterms:modified xsi:type="dcterms:W3CDTF">2025-11-11T01:15:45Z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8841B4F7B610481D8E35DE8E2DF00779_13</vt:lpwstr>
  </property>
  <property fmtid="{D5CDD505-2E9C-101B-9397-08002B2CF9AE}" pid="3" name="KSOProductBuildVer">
    <vt:lpwstr>2052-12.1.0.23542</vt:lpwstr>
  </property>
</Properties>
</file>